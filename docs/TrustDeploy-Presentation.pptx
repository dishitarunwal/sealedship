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Lst>
  <p:sldSz cy="5143500" cx="9144000"/>
  <p:notesSz cx="6858000" cy="9144000"/>
  <p:embeddedFontLst>
    <p:embeddedFont>
      <p:font typeface="Fira Sans"/>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12" Type="http://schemas.openxmlformats.org/officeDocument/2006/relationships/font" Target="fonts/FiraSans-regular.fntdata"/><Relationship Id="rId13" Type="http://schemas.openxmlformats.org/officeDocument/2006/relationships/font" Target="fonts/FiraSans-bold.fntdata"/><Relationship Id="rId14" Type="http://schemas.openxmlformats.org/officeDocument/2006/relationships/font" Target="fonts/FiraSans-italic.fntdata"/><Relationship Id="rId15" Type="http://schemas.openxmlformats.org/officeDocument/2006/relationships/font" Target="fonts/FiraSans-boldItalic.fntdata"/><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36848605f1a0be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h36848605f1a0be8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Our project is TrustDeploy: container image supply chain security using digital signatures. It protects integrity, the I in the CIA triad, by placing a verification gate in front of deployment. Approved images are signed with Cosign; before anything is deployed, TrustDeploy resolves the tag to its immutable digest, verifies the signature against our trusted public key, and accepts or rejects. Anything it cannot prove is rejected, and every decision is audited.</a:t>
            </a:r>
            <a:endParaR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Containers are built in one place and run in another. Three things can go wrong in between: the build pipeline can be compromised, a malicious public image can be pulled, or the image can be swapped after it was approved. Most deployments reference a mutable tag such as 1.0.0, and a tag can be re-pointed at any time, so it gives no cryptographic proof of who built the image or that it is the approved one.</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TrustDeploy sits between the registry and the deployment target. For each request it resolves the tag to a digest, verifies the Cosign signature on that digest with the trusted public key, and applies the policy. Only a verified image is deployed, and it is deployed by digest. Everything else is rejected and logged. Four properties define the design: fail closed, digest-pinned, trusted key only, and fully audited.</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signing path runs at build time. The sample app image is built with Docker and pushed to the local registry; once approved, Cosign signs its digest with our private key and stores the signature in the registry as an OCI referrer. The deploy path is the gate: the verification engine in verifier.py calls cosign verify with the trusted public key and policy, and also checks that the signed payload names the same digest we resolved. The policy gate accepts only if verified is true; the deployer uses the exact digest, and the audit logger records every decision for the report.</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Each request goes through six steps. The registry must be on the allow-list. The tag is resolved to a digest, so everything afterwards refers to fixed bytes. Cosign verifies the signature with the trusted key, and we double-check that the digest inside the signed payload equals the digest we resolved, which catches a genuine signature copied onto another image. The policy gate accepts only if verified is true, and the decision is written to the audit log before the digest is deployed. Any failure along the way is a reject.</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decision carries one of seven reason codes. Only SIGNATURE_VERIFIED leads to ACCEPT; the other six are all rejections, each explaining why, so an operator reading the audit log knows whether the image was unsigned, signed by the wrong key, signed for a different digest, unresolvable, blocked by a tool error, or from a registry outside the policy.</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Everything runs locally on a laptop. Docker builds the image and runs a registry:2 container on localhost port 5001. Cosign v3.1.3 from Sigstore signs and verifies, storing the signature next to the image as an OCI referrer. TrustDeploy itself is plain Python 3 with only the standard library. On a kind cluster, the Sigstore Policy Controller enforces the same rule at admission; AWS ECR is an optional extension.</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private key is the root of trust, so it is generated as an encrypted Cosign key and kept in a dot-folder in the home directory, outside the repository and outside the image. The project only contains the public key and the policy file. Each decision becomes one JSON line in the audit log with timestamp, image, digest, decision, reason code, key fingerprint and the tool's evidence, but never key material. The log is exported as an HTML dashboard, a CSV and a JSON file.</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real environment from one clean run: Docker 29.8.1, Cosign v3.1.3, Python 3.14.2, kind and kubectl, plus a registry:2 container on port 5001, so there is no cloud cost. The project layout shows the app, the trustdeploy package, the trusted folder, Kubernetes manifests, scripts and tests. The build script pushes sample-app:1.0.0 and records its immutable digest, deffd203, which every later step refers to; the attack images used in the negative tests sit in the same registry.</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key script creates an encrypted Cosign key pair. The private key and password file sit in the home directory with owner-only permissions, and the leak check shows zero key files in the project tree and inside the image. Only the public key, fingerprint e40f4da2c7a6c386, is committed as trusted/cosign.pub. The signing script signs the approved image by digest, twice: once in the Sigstore bundle format used by the TrustDeploy gate, attached as an OCI referrer, and once in the legacy .sig format read by the Kubernetes Policy Controller.</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Test case 1. Cosign verifies the signature against trusted/cosign.pub. Then the TrustDeploy gate is given the mutable tag 1.0.0; it resolves the tag to the digest first and returns ACCEPT with reason SIGNATURE_VERIFIED. The decision is written to the audit log with its own audit id and timestamp.</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negative tests use attack images pushed to the same registry. Top: TC03, an image the attacker signed with their own key, is rejected as UNTRUSTED_SIGNER. Bottom: TC04a, where the genuine signature bundle was copied onto a different image; Cosign finds that the signed digest does not match, and the gate rejects it as SIGNATURE_IMAGE_MISMATCH. On the right are all four attack cases with the reason codes from the audit log: the unsigned image, and the tampered build pushed over the trusted 1.0.0 tag, both have no valid signature for their digest.</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Top: TC05b. The registry is stopped while a valid image is being verified. The tag cannot be resolved to a digest, so the gate rejects with IMAGE_RESOLUTION_FAILED and prints DEPLOYMENT BLOCKED: nothing was deployed. TC05a, with Cosign missing, is rejected as VERIFICATION_TOOL_ERROR, and TC05c, an nginx image from Docker Hub, as REGISTRY_NOT_ALLOWED. Bottom: the eight unit tests for the decision logic, including timeout, missing tool and unexpected exceptions failing closed, all pass.</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Left: the deploy workflow. Deploying the attacker-signed image is rejected as UNTRUSTED_SIGNER, the script exits with code 2 and no container is running. Deploying the approved image is accepted, and Docker runs it by its verified digest, not the tag; the app answers status ok. Right: the same rule in Kubernetes. On a kind cluster with the Sigstore Policy Controller and a ClusterImagePolicy holding our public key, the signed image is admitted and its pod is Running, while the attacker-signed and unsigned images are denied by the admission webhook.</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TC07 exports the audit log. The report command writes report.html, report.csv and report.json. The HTML dashboard shows 14 verification events from this run, 3 accepted and 11 rejected, with the count for each reason code and one row per decision: time, test, image, digest, decision, reason code and the tool's evidence. Each audit record also stores the trusted key fingerprint, but never key material.</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Summary of all test cases from the final run. The correctly signed image was accepted. The unsigned image, the attacker-signed image, the copied signature and the tampered build over the trusted tag were all rejected. With Cosign missing or the registry down, deployment was blocked, and an image from a registry outside the policy was rejected. Checking several images produced four separate audit entries, and the report was exported as HTML, CSV and JSON. All eight unit tests pass, and Kubernetes admission enforced the same rule.</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signature is strong evidence of origin and integrity under our policy, but it is not a security scan. A correctly signed image can still contain vulnerabilities or malware, because we do not inspect contents. The scheme is only as strong as the private key: if it is stolen, an attacker can create trusted signatures. And because the prototype is offline, upload to the public transparency log is disabled, so there is no public record of signing events.</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Next steps fall into three groups. In CI, signing moves into GitHub Actions, and images are scanned with Trivy and given an SBOM before they are signed. For provenance, SLSA attestations record how the image was built, and keyless signing with OIDC removes long-lived keys. On the platform side, keys move into a KMS with rotation, and the same gate runs against Amazon ECR and EKS.</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conclude: TrustDeploy turns image deployment from trusting a tag into verifying a signature on a digest. One rule decides everything: accept only if verified is true. The prototype signs with Cosign, resolves tags to digests, double-checks the signed digest, fails closed with seven reason codes, and audits every decision. Next we would move signing into CI, add scanning and SBOMs, and adopt keyless or KMS-backed keys. Thank you; we are happy to take questions.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722c72da885d8d0d_18_0)">
  <p:cSld name="Generated (h722c72da885d8d0d_18_0)">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3"/>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marR="0" rtl="0" algn="ctr">
              <a:lnSpc>
                <a:spcPct val="90000"/>
              </a:lnSpc>
              <a:spcBef>
                <a:spcPts val="0"/>
              </a:spcBef>
              <a:spcAft>
                <a:spcPts val="0"/>
              </a:spcAft>
              <a:buClr>
                <a:srgbClr val="A42530"/>
              </a:buClr>
              <a:buSzPts val="4500"/>
              <a:buFont typeface="Marcellus"/>
              <a:buNone/>
              <a:defRPr b="0" i="0" sz="4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8" name="Google Shape;18;p3"/>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marR="0" rtl="0" algn="ctr">
              <a:lnSpc>
                <a:spcPct val="90000"/>
              </a:lnSpc>
              <a:spcBef>
                <a:spcPts val="800"/>
              </a:spcBef>
              <a:spcAft>
                <a:spcPts val="0"/>
              </a:spcAft>
              <a:buClr>
                <a:srgbClr val="4D4D4C"/>
              </a:buClr>
              <a:buSzPts val="1800"/>
              <a:buFont typeface="Arial"/>
              <a:buNone/>
              <a:defRPr b="0" i="0" sz="1800" u="none" cap="none" strike="noStrike">
                <a:solidFill>
                  <a:srgbClr val="000000"/>
                </a:solidFill>
                <a:latin typeface="Arial"/>
                <a:ea typeface="Arial"/>
                <a:cs typeface="Arial"/>
                <a:sym typeface="Arial"/>
              </a:defRPr>
            </a:lvl1pPr>
            <a:lvl2pPr lvl="1" marR="0" rtl="0" algn="ctr">
              <a:lnSpc>
                <a:spcPct val="90000"/>
              </a:lnSpc>
              <a:spcBef>
                <a:spcPts val="400"/>
              </a:spcBef>
              <a:spcAft>
                <a:spcPts val="0"/>
              </a:spcAft>
              <a:buClr>
                <a:srgbClr val="4D4D4C"/>
              </a:buClr>
              <a:buSzPts val="1500"/>
              <a:buFont typeface="Arial"/>
              <a:buNone/>
              <a:defRPr b="0" i="0" sz="1500" u="none" cap="none" strike="noStrike">
                <a:solidFill>
                  <a:srgbClr val="000000"/>
                </a:solidFill>
                <a:latin typeface="Arial"/>
                <a:ea typeface="Arial"/>
                <a:cs typeface="Arial"/>
                <a:sym typeface="Arial"/>
              </a:defRPr>
            </a:lvl2pPr>
            <a:lvl3pPr lvl="2" marR="0" rtl="0" algn="ctr">
              <a:lnSpc>
                <a:spcPct val="90000"/>
              </a:lnSpc>
              <a:spcBef>
                <a:spcPts val="400"/>
              </a:spcBef>
              <a:spcAft>
                <a:spcPts val="0"/>
              </a:spcAft>
              <a:buClr>
                <a:srgbClr val="4D4D4C"/>
              </a:buClr>
              <a:buSzPts val="1400"/>
              <a:buFont typeface="Arial"/>
              <a:buNone/>
              <a:defRPr b="0" i="0" sz="1400" u="none" cap="none" strike="noStrike">
                <a:solidFill>
                  <a:srgbClr val="000000"/>
                </a:solidFill>
                <a:latin typeface="Arial"/>
                <a:ea typeface="Arial"/>
                <a:cs typeface="Arial"/>
                <a:sym typeface="Arial"/>
              </a:defRPr>
            </a:lvl3pPr>
            <a:lvl4pPr lvl="3" marR="0" rtl="0" algn="ctr">
              <a:lnSpc>
                <a:spcPct val="90000"/>
              </a:lnSpc>
              <a:spcBef>
                <a:spcPts val="400"/>
              </a:spcBef>
              <a:spcAft>
                <a:spcPts val="0"/>
              </a:spcAft>
              <a:buClr>
                <a:srgbClr val="4D4D4C"/>
              </a:buClr>
              <a:buSzPts val="1200"/>
              <a:buFont typeface="Arial"/>
              <a:buNone/>
              <a:defRPr b="0" i="0" sz="1200" u="none" cap="none" strike="noStrike">
                <a:solidFill>
                  <a:srgbClr val="000000"/>
                </a:solidFill>
                <a:latin typeface="Arial"/>
                <a:ea typeface="Arial"/>
                <a:cs typeface="Arial"/>
                <a:sym typeface="Arial"/>
              </a:defRPr>
            </a:lvl4pPr>
            <a:lvl5pPr lvl="4" marR="0" rtl="0" algn="ctr">
              <a:lnSpc>
                <a:spcPct val="90000"/>
              </a:lnSpc>
              <a:spcBef>
                <a:spcPts val="400"/>
              </a:spcBef>
              <a:spcAft>
                <a:spcPts val="0"/>
              </a:spcAft>
              <a:buClr>
                <a:srgbClr val="4D4D4C"/>
              </a:buClr>
              <a:buSzPts val="1200"/>
              <a:buFont typeface="Arial"/>
              <a:buNone/>
              <a:defRPr b="0" i="0" sz="1200" u="none" cap="none" strike="noStrike">
                <a:solidFill>
                  <a:srgbClr val="000000"/>
                </a:solidFill>
                <a:latin typeface="Arial"/>
                <a:ea typeface="Arial"/>
                <a:cs typeface="Arial"/>
                <a:sym typeface="Arial"/>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9pPr>
          </a:lstStyle>
          <a:p/>
        </p:txBody>
      </p:sp>
      <p:sp>
        <p:nvSpPr>
          <p:cNvPr id="19" name="Google Shape;19;p3"/>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0" name="Google Shape;20;p3"/>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1" name="Google Shape;21;p3"/>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2" name="Shape 22"/>
        <p:cNvGrpSpPr/>
        <p:nvPr/>
      </p:nvGrpSpPr>
      <p:grpSpPr>
        <a:xfrm>
          <a:off x="0" y="0"/>
          <a:ext cx="0" cy="0"/>
          <a:chOff x="0" y="0"/>
          <a:chExt cx="0" cy="0"/>
        </a:xfrm>
      </p:grpSpPr>
      <p:sp>
        <p:nvSpPr>
          <p:cNvPr id="23" name="Google Shape;23;p4"/>
          <p:cNvSpPr txBox="1"/>
          <p:nvPr>
            <p:ph type="title"/>
          </p:nvPr>
        </p:nvSpPr>
        <p:spPr>
          <a:xfrm>
            <a:off x="629841" y="740568"/>
            <a:ext cx="2949300" cy="802500"/>
          </a:xfrm>
          <a:prstGeom prst="rect">
            <a:avLst/>
          </a:prstGeom>
          <a:noFill/>
          <a:ln>
            <a:noFill/>
          </a:ln>
        </p:spPr>
        <p:txBody>
          <a:bodyPr anchorCtr="0" anchor="b" bIns="34275" lIns="68575" spcFirstLastPara="1" rIns="68575" wrap="square" tIns="34275">
            <a:normAutofit/>
          </a:bodyPr>
          <a:lstStyle>
            <a:lvl1pPr lvl="0" marR="0" rtl="0" algn="l">
              <a:lnSpc>
                <a:spcPct val="90000"/>
              </a:lnSpc>
              <a:spcBef>
                <a:spcPts val="0"/>
              </a:spcBef>
              <a:spcAft>
                <a:spcPts val="0"/>
              </a:spcAft>
              <a:buClr>
                <a:srgbClr val="A42530"/>
              </a:buClr>
              <a:buSzPts val="2400"/>
              <a:buFont typeface="Marcellus"/>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4" name="Google Shape;24;p4"/>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marR="0" rtl="0" algn="l">
              <a:lnSpc>
                <a:spcPct val="90000"/>
              </a:lnSpc>
              <a:spcBef>
                <a:spcPts val="800"/>
              </a:spcBef>
              <a:spcAft>
                <a:spcPts val="0"/>
              </a:spcAft>
              <a:buClr>
                <a:srgbClr val="4D4D4C"/>
              </a:buClr>
              <a:buSzPts val="2400"/>
              <a:buFont typeface="Arial"/>
              <a:buChar char="•"/>
              <a:defRPr b="0" i="0" sz="2400" u="none" cap="none" strike="noStrike">
                <a:solidFill>
                  <a:srgbClr val="000000"/>
                </a:solidFill>
                <a:latin typeface="Arial"/>
                <a:ea typeface="Arial"/>
                <a:cs typeface="Arial"/>
                <a:sym typeface="Arial"/>
              </a:defRPr>
            </a:lvl1pPr>
            <a:lvl2pPr indent="-361950" lvl="1" marL="914400" marR="0" rtl="0" algn="l">
              <a:lnSpc>
                <a:spcPct val="90000"/>
              </a:lnSpc>
              <a:spcBef>
                <a:spcPts val="400"/>
              </a:spcBef>
              <a:spcAft>
                <a:spcPts val="0"/>
              </a:spcAft>
              <a:buClr>
                <a:srgbClr val="4D4D4C"/>
              </a:buClr>
              <a:buSzPts val="2100"/>
              <a:buFont typeface="Arial"/>
              <a:buChar char="•"/>
              <a:defRPr b="0" i="0" sz="2100" u="none" cap="none" strike="noStrike">
                <a:solidFill>
                  <a:srgbClr val="000000"/>
                </a:solidFill>
                <a:latin typeface="Arial"/>
                <a:ea typeface="Arial"/>
                <a:cs typeface="Arial"/>
                <a:sym typeface="Arial"/>
              </a:defRPr>
            </a:lvl2pPr>
            <a:lvl3pPr indent="-342900" lvl="2" marL="1371600" marR="0" rtl="0" algn="l">
              <a:lnSpc>
                <a:spcPct val="90000"/>
              </a:lnSpc>
              <a:spcBef>
                <a:spcPts val="400"/>
              </a:spcBef>
              <a:spcAft>
                <a:spcPts val="0"/>
              </a:spcAft>
              <a:buClr>
                <a:srgbClr val="4D4D4C"/>
              </a:buClr>
              <a:buSzPts val="1800"/>
              <a:buFont typeface="Arial"/>
              <a:buChar char="•"/>
              <a:defRPr b="0" i="0" sz="1800" u="none" cap="none" strike="noStrike">
                <a:solidFill>
                  <a:srgbClr val="000000"/>
                </a:solidFill>
                <a:latin typeface="Arial"/>
                <a:ea typeface="Arial"/>
                <a:cs typeface="Arial"/>
                <a:sym typeface="Arial"/>
              </a:defRPr>
            </a:lvl3pPr>
            <a:lvl4pPr indent="-323850" lvl="3" marL="1828800" marR="0" rtl="0" algn="l">
              <a:lnSpc>
                <a:spcPct val="90000"/>
              </a:lnSpc>
              <a:spcBef>
                <a:spcPts val="400"/>
              </a:spcBef>
              <a:spcAft>
                <a:spcPts val="0"/>
              </a:spcAft>
              <a:buClr>
                <a:srgbClr val="4D4D4C"/>
              </a:buClr>
              <a:buSzPts val="1500"/>
              <a:buFont typeface="Arial"/>
              <a:buChar char="•"/>
              <a:defRPr b="0" i="0" sz="1500" u="none" cap="none" strike="noStrike">
                <a:solidFill>
                  <a:srgbClr val="000000"/>
                </a:solidFill>
                <a:latin typeface="Arial"/>
                <a:ea typeface="Arial"/>
                <a:cs typeface="Arial"/>
                <a:sym typeface="Arial"/>
              </a:defRPr>
            </a:lvl4pPr>
            <a:lvl5pPr indent="-323850" lvl="4" marL="2286000" marR="0" rtl="0" algn="l">
              <a:lnSpc>
                <a:spcPct val="90000"/>
              </a:lnSpc>
              <a:spcBef>
                <a:spcPts val="400"/>
              </a:spcBef>
              <a:spcAft>
                <a:spcPts val="0"/>
              </a:spcAft>
              <a:buClr>
                <a:srgbClr val="4D4D4C"/>
              </a:buClr>
              <a:buSzPts val="1500"/>
              <a:buFont typeface="Arial"/>
              <a:buChar char="•"/>
              <a:defRPr b="0" i="0" sz="1500" u="none" cap="none" strike="noStrike">
                <a:solidFill>
                  <a:srgbClr val="000000"/>
                </a:solidFill>
                <a:latin typeface="Arial"/>
                <a:ea typeface="Arial"/>
                <a:cs typeface="Arial"/>
                <a:sym typeface="Arial"/>
              </a:defRPr>
            </a:lvl5pPr>
            <a:lvl6pPr indent="-323850" lvl="5" marL="2743200" marR="0" rtl="0" algn="l">
              <a:lnSpc>
                <a:spcPct val="90000"/>
              </a:lnSpc>
              <a:spcBef>
                <a:spcPts val="400"/>
              </a:spcBef>
              <a:spcAft>
                <a:spcPts val="0"/>
              </a:spcAft>
              <a:buClr>
                <a:schemeClr val="dk1"/>
              </a:buClr>
              <a:buSzPts val="1500"/>
              <a:buFont typeface="Arial"/>
              <a:buChar char="•"/>
              <a:defRPr b="0" i="0" sz="1500" u="none" cap="none" strike="noStrike">
                <a:solidFill>
                  <a:srgbClr val="000000"/>
                </a:solidFill>
                <a:latin typeface="Arial"/>
                <a:ea typeface="Arial"/>
                <a:cs typeface="Arial"/>
                <a:sym typeface="Arial"/>
              </a:defRPr>
            </a:lvl6pPr>
            <a:lvl7pPr indent="-323850" lvl="6" marL="3200400" marR="0" rtl="0" algn="l">
              <a:lnSpc>
                <a:spcPct val="90000"/>
              </a:lnSpc>
              <a:spcBef>
                <a:spcPts val="400"/>
              </a:spcBef>
              <a:spcAft>
                <a:spcPts val="0"/>
              </a:spcAft>
              <a:buClr>
                <a:schemeClr val="dk1"/>
              </a:buClr>
              <a:buSzPts val="1500"/>
              <a:buFont typeface="Arial"/>
              <a:buChar char="•"/>
              <a:defRPr b="0" i="0" sz="1500" u="none" cap="none" strike="noStrike">
                <a:solidFill>
                  <a:srgbClr val="000000"/>
                </a:solidFill>
                <a:latin typeface="Arial"/>
                <a:ea typeface="Arial"/>
                <a:cs typeface="Arial"/>
                <a:sym typeface="Arial"/>
              </a:defRPr>
            </a:lvl7pPr>
            <a:lvl8pPr indent="-323850" lvl="7" marL="3657600" marR="0" rtl="0" algn="l">
              <a:lnSpc>
                <a:spcPct val="90000"/>
              </a:lnSpc>
              <a:spcBef>
                <a:spcPts val="400"/>
              </a:spcBef>
              <a:spcAft>
                <a:spcPts val="0"/>
              </a:spcAft>
              <a:buClr>
                <a:schemeClr val="dk1"/>
              </a:buClr>
              <a:buSzPts val="1500"/>
              <a:buFont typeface="Arial"/>
              <a:buChar char="•"/>
              <a:defRPr b="0" i="0" sz="1500" u="none" cap="none" strike="noStrike">
                <a:solidFill>
                  <a:srgbClr val="000000"/>
                </a:solidFill>
                <a:latin typeface="Arial"/>
                <a:ea typeface="Arial"/>
                <a:cs typeface="Arial"/>
                <a:sym typeface="Arial"/>
              </a:defRPr>
            </a:lvl8pPr>
            <a:lvl9pPr indent="-323850" lvl="8" marL="4114800" marR="0" rtl="0" algn="l">
              <a:lnSpc>
                <a:spcPct val="90000"/>
              </a:lnSpc>
              <a:spcBef>
                <a:spcPts val="400"/>
              </a:spcBef>
              <a:spcAft>
                <a:spcPts val="0"/>
              </a:spcAft>
              <a:buClr>
                <a:schemeClr val="dk1"/>
              </a:buClr>
              <a:buSzPts val="1500"/>
              <a:buFont typeface="Arial"/>
              <a:buChar char="•"/>
              <a:defRPr b="0" i="0" sz="1500" u="none" cap="none" strike="noStrike">
                <a:solidFill>
                  <a:srgbClr val="000000"/>
                </a:solidFill>
                <a:latin typeface="Arial"/>
                <a:ea typeface="Arial"/>
                <a:cs typeface="Arial"/>
                <a:sym typeface="Arial"/>
              </a:defRPr>
            </a:lvl9pPr>
          </a:lstStyle>
          <a:p/>
        </p:txBody>
      </p:sp>
      <p:sp>
        <p:nvSpPr>
          <p:cNvPr id="25" name="Google Shape;25;p4"/>
          <p:cNvSpPr txBox="1"/>
          <p:nvPr>
            <p:ph idx="2"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90000"/>
              </a:lnSpc>
              <a:spcBef>
                <a:spcPts val="800"/>
              </a:spcBef>
              <a:spcAft>
                <a:spcPts val="0"/>
              </a:spcAft>
              <a:buClr>
                <a:srgbClr val="4D4D4C"/>
              </a:buClr>
              <a:buSzPts val="12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90000"/>
              </a:lnSpc>
              <a:spcBef>
                <a:spcPts val="400"/>
              </a:spcBef>
              <a:spcAft>
                <a:spcPts val="0"/>
              </a:spcAft>
              <a:buClr>
                <a:srgbClr val="4D4D4C"/>
              </a:buClr>
              <a:buSzPts val="1100"/>
              <a:buFont typeface="Arial"/>
              <a:buNone/>
              <a:defRPr b="0" i="0" sz="1100" u="none" cap="none" strike="noStrike">
                <a:solidFill>
                  <a:srgbClr val="000000"/>
                </a:solidFill>
                <a:latin typeface="Arial"/>
                <a:ea typeface="Arial"/>
                <a:cs typeface="Arial"/>
                <a:sym typeface="Arial"/>
              </a:defRPr>
            </a:lvl2pPr>
            <a:lvl3pPr indent="-228600" lvl="2" marL="1371600" marR="0" rtl="0" algn="l">
              <a:lnSpc>
                <a:spcPct val="90000"/>
              </a:lnSpc>
              <a:spcBef>
                <a:spcPts val="400"/>
              </a:spcBef>
              <a:spcAft>
                <a:spcPts val="0"/>
              </a:spcAft>
              <a:buClr>
                <a:srgbClr val="4D4D4C"/>
              </a:buClr>
              <a:buSzPts val="900"/>
              <a:buFont typeface="Arial"/>
              <a:buNone/>
              <a:defRPr b="0" i="0" sz="900" u="none" cap="none" strike="noStrike">
                <a:solidFill>
                  <a:srgbClr val="000000"/>
                </a:solidFill>
                <a:latin typeface="Arial"/>
                <a:ea typeface="Arial"/>
                <a:cs typeface="Arial"/>
                <a:sym typeface="Arial"/>
              </a:defRPr>
            </a:lvl3pPr>
            <a:lvl4pPr indent="-228600" lvl="3" marL="1828800" marR="0" rtl="0" algn="l">
              <a:lnSpc>
                <a:spcPct val="90000"/>
              </a:lnSpc>
              <a:spcBef>
                <a:spcPts val="400"/>
              </a:spcBef>
              <a:spcAft>
                <a:spcPts val="0"/>
              </a:spcAft>
              <a:buClr>
                <a:srgbClr val="4D4D4C"/>
              </a:buClr>
              <a:buSzPts val="800"/>
              <a:buFont typeface="Arial"/>
              <a:buNone/>
              <a:defRPr b="0" i="0" sz="800" u="none" cap="none" strike="noStrike">
                <a:solidFill>
                  <a:srgbClr val="000000"/>
                </a:solidFill>
                <a:latin typeface="Arial"/>
                <a:ea typeface="Arial"/>
                <a:cs typeface="Arial"/>
                <a:sym typeface="Arial"/>
              </a:defRPr>
            </a:lvl4pPr>
            <a:lvl5pPr indent="-228600" lvl="4" marL="2286000" marR="0" rtl="0" algn="l">
              <a:lnSpc>
                <a:spcPct val="90000"/>
              </a:lnSpc>
              <a:spcBef>
                <a:spcPts val="400"/>
              </a:spcBef>
              <a:spcAft>
                <a:spcPts val="0"/>
              </a:spcAft>
              <a:buClr>
                <a:srgbClr val="4D4D4C"/>
              </a:buClr>
              <a:buSzPts val="800"/>
              <a:buFont typeface="Arial"/>
              <a:buNone/>
              <a:defRPr b="0" i="0" sz="800" u="none" cap="none" strike="noStrike">
                <a:solidFill>
                  <a:srgbClr val="000000"/>
                </a:solidFill>
                <a:latin typeface="Arial"/>
                <a:ea typeface="Arial"/>
                <a:cs typeface="Arial"/>
                <a:sym typeface="Arial"/>
              </a:defRPr>
            </a:lvl5pPr>
            <a:lvl6pPr indent="-228600" lvl="5" marL="2743200" marR="0" rtl="0" algn="l">
              <a:lnSpc>
                <a:spcPct val="90000"/>
              </a:lnSpc>
              <a:spcBef>
                <a:spcPts val="400"/>
              </a:spcBef>
              <a:spcAft>
                <a:spcPts val="0"/>
              </a:spcAft>
              <a:buClr>
                <a:schemeClr val="dk1"/>
              </a:buClr>
              <a:buSzPts val="800"/>
              <a:buFont typeface="Arial"/>
              <a:buNone/>
              <a:defRPr b="0" i="0" sz="800" u="none" cap="none" strike="noStrike">
                <a:solidFill>
                  <a:srgbClr val="000000"/>
                </a:solidFill>
                <a:latin typeface="Arial"/>
                <a:ea typeface="Arial"/>
                <a:cs typeface="Arial"/>
                <a:sym typeface="Arial"/>
              </a:defRPr>
            </a:lvl6pPr>
            <a:lvl7pPr indent="-228600" lvl="6" marL="3200400" marR="0" rtl="0" algn="l">
              <a:lnSpc>
                <a:spcPct val="90000"/>
              </a:lnSpc>
              <a:spcBef>
                <a:spcPts val="400"/>
              </a:spcBef>
              <a:spcAft>
                <a:spcPts val="0"/>
              </a:spcAft>
              <a:buClr>
                <a:schemeClr val="dk1"/>
              </a:buClr>
              <a:buSzPts val="800"/>
              <a:buFont typeface="Arial"/>
              <a:buNone/>
              <a:defRPr b="0" i="0" sz="800" u="none" cap="none" strike="noStrike">
                <a:solidFill>
                  <a:srgbClr val="000000"/>
                </a:solidFill>
                <a:latin typeface="Arial"/>
                <a:ea typeface="Arial"/>
                <a:cs typeface="Arial"/>
                <a:sym typeface="Arial"/>
              </a:defRPr>
            </a:lvl7pPr>
            <a:lvl8pPr indent="-228600" lvl="7" marL="3657600" marR="0" rtl="0" algn="l">
              <a:lnSpc>
                <a:spcPct val="90000"/>
              </a:lnSpc>
              <a:spcBef>
                <a:spcPts val="400"/>
              </a:spcBef>
              <a:spcAft>
                <a:spcPts val="0"/>
              </a:spcAft>
              <a:buClr>
                <a:schemeClr val="dk1"/>
              </a:buClr>
              <a:buSzPts val="800"/>
              <a:buFont typeface="Arial"/>
              <a:buNone/>
              <a:defRPr b="0" i="0" sz="800" u="none" cap="none" strike="noStrike">
                <a:solidFill>
                  <a:srgbClr val="000000"/>
                </a:solidFill>
                <a:latin typeface="Arial"/>
                <a:ea typeface="Arial"/>
                <a:cs typeface="Arial"/>
                <a:sym typeface="Arial"/>
              </a:defRPr>
            </a:lvl8pPr>
            <a:lvl9pPr indent="-228600" lvl="8" marL="4114800" marR="0" rtl="0" algn="l">
              <a:lnSpc>
                <a:spcPct val="90000"/>
              </a:lnSpc>
              <a:spcBef>
                <a:spcPts val="400"/>
              </a:spcBef>
              <a:spcAft>
                <a:spcPts val="0"/>
              </a:spcAft>
              <a:buClr>
                <a:schemeClr val="dk1"/>
              </a:buClr>
              <a:buSzPts val="800"/>
              <a:buFont typeface="Arial"/>
              <a:buNone/>
              <a:defRPr b="0" i="0" sz="800" u="none" cap="none" strike="noStrike">
                <a:solidFill>
                  <a:srgbClr val="000000"/>
                </a:solidFill>
                <a:latin typeface="Arial"/>
                <a:ea typeface="Arial"/>
                <a:cs typeface="Arial"/>
                <a:sym typeface="Arial"/>
              </a:defRPr>
            </a:lvl9pPr>
          </a:lstStyle>
          <a:p/>
        </p:txBody>
      </p:sp>
      <p:sp>
        <p:nvSpPr>
          <p:cNvPr id="26" name="Google Shape;26;p4"/>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7" name="Google Shape;27;p4"/>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8" name="Google Shape;28;p4"/>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5"/>
          <p:cNvSpPr txBox="1"/>
          <p:nvPr>
            <p:ph type="title"/>
          </p:nvPr>
        </p:nvSpPr>
        <p:spPr>
          <a:xfrm>
            <a:off x="628650" y="649706"/>
            <a:ext cx="7886700" cy="6183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rgbClr val="A42530"/>
              </a:buClr>
              <a:buSzPts val="14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1" name="Google Shape;31;p5"/>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2" name="Google Shape;32;p5"/>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3" name="Google Shape;33;p5"/>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4" name="Shape 34"/>
        <p:cNvGrpSpPr/>
        <p:nvPr/>
      </p:nvGrpSpPr>
      <p:grpSpPr>
        <a:xfrm>
          <a:off x="0" y="0"/>
          <a:ext cx="0" cy="0"/>
          <a:chOff x="0" y="0"/>
          <a:chExt cx="0" cy="0"/>
        </a:xfrm>
      </p:grpSpPr>
      <p:sp>
        <p:nvSpPr>
          <p:cNvPr id="35" name="Google Shape;35;p6"/>
          <p:cNvSpPr txBox="1"/>
          <p:nvPr>
            <p:ph type="title"/>
          </p:nvPr>
        </p:nvSpPr>
        <p:spPr>
          <a:xfrm>
            <a:off x="629841" y="740568"/>
            <a:ext cx="2949300" cy="802500"/>
          </a:xfrm>
          <a:prstGeom prst="rect">
            <a:avLst/>
          </a:prstGeom>
          <a:noFill/>
          <a:ln>
            <a:noFill/>
          </a:ln>
        </p:spPr>
        <p:txBody>
          <a:bodyPr anchorCtr="0" anchor="b" bIns="34275" lIns="68575" spcFirstLastPara="1" rIns="68575" wrap="square" tIns="34275">
            <a:normAutofit/>
          </a:bodyPr>
          <a:lstStyle>
            <a:lvl1pPr lvl="0" marR="0" rtl="0" algn="l">
              <a:lnSpc>
                <a:spcPct val="90000"/>
              </a:lnSpc>
              <a:spcBef>
                <a:spcPts val="0"/>
              </a:spcBef>
              <a:spcAft>
                <a:spcPts val="0"/>
              </a:spcAft>
              <a:buClr>
                <a:srgbClr val="A42530"/>
              </a:buClr>
              <a:buSzPts val="2400"/>
              <a:buFont typeface="Marcellus"/>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6" name="Google Shape;36;p6"/>
          <p:cNvSpPr/>
          <p:nvPr>
            <p:ph idx="2" type="pic"/>
          </p:nvPr>
        </p:nvSpPr>
        <p:spPr>
          <a:xfrm>
            <a:off x="3887391" y="740569"/>
            <a:ext cx="4629300" cy="3655200"/>
          </a:xfrm>
          <a:prstGeom prst="rect">
            <a:avLst/>
          </a:prstGeom>
          <a:noFill/>
          <a:ln>
            <a:noFill/>
          </a:ln>
        </p:spPr>
      </p:sp>
      <p:sp>
        <p:nvSpPr>
          <p:cNvPr id="37" name="Google Shape;37;p6"/>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90000"/>
              </a:lnSpc>
              <a:spcBef>
                <a:spcPts val="800"/>
              </a:spcBef>
              <a:spcAft>
                <a:spcPts val="0"/>
              </a:spcAft>
              <a:buClr>
                <a:srgbClr val="4D4D4C"/>
              </a:buClr>
              <a:buSzPts val="12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90000"/>
              </a:lnSpc>
              <a:spcBef>
                <a:spcPts val="400"/>
              </a:spcBef>
              <a:spcAft>
                <a:spcPts val="0"/>
              </a:spcAft>
              <a:buClr>
                <a:srgbClr val="4D4D4C"/>
              </a:buClr>
              <a:buSzPts val="1100"/>
              <a:buFont typeface="Arial"/>
              <a:buNone/>
              <a:defRPr b="0" i="0" sz="1100" u="none" cap="none" strike="noStrike">
                <a:solidFill>
                  <a:srgbClr val="000000"/>
                </a:solidFill>
                <a:latin typeface="Arial"/>
                <a:ea typeface="Arial"/>
                <a:cs typeface="Arial"/>
                <a:sym typeface="Arial"/>
              </a:defRPr>
            </a:lvl2pPr>
            <a:lvl3pPr indent="-228600" lvl="2" marL="1371600" marR="0" rtl="0" algn="l">
              <a:lnSpc>
                <a:spcPct val="90000"/>
              </a:lnSpc>
              <a:spcBef>
                <a:spcPts val="400"/>
              </a:spcBef>
              <a:spcAft>
                <a:spcPts val="0"/>
              </a:spcAft>
              <a:buClr>
                <a:srgbClr val="4D4D4C"/>
              </a:buClr>
              <a:buSzPts val="900"/>
              <a:buFont typeface="Arial"/>
              <a:buNone/>
              <a:defRPr b="0" i="0" sz="900" u="none" cap="none" strike="noStrike">
                <a:solidFill>
                  <a:srgbClr val="000000"/>
                </a:solidFill>
                <a:latin typeface="Arial"/>
                <a:ea typeface="Arial"/>
                <a:cs typeface="Arial"/>
                <a:sym typeface="Arial"/>
              </a:defRPr>
            </a:lvl3pPr>
            <a:lvl4pPr indent="-228600" lvl="3" marL="1828800" marR="0" rtl="0" algn="l">
              <a:lnSpc>
                <a:spcPct val="90000"/>
              </a:lnSpc>
              <a:spcBef>
                <a:spcPts val="400"/>
              </a:spcBef>
              <a:spcAft>
                <a:spcPts val="0"/>
              </a:spcAft>
              <a:buClr>
                <a:srgbClr val="4D4D4C"/>
              </a:buClr>
              <a:buSzPts val="800"/>
              <a:buFont typeface="Arial"/>
              <a:buNone/>
              <a:defRPr b="0" i="0" sz="800" u="none" cap="none" strike="noStrike">
                <a:solidFill>
                  <a:srgbClr val="000000"/>
                </a:solidFill>
                <a:latin typeface="Arial"/>
                <a:ea typeface="Arial"/>
                <a:cs typeface="Arial"/>
                <a:sym typeface="Arial"/>
              </a:defRPr>
            </a:lvl4pPr>
            <a:lvl5pPr indent="-228600" lvl="4" marL="2286000" marR="0" rtl="0" algn="l">
              <a:lnSpc>
                <a:spcPct val="90000"/>
              </a:lnSpc>
              <a:spcBef>
                <a:spcPts val="400"/>
              </a:spcBef>
              <a:spcAft>
                <a:spcPts val="0"/>
              </a:spcAft>
              <a:buClr>
                <a:srgbClr val="4D4D4C"/>
              </a:buClr>
              <a:buSzPts val="800"/>
              <a:buFont typeface="Arial"/>
              <a:buNone/>
              <a:defRPr b="0" i="0" sz="800" u="none" cap="none" strike="noStrike">
                <a:solidFill>
                  <a:srgbClr val="000000"/>
                </a:solidFill>
                <a:latin typeface="Arial"/>
                <a:ea typeface="Arial"/>
                <a:cs typeface="Arial"/>
                <a:sym typeface="Arial"/>
              </a:defRPr>
            </a:lvl5pPr>
            <a:lvl6pPr indent="-228600" lvl="5" marL="2743200" marR="0" rtl="0" algn="l">
              <a:lnSpc>
                <a:spcPct val="90000"/>
              </a:lnSpc>
              <a:spcBef>
                <a:spcPts val="400"/>
              </a:spcBef>
              <a:spcAft>
                <a:spcPts val="0"/>
              </a:spcAft>
              <a:buClr>
                <a:schemeClr val="dk1"/>
              </a:buClr>
              <a:buSzPts val="800"/>
              <a:buFont typeface="Arial"/>
              <a:buNone/>
              <a:defRPr b="0" i="0" sz="800" u="none" cap="none" strike="noStrike">
                <a:solidFill>
                  <a:srgbClr val="000000"/>
                </a:solidFill>
                <a:latin typeface="Arial"/>
                <a:ea typeface="Arial"/>
                <a:cs typeface="Arial"/>
                <a:sym typeface="Arial"/>
              </a:defRPr>
            </a:lvl6pPr>
            <a:lvl7pPr indent="-228600" lvl="6" marL="3200400" marR="0" rtl="0" algn="l">
              <a:lnSpc>
                <a:spcPct val="90000"/>
              </a:lnSpc>
              <a:spcBef>
                <a:spcPts val="400"/>
              </a:spcBef>
              <a:spcAft>
                <a:spcPts val="0"/>
              </a:spcAft>
              <a:buClr>
                <a:schemeClr val="dk1"/>
              </a:buClr>
              <a:buSzPts val="800"/>
              <a:buFont typeface="Arial"/>
              <a:buNone/>
              <a:defRPr b="0" i="0" sz="800" u="none" cap="none" strike="noStrike">
                <a:solidFill>
                  <a:srgbClr val="000000"/>
                </a:solidFill>
                <a:latin typeface="Arial"/>
                <a:ea typeface="Arial"/>
                <a:cs typeface="Arial"/>
                <a:sym typeface="Arial"/>
              </a:defRPr>
            </a:lvl7pPr>
            <a:lvl8pPr indent="-228600" lvl="7" marL="3657600" marR="0" rtl="0" algn="l">
              <a:lnSpc>
                <a:spcPct val="90000"/>
              </a:lnSpc>
              <a:spcBef>
                <a:spcPts val="400"/>
              </a:spcBef>
              <a:spcAft>
                <a:spcPts val="0"/>
              </a:spcAft>
              <a:buClr>
                <a:schemeClr val="dk1"/>
              </a:buClr>
              <a:buSzPts val="800"/>
              <a:buFont typeface="Arial"/>
              <a:buNone/>
              <a:defRPr b="0" i="0" sz="800" u="none" cap="none" strike="noStrike">
                <a:solidFill>
                  <a:srgbClr val="000000"/>
                </a:solidFill>
                <a:latin typeface="Arial"/>
                <a:ea typeface="Arial"/>
                <a:cs typeface="Arial"/>
                <a:sym typeface="Arial"/>
              </a:defRPr>
            </a:lvl8pPr>
            <a:lvl9pPr indent="-228600" lvl="8" marL="4114800" marR="0" rtl="0" algn="l">
              <a:lnSpc>
                <a:spcPct val="90000"/>
              </a:lnSpc>
              <a:spcBef>
                <a:spcPts val="400"/>
              </a:spcBef>
              <a:spcAft>
                <a:spcPts val="0"/>
              </a:spcAft>
              <a:buClr>
                <a:schemeClr val="dk1"/>
              </a:buClr>
              <a:buSzPts val="800"/>
              <a:buFont typeface="Arial"/>
              <a:buNone/>
              <a:defRPr b="0" i="0" sz="800" u="none" cap="none" strike="noStrike">
                <a:solidFill>
                  <a:srgbClr val="000000"/>
                </a:solidFill>
                <a:latin typeface="Arial"/>
                <a:ea typeface="Arial"/>
                <a:cs typeface="Arial"/>
                <a:sym typeface="Arial"/>
              </a:defRPr>
            </a:lvl9pPr>
          </a:lstStyle>
          <a:p/>
        </p:txBody>
      </p:sp>
      <p:sp>
        <p:nvSpPr>
          <p:cNvPr id="38" name="Google Shape;38;p6"/>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9" name="Google Shape;39;p6"/>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0" name="Google Shape;40;p6"/>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1" name="Shape 41"/>
        <p:cNvGrpSpPr/>
        <p:nvPr/>
      </p:nvGrpSpPr>
      <p:grpSpPr>
        <a:xfrm>
          <a:off x="0" y="0"/>
          <a:ext cx="0" cy="0"/>
          <a:chOff x="0" y="0"/>
          <a:chExt cx="0" cy="0"/>
        </a:xfrm>
      </p:grpSpPr>
      <p:sp>
        <p:nvSpPr>
          <p:cNvPr id="42" name="Google Shape;42;p7"/>
          <p:cNvSpPr/>
          <p:nvPr/>
        </p:nvSpPr>
        <p:spPr>
          <a:xfrm>
            <a:off x="0" y="4260354"/>
            <a:ext cx="628800" cy="893100"/>
          </a:xfrm>
          <a:prstGeom prst="rect">
            <a:avLst/>
          </a:prstGeom>
          <a:solidFill>
            <a:srgbClr val="A425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43" name="Google Shape;43;p7"/>
          <p:cNvSpPr/>
          <p:nvPr/>
        </p:nvSpPr>
        <p:spPr>
          <a:xfrm>
            <a:off x="628649" y="4767263"/>
            <a:ext cx="6998700" cy="386100"/>
          </a:xfrm>
          <a:prstGeom prst="rect">
            <a:avLst/>
          </a:prstGeom>
          <a:solidFill>
            <a:srgbClr val="A425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Fira Sans"/>
              <a:ea typeface="Fira Sans"/>
              <a:cs typeface="Fira Sans"/>
              <a:sym typeface="Fira Sans"/>
            </a:endParaRPr>
          </a:p>
        </p:txBody>
      </p:sp>
      <p:sp>
        <p:nvSpPr>
          <p:cNvPr id="44" name="Google Shape;44;p7"/>
          <p:cNvSpPr txBox="1"/>
          <p:nvPr>
            <p:ph type="title"/>
          </p:nvPr>
        </p:nvSpPr>
        <p:spPr>
          <a:xfrm>
            <a:off x="628650" y="649706"/>
            <a:ext cx="7886700" cy="6183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rgbClr val="A42530"/>
              </a:buClr>
              <a:buSzPts val="14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5" name="Google Shape;45;p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46" name="Google Shape;46;p7"/>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7" name="Google Shape;47;p7"/>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8" name="Google Shape;48;p7"/>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9" name="Shape 49"/>
        <p:cNvGrpSpPr/>
        <p:nvPr/>
      </p:nvGrpSpPr>
      <p:grpSpPr>
        <a:xfrm>
          <a:off x="0" y="0"/>
          <a:ext cx="0" cy="0"/>
          <a:chOff x="0" y="0"/>
          <a:chExt cx="0" cy="0"/>
        </a:xfrm>
      </p:grpSpPr>
      <p:sp>
        <p:nvSpPr>
          <p:cNvPr id="50" name="Google Shape;50;p8"/>
          <p:cNvSpPr txBox="1"/>
          <p:nvPr>
            <p:ph type="title"/>
          </p:nvPr>
        </p:nvSpPr>
        <p:spPr>
          <a:xfrm>
            <a:off x="628650" y="649706"/>
            <a:ext cx="7886700" cy="6183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rgbClr val="A42530"/>
              </a:buClr>
              <a:buSzPts val="14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1" name="Google Shape;51;p8"/>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52" name="Google Shape;52;p8"/>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53" name="Google Shape;53;p8"/>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4" name="Google Shape;54;p8"/>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5" name="Google Shape;55;p8"/>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6" name="Shape 56"/>
        <p:cNvGrpSpPr/>
        <p:nvPr/>
      </p:nvGrpSpPr>
      <p:grpSpPr>
        <a:xfrm>
          <a:off x="0" y="0"/>
          <a:ext cx="0" cy="0"/>
          <a:chOff x="0" y="0"/>
          <a:chExt cx="0" cy="0"/>
        </a:xfrm>
      </p:grpSpPr>
      <p:sp>
        <p:nvSpPr>
          <p:cNvPr id="57" name="Google Shape;57;p9"/>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marR="0" rtl="0" algn="l">
              <a:lnSpc>
                <a:spcPct val="90000"/>
              </a:lnSpc>
              <a:spcBef>
                <a:spcPts val="0"/>
              </a:spcBef>
              <a:spcAft>
                <a:spcPts val="0"/>
              </a:spcAft>
              <a:buClr>
                <a:srgbClr val="A42530"/>
              </a:buClr>
              <a:buSzPts val="4500"/>
              <a:buFont typeface="Marcellus"/>
              <a:buNone/>
              <a:defRPr b="0" i="0" sz="4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8" name="Google Shape;58;p9"/>
          <p:cNvSpPr txBox="1"/>
          <p:nvPr>
            <p:ph idx="1" type="body"/>
          </p:nvPr>
        </p:nvSpPr>
        <p:spPr>
          <a:xfrm>
            <a:off x="623888" y="3442097"/>
            <a:ext cx="7886700" cy="1125000"/>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90000"/>
              </a:lnSpc>
              <a:spcBef>
                <a:spcPts val="800"/>
              </a:spcBef>
              <a:spcAft>
                <a:spcPts val="0"/>
              </a:spcAft>
              <a:buClr>
                <a:srgbClr val="888888"/>
              </a:buClr>
              <a:buSzPts val="1800"/>
              <a:buFont typeface="Arial"/>
              <a:buNone/>
              <a:defRPr b="0" i="0" sz="1800" u="none" cap="none" strike="noStrike">
                <a:solidFill>
                  <a:srgbClr val="888888"/>
                </a:solidFill>
                <a:latin typeface="Arial"/>
                <a:ea typeface="Arial"/>
                <a:cs typeface="Arial"/>
                <a:sym typeface="Arial"/>
              </a:defRPr>
            </a:lvl1pPr>
            <a:lvl2pPr indent="-228600" lvl="1" marL="914400" marR="0" rtl="0" algn="l">
              <a:lnSpc>
                <a:spcPct val="90000"/>
              </a:lnSpc>
              <a:spcBef>
                <a:spcPts val="4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2pPr>
            <a:lvl3pPr indent="-228600" lvl="2" marL="1371600" marR="0" rtl="0" algn="l">
              <a:lnSpc>
                <a:spcPct val="90000"/>
              </a:lnSpc>
              <a:spcBef>
                <a:spcPts val="400"/>
              </a:spcBef>
              <a:spcAft>
                <a:spcPts val="0"/>
              </a:spcAft>
              <a:buClr>
                <a:srgbClr val="888888"/>
              </a:buClr>
              <a:buSzPts val="1400"/>
              <a:buFont typeface="Arial"/>
              <a:buNone/>
              <a:defRPr b="0" i="0" sz="1400" u="none" cap="none" strike="noStrike">
                <a:solidFill>
                  <a:srgbClr val="888888"/>
                </a:solidFill>
                <a:latin typeface="Arial"/>
                <a:ea typeface="Arial"/>
                <a:cs typeface="Arial"/>
                <a:sym typeface="Arial"/>
              </a:defRPr>
            </a:lvl3pPr>
            <a:lvl4pPr indent="-228600" lvl="3" marL="18288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4pPr>
            <a:lvl5pPr indent="-228600" lvl="4" marL="22860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5pPr>
            <a:lvl6pPr indent="-228600" lvl="5" marL="27432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6pPr>
            <a:lvl7pPr indent="-228600" lvl="6" marL="32004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7pPr>
            <a:lvl8pPr indent="-228600" lvl="7" marL="36576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8pPr>
            <a:lvl9pPr indent="-228600" lvl="8" marL="41148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9pPr>
          </a:lstStyle>
          <a:p/>
        </p:txBody>
      </p:sp>
      <p:sp>
        <p:nvSpPr>
          <p:cNvPr id="59" name="Google Shape;59;p9"/>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0" name="Google Shape;60;p9"/>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1" name="Google Shape;61;p9"/>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10"/>
          <p:cNvSpPr txBox="1"/>
          <p:nvPr>
            <p:ph type="title"/>
          </p:nvPr>
        </p:nvSpPr>
        <p:spPr>
          <a:xfrm>
            <a:off x="629841" y="650082"/>
            <a:ext cx="7886700" cy="6180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rgbClr val="A42530"/>
              </a:buClr>
              <a:buSzPts val="14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4" name="Google Shape;64;p10"/>
          <p:cNvSpPr txBox="1"/>
          <p:nvPr>
            <p:ph idx="1" type="body"/>
          </p:nvPr>
        </p:nvSpPr>
        <p:spPr>
          <a:xfrm>
            <a:off x="629841" y="1260872"/>
            <a:ext cx="3868200" cy="618000"/>
          </a:xfrm>
          <a:prstGeom prst="rect">
            <a:avLst/>
          </a:prstGeom>
          <a:noFill/>
          <a:ln>
            <a:noFill/>
          </a:ln>
        </p:spPr>
        <p:txBody>
          <a:bodyPr anchorCtr="0" anchor="b" bIns="34275" lIns="68575" spcFirstLastPara="1" rIns="68575" wrap="square" tIns="34275">
            <a:normAutofit/>
          </a:bodyPr>
          <a:lstStyle>
            <a:lvl1pPr indent="-228600" lvl="0" marL="457200" marR="0" rtl="0" algn="l">
              <a:lnSpc>
                <a:spcPct val="90000"/>
              </a:lnSpc>
              <a:spcBef>
                <a:spcPts val="800"/>
              </a:spcBef>
              <a:spcAft>
                <a:spcPts val="0"/>
              </a:spcAft>
              <a:buClr>
                <a:srgbClr val="4D4D4C"/>
              </a:buClr>
              <a:buSzPts val="1800"/>
              <a:buFont typeface="Arial"/>
              <a:buNone/>
              <a:defRPr b="1" i="0" sz="1800" u="none" cap="none" strike="noStrike">
                <a:solidFill>
                  <a:srgbClr val="000000"/>
                </a:solidFill>
                <a:latin typeface="Arial"/>
                <a:ea typeface="Arial"/>
                <a:cs typeface="Arial"/>
                <a:sym typeface="Arial"/>
              </a:defRPr>
            </a:lvl1pPr>
            <a:lvl2pPr indent="-228600" lvl="1" marL="914400" marR="0" rtl="0" algn="l">
              <a:lnSpc>
                <a:spcPct val="90000"/>
              </a:lnSpc>
              <a:spcBef>
                <a:spcPts val="400"/>
              </a:spcBef>
              <a:spcAft>
                <a:spcPts val="0"/>
              </a:spcAft>
              <a:buClr>
                <a:srgbClr val="4D4D4C"/>
              </a:buClr>
              <a:buSzPts val="1500"/>
              <a:buFont typeface="Arial"/>
              <a:buNone/>
              <a:defRPr b="1" i="0" sz="1500" u="none" cap="none" strike="noStrike">
                <a:solidFill>
                  <a:srgbClr val="000000"/>
                </a:solidFill>
                <a:latin typeface="Arial"/>
                <a:ea typeface="Arial"/>
                <a:cs typeface="Arial"/>
                <a:sym typeface="Arial"/>
              </a:defRPr>
            </a:lvl2pPr>
            <a:lvl3pPr indent="-228600" lvl="2" marL="1371600" marR="0" rtl="0" algn="l">
              <a:lnSpc>
                <a:spcPct val="90000"/>
              </a:lnSpc>
              <a:spcBef>
                <a:spcPts val="400"/>
              </a:spcBef>
              <a:spcAft>
                <a:spcPts val="0"/>
              </a:spcAft>
              <a:buClr>
                <a:srgbClr val="4D4D4C"/>
              </a:buClr>
              <a:buSzPts val="1400"/>
              <a:buFont typeface="Arial"/>
              <a:buNone/>
              <a:defRPr b="1" i="0" sz="1400" u="none" cap="none" strike="noStrike">
                <a:solidFill>
                  <a:srgbClr val="000000"/>
                </a:solidFill>
                <a:latin typeface="Arial"/>
                <a:ea typeface="Arial"/>
                <a:cs typeface="Arial"/>
                <a:sym typeface="Arial"/>
              </a:defRPr>
            </a:lvl3pPr>
            <a:lvl4pPr indent="-228600" lvl="3" marL="1828800" marR="0" rtl="0" algn="l">
              <a:lnSpc>
                <a:spcPct val="90000"/>
              </a:lnSpc>
              <a:spcBef>
                <a:spcPts val="400"/>
              </a:spcBef>
              <a:spcAft>
                <a:spcPts val="0"/>
              </a:spcAft>
              <a:buClr>
                <a:srgbClr val="4D4D4C"/>
              </a:buClr>
              <a:buSzPts val="1200"/>
              <a:buFont typeface="Arial"/>
              <a:buNone/>
              <a:defRPr b="1" i="0" sz="1200" u="none" cap="none" strike="noStrike">
                <a:solidFill>
                  <a:srgbClr val="000000"/>
                </a:solidFill>
                <a:latin typeface="Arial"/>
                <a:ea typeface="Arial"/>
                <a:cs typeface="Arial"/>
                <a:sym typeface="Arial"/>
              </a:defRPr>
            </a:lvl4pPr>
            <a:lvl5pPr indent="-228600" lvl="4" marL="2286000" marR="0" rtl="0" algn="l">
              <a:lnSpc>
                <a:spcPct val="90000"/>
              </a:lnSpc>
              <a:spcBef>
                <a:spcPts val="400"/>
              </a:spcBef>
              <a:spcAft>
                <a:spcPts val="0"/>
              </a:spcAft>
              <a:buClr>
                <a:srgbClr val="4D4D4C"/>
              </a:buClr>
              <a:buSzPts val="1200"/>
              <a:buFont typeface="Arial"/>
              <a:buNone/>
              <a:defRPr b="1" i="0" sz="1200" u="none" cap="none" strike="noStrike">
                <a:solidFill>
                  <a:srgbClr val="000000"/>
                </a:solidFill>
                <a:latin typeface="Arial"/>
                <a:ea typeface="Arial"/>
                <a:cs typeface="Arial"/>
                <a:sym typeface="Arial"/>
              </a:defRPr>
            </a:lvl5pPr>
            <a:lvl6pPr indent="-228600" lvl="5" marL="2743200" marR="0" rtl="0" algn="l">
              <a:lnSpc>
                <a:spcPct val="90000"/>
              </a:lnSpc>
              <a:spcBef>
                <a:spcPts val="400"/>
              </a:spcBef>
              <a:spcAft>
                <a:spcPts val="0"/>
              </a:spcAft>
              <a:buClr>
                <a:schemeClr val="dk1"/>
              </a:buClr>
              <a:buSzPts val="1200"/>
              <a:buFont typeface="Arial"/>
              <a:buNone/>
              <a:defRPr b="1" i="0" sz="1200" u="none" cap="none" strike="noStrike">
                <a:solidFill>
                  <a:srgbClr val="000000"/>
                </a:solidFill>
                <a:latin typeface="Arial"/>
                <a:ea typeface="Arial"/>
                <a:cs typeface="Arial"/>
                <a:sym typeface="Arial"/>
              </a:defRPr>
            </a:lvl6pPr>
            <a:lvl7pPr indent="-228600" lvl="6" marL="3200400" marR="0" rtl="0" algn="l">
              <a:lnSpc>
                <a:spcPct val="90000"/>
              </a:lnSpc>
              <a:spcBef>
                <a:spcPts val="400"/>
              </a:spcBef>
              <a:spcAft>
                <a:spcPts val="0"/>
              </a:spcAft>
              <a:buClr>
                <a:schemeClr val="dk1"/>
              </a:buClr>
              <a:buSzPts val="1200"/>
              <a:buFont typeface="Arial"/>
              <a:buNone/>
              <a:defRPr b="1" i="0" sz="1200" u="none" cap="none" strike="noStrike">
                <a:solidFill>
                  <a:srgbClr val="000000"/>
                </a:solidFill>
                <a:latin typeface="Arial"/>
                <a:ea typeface="Arial"/>
                <a:cs typeface="Arial"/>
                <a:sym typeface="Arial"/>
              </a:defRPr>
            </a:lvl7pPr>
            <a:lvl8pPr indent="-228600" lvl="7" marL="3657600" marR="0" rtl="0" algn="l">
              <a:lnSpc>
                <a:spcPct val="90000"/>
              </a:lnSpc>
              <a:spcBef>
                <a:spcPts val="400"/>
              </a:spcBef>
              <a:spcAft>
                <a:spcPts val="0"/>
              </a:spcAft>
              <a:buClr>
                <a:schemeClr val="dk1"/>
              </a:buClr>
              <a:buSzPts val="1200"/>
              <a:buFont typeface="Arial"/>
              <a:buNone/>
              <a:defRPr b="1" i="0" sz="1200" u="none" cap="none" strike="noStrike">
                <a:solidFill>
                  <a:srgbClr val="000000"/>
                </a:solidFill>
                <a:latin typeface="Arial"/>
                <a:ea typeface="Arial"/>
                <a:cs typeface="Arial"/>
                <a:sym typeface="Arial"/>
              </a:defRPr>
            </a:lvl8pPr>
            <a:lvl9pPr indent="-228600" lvl="8" marL="4114800" marR="0" rtl="0" algn="l">
              <a:lnSpc>
                <a:spcPct val="90000"/>
              </a:lnSpc>
              <a:spcBef>
                <a:spcPts val="400"/>
              </a:spcBef>
              <a:spcAft>
                <a:spcPts val="0"/>
              </a:spcAft>
              <a:buClr>
                <a:schemeClr val="dk1"/>
              </a:buClr>
              <a:buSzPts val="1200"/>
              <a:buFont typeface="Arial"/>
              <a:buNone/>
              <a:defRPr b="1" i="0" sz="1200" u="none" cap="none" strike="noStrike">
                <a:solidFill>
                  <a:srgbClr val="000000"/>
                </a:solidFill>
                <a:latin typeface="Arial"/>
                <a:ea typeface="Arial"/>
                <a:cs typeface="Arial"/>
                <a:sym typeface="Arial"/>
              </a:defRPr>
            </a:lvl9pPr>
          </a:lstStyle>
          <a:p/>
        </p:txBody>
      </p:sp>
      <p:sp>
        <p:nvSpPr>
          <p:cNvPr id="65" name="Google Shape;65;p10"/>
          <p:cNvSpPr txBox="1"/>
          <p:nvPr>
            <p:ph idx="2" type="body"/>
          </p:nvPr>
        </p:nvSpPr>
        <p:spPr>
          <a:xfrm>
            <a:off x="629841" y="1878806"/>
            <a:ext cx="3868200" cy="27633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66" name="Google Shape;66;p10"/>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marR="0" rtl="0" algn="l">
              <a:lnSpc>
                <a:spcPct val="90000"/>
              </a:lnSpc>
              <a:spcBef>
                <a:spcPts val="800"/>
              </a:spcBef>
              <a:spcAft>
                <a:spcPts val="0"/>
              </a:spcAft>
              <a:buClr>
                <a:srgbClr val="4D4D4C"/>
              </a:buClr>
              <a:buSzPts val="1800"/>
              <a:buFont typeface="Arial"/>
              <a:buNone/>
              <a:defRPr b="1" i="0" sz="1800" u="none" cap="none" strike="noStrike">
                <a:solidFill>
                  <a:srgbClr val="000000"/>
                </a:solidFill>
                <a:latin typeface="Arial"/>
                <a:ea typeface="Arial"/>
                <a:cs typeface="Arial"/>
                <a:sym typeface="Arial"/>
              </a:defRPr>
            </a:lvl1pPr>
            <a:lvl2pPr indent="-228600" lvl="1" marL="914400" marR="0" rtl="0" algn="l">
              <a:lnSpc>
                <a:spcPct val="90000"/>
              </a:lnSpc>
              <a:spcBef>
                <a:spcPts val="400"/>
              </a:spcBef>
              <a:spcAft>
                <a:spcPts val="0"/>
              </a:spcAft>
              <a:buClr>
                <a:srgbClr val="4D4D4C"/>
              </a:buClr>
              <a:buSzPts val="1500"/>
              <a:buFont typeface="Arial"/>
              <a:buNone/>
              <a:defRPr b="1" i="0" sz="1500" u="none" cap="none" strike="noStrike">
                <a:solidFill>
                  <a:srgbClr val="000000"/>
                </a:solidFill>
                <a:latin typeface="Arial"/>
                <a:ea typeface="Arial"/>
                <a:cs typeface="Arial"/>
                <a:sym typeface="Arial"/>
              </a:defRPr>
            </a:lvl2pPr>
            <a:lvl3pPr indent="-228600" lvl="2" marL="1371600" marR="0" rtl="0" algn="l">
              <a:lnSpc>
                <a:spcPct val="90000"/>
              </a:lnSpc>
              <a:spcBef>
                <a:spcPts val="400"/>
              </a:spcBef>
              <a:spcAft>
                <a:spcPts val="0"/>
              </a:spcAft>
              <a:buClr>
                <a:srgbClr val="4D4D4C"/>
              </a:buClr>
              <a:buSzPts val="1400"/>
              <a:buFont typeface="Arial"/>
              <a:buNone/>
              <a:defRPr b="1" i="0" sz="1400" u="none" cap="none" strike="noStrike">
                <a:solidFill>
                  <a:srgbClr val="000000"/>
                </a:solidFill>
                <a:latin typeface="Arial"/>
                <a:ea typeface="Arial"/>
                <a:cs typeface="Arial"/>
                <a:sym typeface="Arial"/>
              </a:defRPr>
            </a:lvl3pPr>
            <a:lvl4pPr indent="-228600" lvl="3" marL="1828800" marR="0" rtl="0" algn="l">
              <a:lnSpc>
                <a:spcPct val="90000"/>
              </a:lnSpc>
              <a:spcBef>
                <a:spcPts val="400"/>
              </a:spcBef>
              <a:spcAft>
                <a:spcPts val="0"/>
              </a:spcAft>
              <a:buClr>
                <a:srgbClr val="4D4D4C"/>
              </a:buClr>
              <a:buSzPts val="1200"/>
              <a:buFont typeface="Arial"/>
              <a:buNone/>
              <a:defRPr b="1" i="0" sz="1200" u="none" cap="none" strike="noStrike">
                <a:solidFill>
                  <a:srgbClr val="000000"/>
                </a:solidFill>
                <a:latin typeface="Arial"/>
                <a:ea typeface="Arial"/>
                <a:cs typeface="Arial"/>
                <a:sym typeface="Arial"/>
              </a:defRPr>
            </a:lvl4pPr>
            <a:lvl5pPr indent="-228600" lvl="4" marL="2286000" marR="0" rtl="0" algn="l">
              <a:lnSpc>
                <a:spcPct val="90000"/>
              </a:lnSpc>
              <a:spcBef>
                <a:spcPts val="400"/>
              </a:spcBef>
              <a:spcAft>
                <a:spcPts val="0"/>
              </a:spcAft>
              <a:buClr>
                <a:srgbClr val="4D4D4C"/>
              </a:buClr>
              <a:buSzPts val="1200"/>
              <a:buFont typeface="Arial"/>
              <a:buNone/>
              <a:defRPr b="1" i="0" sz="1200" u="none" cap="none" strike="noStrike">
                <a:solidFill>
                  <a:srgbClr val="000000"/>
                </a:solidFill>
                <a:latin typeface="Arial"/>
                <a:ea typeface="Arial"/>
                <a:cs typeface="Arial"/>
                <a:sym typeface="Arial"/>
              </a:defRPr>
            </a:lvl5pPr>
            <a:lvl6pPr indent="-228600" lvl="5" marL="2743200" marR="0" rtl="0" algn="l">
              <a:lnSpc>
                <a:spcPct val="90000"/>
              </a:lnSpc>
              <a:spcBef>
                <a:spcPts val="400"/>
              </a:spcBef>
              <a:spcAft>
                <a:spcPts val="0"/>
              </a:spcAft>
              <a:buClr>
                <a:schemeClr val="dk1"/>
              </a:buClr>
              <a:buSzPts val="1200"/>
              <a:buFont typeface="Arial"/>
              <a:buNone/>
              <a:defRPr b="1" i="0" sz="1200" u="none" cap="none" strike="noStrike">
                <a:solidFill>
                  <a:srgbClr val="000000"/>
                </a:solidFill>
                <a:latin typeface="Arial"/>
                <a:ea typeface="Arial"/>
                <a:cs typeface="Arial"/>
                <a:sym typeface="Arial"/>
              </a:defRPr>
            </a:lvl6pPr>
            <a:lvl7pPr indent="-228600" lvl="6" marL="3200400" marR="0" rtl="0" algn="l">
              <a:lnSpc>
                <a:spcPct val="90000"/>
              </a:lnSpc>
              <a:spcBef>
                <a:spcPts val="400"/>
              </a:spcBef>
              <a:spcAft>
                <a:spcPts val="0"/>
              </a:spcAft>
              <a:buClr>
                <a:schemeClr val="dk1"/>
              </a:buClr>
              <a:buSzPts val="1200"/>
              <a:buFont typeface="Arial"/>
              <a:buNone/>
              <a:defRPr b="1" i="0" sz="1200" u="none" cap="none" strike="noStrike">
                <a:solidFill>
                  <a:srgbClr val="000000"/>
                </a:solidFill>
                <a:latin typeface="Arial"/>
                <a:ea typeface="Arial"/>
                <a:cs typeface="Arial"/>
                <a:sym typeface="Arial"/>
              </a:defRPr>
            </a:lvl7pPr>
            <a:lvl8pPr indent="-228600" lvl="7" marL="3657600" marR="0" rtl="0" algn="l">
              <a:lnSpc>
                <a:spcPct val="90000"/>
              </a:lnSpc>
              <a:spcBef>
                <a:spcPts val="400"/>
              </a:spcBef>
              <a:spcAft>
                <a:spcPts val="0"/>
              </a:spcAft>
              <a:buClr>
                <a:schemeClr val="dk1"/>
              </a:buClr>
              <a:buSzPts val="1200"/>
              <a:buFont typeface="Arial"/>
              <a:buNone/>
              <a:defRPr b="1" i="0" sz="1200" u="none" cap="none" strike="noStrike">
                <a:solidFill>
                  <a:srgbClr val="000000"/>
                </a:solidFill>
                <a:latin typeface="Arial"/>
                <a:ea typeface="Arial"/>
                <a:cs typeface="Arial"/>
                <a:sym typeface="Arial"/>
              </a:defRPr>
            </a:lvl8pPr>
            <a:lvl9pPr indent="-228600" lvl="8" marL="4114800" marR="0" rtl="0" algn="l">
              <a:lnSpc>
                <a:spcPct val="90000"/>
              </a:lnSpc>
              <a:spcBef>
                <a:spcPts val="400"/>
              </a:spcBef>
              <a:spcAft>
                <a:spcPts val="0"/>
              </a:spcAft>
              <a:buClr>
                <a:schemeClr val="dk1"/>
              </a:buClr>
              <a:buSzPts val="1200"/>
              <a:buFont typeface="Arial"/>
              <a:buNone/>
              <a:defRPr b="1" i="0" sz="1200" u="none" cap="none" strike="noStrike">
                <a:solidFill>
                  <a:srgbClr val="000000"/>
                </a:solidFill>
                <a:latin typeface="Arial"/>
                <a:ea typeface="Arial"/>
                <a:cs typeface="Arial"/>
                <a:sym typeface="Arial"/>
              </a:defRPr>
            </a:lvl9pPr>
          </a:lstStyle>
          <a:p/>
        </p:txBody>
      </p:sp>
      <p:sp>
        <p:nvSpPr>
          <p:cNvPr id="67" name="Google Shape;67;p10"/>
          <p:cNvSpPr txBox="1"/>
          <p:nvPr>
            <p:ph idx="4" type="body"/>
          </p:nvPr>
        </p:nvSpPr>
        <p:spPr>
          <a:xfrm>
            <a:off x="4629150" y="1878806"/>
            <a:ext cx="3887400" cy="27633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68" name="Google Shape;68;p10"/>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9" name="Google Shape;69;p10"/>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70" name="Google Shape;70;p10"/>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1" name="Shape 71"/>
        <p:cNvGrpSpPr/>
        <p:nvPr/>
      </p:nvGrpSpPr>
      <p:grpSpPr>
        <a:xfrm>
          <a:off x="0" y="0"/>
          <a:ext cx="0" cy="0"/>
          <a:chOff x="0" y="0"/>
          <a:chExt cx="0" cy="0"/>
        </a:xfrm>
      </p:grpSpPr>
      <p:sp>
        <p:nvSpPr>
          <p:cNvPr id="72" name="Google Shape;72;p11"/>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73" name="Google Shape;73;p11"/>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74" name="Google Shape;74;p11"/>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12"/>
          <p:cNvSpPr txBox="1"/>
          <p:nvPr>
            <p:ph type="title"/>
          </p:nvPr>
        </p:nvSpPr>
        <p:spPr>
          <a:xfrm>
            <a:off x="628650" y="649706"/>
            <a:ext cx="7886700" cy="6183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rgbClr val="A42530"/>
              </a:buClr>
              <a:buSzPts val="14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77" name="Google Shape;77;p12"/>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78" name="Google Shape;78;p12"/>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79" name="Google Shape;79;p12"/>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80" name="Google Shape;80;p12"/>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4560570"/>
            <a:ext cx="628800" cy="592800"/>
          </a:xfrm>
          <a:prstGeom prst="rect">
            <a:avLst/>
          </a:prstGeom>
          <a:solidFill>
            <a:srgbClr val="A425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1" name="Google Shape;11;p1"/>
          <p:cNvSpPr/>
          <p:nvPr/>
        </p:nvSpPr>
        <p:spPr>
          <a:xfrm>
            <a:off x="7627208" y="4767263"/>
            <a:ext cx="1516800" cy="386100"/>
          </a:xfrm>
          <a:prstGeom prst="rect">
            <a:avLst/>
          </a:prstGeom>
          <a:solidFill>
            <a:srgbClr val="D9222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2" name="Google Shape;12;p1"/>
          <p:cNvSpPr/>
          <p:nvPr/>
        </p:nvSpPr>
        <p:spPr>
          <a:xfrm>
            <a:off x="628649" y="4767263"/>
            <a:ext cx="6998700" cy="386100"/>
          </a:xfrm>
          <a:prstGeom prst="rect">
            <a:avLst/>
          </a:prstGeom>
          <a:solidFill>
            <a:srgbClr val="A425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Fira Sans"/>
              <a:ea typeface="Fira Sans"/>
              <a:cs typeface="Fira Sans"/>
              <a:sym typeface="Fira Sans"/>
            </a:endParaRPr>
          </a:p>
        </p:txBody>
      </p:sp>
      <p:pic>
        <p:nvPicPr>
          <p:cNvPr id="13" name="Google Shape;13;p1"/>
          <p:cNvPicPr preferRelativeResize="0"/>
          <p:nvPr/>
        </p:nvPicPr>
        <p:blipFill rotWithShape="1">
          <a:blip r:embed="rId1">
            <a:alphaModFix/>
          </a:blip>
          <a:srcRect b="0" l="0" r="0" t="0"/>
          <a:stretch/>
        </p:blipFill>
        <p:spPr>
          <a:xfrm>
            <a:off x="8343447" y="169592"/>
            <a:ext cx="546354" cy="404707"/>
          </a:xfrm>
          <a:prstGeom prst="rect">
            <a:avLst/>
          </a:prstGeom>
          <a:noFill/>
          <a:ln>
            <a:noFill/>
          </a:ln>
        </p:spPr>
      </p:pic>
      <p:pic>
        <p:nvPicPr>
          <p:cNvPr id="14" name="Google Shape;14;p1"/>
          <p:cNvPicPr preferRelativeResize="0"/>
          <p:nvPr/>
        </p:nvPicPr>
        <p:blipFill rotWithShape="1">
          <a:blip r:embed="rId2">
            <a:alphaModFix/>
          </a:blip>
          <a:srcRect b="0" l="0" r="0" t="0"/>
          <a:stretch/>
        </p:blipFill>
        <p:spPr>
          <a:xfrm>
            <a:off x="145397" y="106182"/>
            <a:ext cx="1737192" cy="53152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notesSlide" Target="../notesSlides/notesSlide15.xml"/><Relationship Id="rId5" Type="http://schemas.openxmlformats.org/officeDocument/2006/relationships/image" Target="../media/image3.png"/><Relationship Id="rId6"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notesSlide" Target="../notesSlides/notesSlide16.xml"/><Relationship Id="rId5" Type="http://schemas.openxmlformats.org/officeDocument/2006/relationships/image" Target="../media/image6.png"/><Relationship Id="rId6"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notesSlide" Target="../notesSlides/notesSlide17.xml"/><Relationship Id="rId5"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notesSlide" Target="../notesSlides/notesSlide18.xml"/><Relationship Id="rId5" Type="http://schemas.openxmlformats.org/officeDocument/2006/relationships/image" Target="../media/image9.png"/><Relationship Id="rId6"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notesSlide" Target="../notesSlides/notesSlide19.xml"/><Relationship Id="rId5" Type="http://schemas.openxmlformats.org/officeDocument/2006/relationships/image" Target="../media/image11.png"/><Relationship Id="rId6"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notesSlide" Target="../notesSlides/notesSlide20.xml"/><Relationship Id="rId5" Type="http://schemas.openxmlformats.org/officeDocument/2006/relationships/image" Target="../media/image13.png"/><Relationship Id="rId6"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notesSlide" Target="../notesSlides/notesSlide21.xml"/><Relationship Id="rId5"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6" name="Google Shape;86;p13"/>
          <p:cNvPicPr preferRelativeResize="0"/>
          <p:nvPr/>
        </p:nvPicPr>
        <p:blipFill rotWithShape="1">
          <a:blip r:embed="rId3">
            <a:alphaModFix/>
          </a:blip>
          <a:srcRect b="0" l="0" r="10" t="0"/>
          <a:stretch/>
        </p:blipFill>
        <p:spPr>
          <a:xfrm>
            <a:off x="145399" y="106185"/>
            <a:ext cx="1737300" cy="531600"/>
          </a:xfrm>
          <a:prstGeom prst="rect">
            <a:avLst/>
          </a:prstGeom>
          <a:noFill/>
          <a:ln>
            <a:noFill/>
          </a:ln>
        </p:spPr>
      </p:pic>
      <p:pic>
        <p:nvPicPr>
          <p:cNvPr id="87" name="Google Shape;87;p13"/>
          <p:cNvPicPr preferRelativeResize="0"/>
          <p:nvPr/>
        </p:nvPicPr>
        <p:blipFill rotWithShape="1">
          <a:blip r:embed="rId4">
            <a:alphaModFix/>
          </a:blip>
          <a:srcRect b="720" l="0" r="10" t="710"/>
          <a:stretch/>
        </p:blipFill>
        <p:spPr>
          <a:xfrm>
            <a:off x="8343443" y="169593"/>
            <a:ext cx="546300" cy="404700"/>
          </a:xfrm>
          <a:prstGeom prst="rect">
            <a:avLst/>
          </a:prstGeom>
          <a:noFill/>
          <a:ln>
            <a:noFill/>
          </a:ln>
        </p:spPr>
      </p:pic>
      <p:grpSp>
        <p:nvGrpSpPr>
          <p:cNvPr id="88" name="Google Shape;88;p13"/>
          <p:cNvGrpSpPr/>
          <p:nvPr/>
        </p:nvGrpSpPr>
        <p:grpSpPr>
          <a:xfrm>
            <a:off x="0" y="4560570"/>
            <a:ext cx="9144010" cy="592800"/>
            <a:chOff x="0" y="4560570"/>
            <a:chExt cx="9144010" cy="592800"/>
          </a:xfrm>
        </p:grpSpPr>
        <p:sp>
          <p:nvSpPr>
            <p:cNvPr id="89" name="Google Shape;89;p13"/>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3"/>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3"/>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2" name="Google Shape;92;p13"/>
          <p:cNvSpPr txBox="1"/>
          <p:nvPr/>
        </p:nvSpPr>
        <p:spPr>
          <a:xfrm>
            <a:off x="428853" y="731520"/>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CONTAINER IMAGE SUPPLY CHAIN SECURITY USING DIGITAL SIGNATURES</a:t>
            </a:r>
            <a:endParaRPr/>
          </a:p>
          <a:p>
            <a:pPr indent="0" lvl="0" marL="0" marR="0" rtl="0" algn="l">
              <a:lnSpc>
                <a:spcPct val="100000"/>
              </a:lnSpc>
              <a:spcBef>
                <a:spcPts val="300"/>
              </a:spcBef>
              <a:spcAft>
                <a:spcPts val="0"/>
              </a:spcAft>
              <a:buClr>
                <a:srgbClr val="000000"/>
              </a:buClr>
              <a:buSzPts val="2600"/>
              <a:buFont typeface="Arial"/>
              <a:buNone/>
            </a:pPr>
            <a:r>
              <a:rPr b="1" i="0" lang="en-US" sz="2600" u="none" cap="none" strike="noStrike">
                <a:solidFill>
                  <a:srgbClr val="111111"/>
                </a:solidFill>
                <a:latin typeface="Arial"/>
                <a:ea typeface="Arial"/>
                <a:cs typeface="Arial"/>
                <a:sym typeface="Arial"/>
              </a:rPr>
              <a:t>TrustDeploy: Verify Before You Deploy</a:t>
            </a:r>
            <a:endParaRPr/>
          </a:p>
        </p:txBody>
      </p:sp>
      <p:sp>
        <p:nvSpPr>
          <p:cNvPr id="93" name="Google Shape;93;p13"/>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94" name="Google Shape;94;p13"/>
          <p:cNvSpPr txBox="1"/>
          <p:nvPr/>
        </p:nvSpPr>
        <p:spPr>
          <a:xfrm>
            <a:off x="7315200"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1</a:t>
            </a:r>
            <a:endParaRPr/>
          </a:p>
        </p:txBody>
      </p:sp>
      <p:sp>
        <p:nvSpPr>
          <p:cNvPr id="95" name="Google Shape;95;p13"/>
          <p:cNvSpPr txBox="1"/>
          <p:nvPr/>
        </p:nvSpPr>
        <p:spPr>
          <a:xfrm>
            <a:off x="428853" y="1417320"/>
            <a:ext cx="4114800" cy="73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A42530"/>
                </a:solidFill>
                <a:latin typeface="Arial"/>
                <a:ea typeface="Arial"/>
                <a:cs typeface="Arial"/>
                <a:sym typeface="Arial"/>
              </a:rPr>
              <a:t>Integrity</a:t>
            </a:r>
            <a:r>
              <a:rPr b="0" i="0" lang="en-US" sz="1100" u="none" cap="none" strike="noStrike">
                <a:solidFill>
                  <a:srgbClr val="2B2F36"/>
                </a:solidFill>
                <a:latin typeface="Arial"/>
                <a:ea typeface="Arial"/>
                <a:cs typeface="Arial"/>
                <a:sym typeface="Arial"/>
              </a:rPr>
              <a:t> is the “I” in the confidentiality, integrity, availability (CIA) triad. TrustDeploy deploys a container image only when its origin is cryptographically proven, using three building blocks:</a:t>
            </a:r>
            <a:endParaRPr/>
          </a:p>
        </p:txBody>
      </p:sp>
      <p:sp>
        <p:nvSpPr>
          <p:cNvPr id="96" name="Google Shape;96;p13"/>
          <p:cNvSpPr/>
          <p:nvPr/>
        </p:nvSpPr>
        <p:spPr>
          <a:xfrm>
            <a:off x="428853" y="2185415"/>
            <a:ext cx="255900" cy="255900"/>
          </a:xfrm>
          <a:prstGeom prst="ellipse">
            <a:avLst/>
          </a:prstGeom>
          <a:solidFill>
            <a:srgbClr val="A4253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1</a:t>
            </a:r>
            <a:endParaRPr/>
          </a:p>
        </p:txBody>
      </p:sp>
      <p:sp>
        <p:nvSpPr>
          <p:cNvPr id="97" name="Google Shape;97;p13"/>
          <p:cNvSpPr txBox="1"/>
          <p:nvPr/>
        </p:nvSpPr>
        <p:spPr>
          <a:xfrm>
            <a:off x="822960" y="2157984"/>
            <a:ext cx="37491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cap="none" strike="noStrike">
                <a:solidFill>
                  <a:srgbClr val="111111"/>
                </a:solidFill>
                <a:latin typeface="Arial"/>
                <a:ea typeface="Arial"/>
                <a:cs typeface="Arial"/>
                <a:sym typeface="Arial"/>
              </a:rPr>
              <a:t>Cosign signing</a:t>
            </a:r>
            <a:r>
              <a:rPr b="0" i="0" lang="en-US" sz="1000" u="none" cap="none" strike="noStrike">
                <a:solidFill>
                  <a:srgbClr val="5A5A5A"/>
                </a:solidFill>
                <a:latin typeface="Arial"/>
                <a:ea typeface="Arial"/>
                <a:cs typeface="Arial"/>
                <a:sym typeface="Arial"/>
              </a:rPr>
              <a:t> – approved images signed with a dedicated ECDSA P-256 key</a:t>
            </a:r>
            <a:endParaRPr/>
          </a:p>
        </p:txBody>
      </p:sp>
      <p:sp>
        <p:nvSpPr>
          <p:cNvPr id="98" name="Google Shape;98;p13"/>
          <p:cNvSpPr/>
          <p:nvPr/>
        </p:nvSpPr>
        <p:spPr>
          <a:xfrm>
            <a:off x="428853" y="2551175"/>
            <a:ext cx="255900" cy="255900"/>
          </a:xfrm>
          <a:prstGeom prst="ellipse">
            <a:avLst/>
          </a:prstGeom>
          <a:solidFill>
            <a:srgbClr val="A4253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2</a:t>
            </a:r>
            <a:endParaRPr/>
          </a:p>
        </p:txBody>
      </p:sp>
      <p:sp>
        <p:nvSpPr>
          <p:cNvPr id="99" name="Google Shape;99;p13"/>
          <p:cNvSpPr txBox="1"/>
          <p:nvPr/>
        </p:nvSpPr>
        <p:spPr>
          <a:xfrm>
            <a:off x="822960" y="2523744"/>
            <a:ext cx="37491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cap="none" strike="noStrike">
                <a:solidFill>
                  <a:srgbClr val="111111"/>
                </a:solidFill>
                <a:latin typeface="Arial"/>
                <a:ea typeface="Arial"/>
                <a:cs typeface="Arial"/>
                <a:sym typeface="Arial"/>
              </a:rPr>
              <a:t>Digest-pinned verification</a:t>
            </a:r>
            <a:r>
              <a:rPr b="0" i="0" lang="en-US" sz="1000" u="none" cap="none" strike="noStrike">
                <a:solidFill>
                  <a:srgbClr val="5A5A5A"/>
                </a:solidFill>
                <a:latin typeface="Arial"/>
                <a:ea typeface="Arial"/>
                <a:cs typeface="Arial"/>
                <a:sym typeface="Arial"/>
              </a:rPr>
              <a:t> – tag resolved to its digest, checked against the trusted public key</a:t>
            </a:r>
            <a:endParaRPr/>
          </a:p>
        </p:txBody>
      </p:sp>
      <p:sp>
        <p:nvSpPr>
          <p:cNvPr id="100" name="Google Shape;100;p13"/>
          <p:cNvSpPr/>
          <p:nvPr/>
        </p:nvSpPr>
        <p:spPr>
          <a:xfrm>
            <a:off x="428853" y="2916936"/>
            <a:ext cx="255900" cy="255900"/>
          </a:xfrm>
          <a:prstGeom prst="ellipse">
            <a:avLst/>
          </a:prstGeom>
          <a:solidFill>
            <a:srgbClr val="A4253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3</a:t>
            </a:r>
            <a:endParaRPr/>
          </a:p>
        </p:txBody>
      </p:sp>
      <p:sp>
        <p:nvSpPr>
          <p:cNvPr id="101" name="Google Shape;101;p13"/>
          <p:cNvSpPr txBox="1"/>
          <p:nvPr/>
        </p:nvSpPr>
        <p:spPr>
          <a:xfrm>
            <a:off x="822960" y="2889504"/>
            <a:ext cx="37491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cap="none" strike="noStrike">
                <a:solidFill>
                  <a:srgbClr val="111111"/>
                </a:solidFill>
                <a:latin typeface="Arial"/>
                <a:ea typeface="Arial"/>
                <a:cs typeface="Arial"/>
                <a:sym typeface="Arial"/>
              </a:rPr>
              <a:t>Fail-closed gate + audit</a:t>
            </a:r>
            <a:r>
              <a:rPr b="0" i="0" lang="en-US" sz="1000" u="none" cap="none" strike="noStrike">
                <a:solidFill>
                  <a:srgbClr val="5A5A5A"/>
                </a:solidFill>
                <a:latin typeface="Arial"/>
                <a:ea typeface="Arial"/>
                <a:cs typeface="Arial"/>
                <a:sym typeface="Arial"/>
              </a:rPr>
              <a:t> – ACCEPT / REJECT with reason codes, JSONL log and HTML report</a:t>
            </a:r>
            <a:endParaRPr/>
          </a:p>
        </p:txBody>
      </p:sp>
      <p:sp>
        <p:nvSpPr>
          <p:cNvPr id="102" name="Google Shape;102;p13"/>
          <p:cNvSpPr txBox="1"/>
          <p:nvPr/>
        </p:nvSpPr>
        <p:spPr>
          <a:xfrm>
            <a:off x="428853" y="3346704"/>
            <a:ext cx="2743200" cy="164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900" u="none" cap="none" strike="noStrike">
                <a:solidFill>
                  <a:srgbClr val="A42530"/>
                </a:solidFill>
                <a:latin typeface="Arial"/>
                <a:ea typeface="Arial"/>
                <a:cs typeface="Arial"/>
                <a:sym typeface="Arial"/>
              </a:rPr>
              <a:t>GROUP MEMBERS</a:t>
            </a:r>
            <a:endParaRPr/>
          </a:p>
        </p:txBody>
      </p:sp>
      <p:sp>
        <p:nvSpPr>
          <p:cNvPr id="103" name="Google Shape;103;p13"/>
          <p:cNvSpPr/>
          <p:nvPr/>
        </p:nvSpPr>
        <p:spPr>
          <a:xfrm>
            <a:off x="428853" y="3547872"/>
            <a:ext cx="2011800" cy="420600"/>
          </a:xfrm>
          <a:prstGeom prst="roundRect">
            <a:avLst>
              <a:gd fmla="val 17391" name="adj"/>
            </a:avLst>
          </a:prstGeom>
          <a:solidFill>
            <a:srgbClr val="F5F5F5"/>
          </a:solidFill>
          <a:ln>
            <a:noFill/>
          </a:ln>
        </p:spPr>
        <p:txBody>
          <a:bodyPr anchorCtr="0" anchor="ctr" bIns="18275" lIns="91425" spcFirstLastPara="1" rIns="45700" wrap="square" tIns="18275">
            <a:noAutofit/>
          </a:bodyPr>
          <a:lstStyle/>
          <a:p>
            <a:pPr indent="0" lvl="0" marL="0" marR="0" rtl="0" algn="l">
              <a:lnSpc>
                <a:spcPct val="100000"/>
              </a:lnSpc>
              <a:spcBef>
                <a:spcPts val="0"/>
              </a:spcBef>
              <a:spcAft>
                <a:spcPts val="0"/>
              </a:spcAft>
              <a:buNone/>
            </a:pPr>
            <a:r>
              <a:rPr b="1" i="0" lang="en-US" sz="1000" u="none" cap="none" strike="noStrike">
                <a:solidFill>
                  <a:srgbClr val="111111"/>
                </a:solidFill>
                <a:latin typeface="Arial"/>
                <a:ea typeface="Arial"/>
                <a:cs typeface="Arial"/>
                <a:sym typeface="Arial"/>
              </a:rPr>
              <a:t>Archit Singh</a:t>
            </a:r>
            <a:endParaRPr/>
          </a:p>
          <a:p>
            <a:pPr indent="0" lvl="0" marL="0" marR="0" rtl="0" algn="l">
              <a:lnSpc>
                <a:spcPct val="100000"/>
              </a:lnSpc>
              <a:spcBef>
                <a:spcPts val="0"/>
              </a:spcBef>
              <a:spcAft>
                <a:spcPts val="0"/>
              </a:spcAft>
              <a:buNone/>
            </a:pPr>
            <a:r>
              <a:rPr b="0" i="0" lang="en-US" sz="900" u="none" cap="none" strike="noStrike">
                <a:solidFill>
                  <a:srgbClr val="5A5A5A"/>
                </a:solidFill>
                <a:latin typeface="Arial"/>
                <a:ea typeface="Arial"/>
                <a:cs typeface="Arial"/>
                <a:sym typeface="Arial"/>
              </a:rPr>
              <a:t>16010123057</a:t>
            </a:r>
            <a:endParaRPr/>
          </a:p>
        </p:txBody>
      </p:sp>
      <p:sp>
        <p:nvSpPr>
          <p:cNvPr id="104" name="Google Shape;104;p13"/>
          <p:cNvSpPr/>
          <p:nvPr/>
        </p:nvSpPr>
        <p:spPr>
          <a:xfrm>
            <a:off x="2504541" y="3547872"/>
            <a:ext cx="2011800" cy="420600"/>
          </a:xfrm>
          <a:prstGeom prst="roundRect">
            <a:avLst>
              <a:gd fmla="val 17391" name="adj"/>
            </a:avLst>
          </a:prstGeom>
          <a:solidFill>
            <a:srgbClr val="F5F5F5"/>
          </a:solidFill>
          <a:ln>
            <a:noFill/>
          </a:ln>
        </p:spPr>
        <p:txBody>
          <a:bodyPr anchorCtr="0" anchor="ctr" bIns="18275" lIns="91425" spcFirstLastPara="1" rIns="45700" wrap="square" tIns="18275">
            <a:noAutofit/>
          </a:bodyPr>
          <a:lstStyle/>
          <a:p>
            <a:pPr indent="0" lvl="0" marL="0" marR="0" rtl="0" algn="l">
              <a:lnSpc>
                <a:spcPct val="100000"/>
              </a:lnSpc>
              <a:spcBef>
                <a:spcPts val="0"/>
              </a:spcBef>
              <a:spcAft>
                <a:spcPts val="0"/>
              </a:spcAft>
              <a:buNone/>
            </a:pPr>
            <a:r>
              <a:rPr b="1" i="0" lang="en-US" sz="1000" u="none" cap="none" strike="noStrike">
                <a:solidFill>
                  <a:srgbClr val="111111"/>
                </a:solidFill>
                <a:latin typeface="Arial"/>
                <a:ea typeface="Arial"/>
                <a:cs typeface="Arial"/>
                <a:sym typeface="Arial"/>
              </a:rPr>
              <a:t>Anish Patni</a:t>
            </a:r>
            <a:endParaRPr/>
          </a:p>
          <a:p>
            <a:pPr indent="0" lvl="0" marL="0" marR="0" rtl="0" algn="l">
              <a:lnSpc>
                <a:spcPct val="100000"/>
              </a:lnSpc>
              <a:spcBef>
                <a:spcPts val="0"/>
              </a:spcBef>
              <a:spcAft>
                <a:spcPts val="0"/>
              </a:spcAft>
              <a:buNone/>
            </a:pPr>
            <a:r>
              <a:rPr b="0" i="0" lang="en-US" sz="900" u="none" cap="none" strike="noStrike">
                <a:solidFill>
                  <a:srgbClr val="5A5A5A"/>
                </a:solidFill>
                <a:latin typeface="Arial"/>
                <a:ea typeface="Arial"/>
                <a:cs typeface="Arial"/>
                <a:sym typeface="Arial"/>
              </a:rPr>
              <a:t>16010123045</a:t>
            </a:r>
            <a:endParaRPr/>
          </a:p>
        </p:txBody>
      </p:sp>
      <p:sp>
        <p:nvSpPr>
          <p:cNvPr id="105" name="Google Shape;105;p13"/>
          <p:cNvSpPr/>
          <p:nvPr/>
        </p:nvSpPr>
        <p:spPr>
          <a:xfrm>
            <a:off x="428853" y="4014215"/>
            <a:ext cx="2011800" cy="420600"/>
          </a:xfrm>
          <a:prstGeom prst="roundRect">
            <a:avLst>
              <a:gd fmla="val 17391" name="adj"/>
            </a:avLst>
          </a:prstGeom>
          <a:solidFill>
            <a:srgbClr val="F5F5F5"/>
          </a:solidFill>
          <a:ln>
            <a:noFill/>
          </a:ln>
        </p:spPr>
        <p:txBody>
          <a:bodyPr anchorCtr="0" anchor="ctr" bIns="18275" lIns="91425" spcFirstLastPara="1" rIns="45700" wrap="square" tIns="18275">
            <a:noAutofit/>
          </a:bodyPr>
          <a:lstStyle/>
          <a:p>
            <a:pPr indent="0" lvl="0" marL="0" marR="0" rtl="0" algn="l">
              <a:lnSpc>
                <a:spcPct val="100000"/>
              </a:lnSpc>
              <a:spcBef>
                <a:spcPts val="0"/>
              </a:spcBef>
              <a:spcAft>
                <a:spcPts val="0"/>
              </a:spcAft>
              <a:buNone/>
            </a:pPr>
            <a:r>
              <a:rPr b="1" i="0" lang="en-US" sz="1000" u="none" cap="none" strike="noStrike">
                <a:solidFill>
                  <a:srgbClr val="111111"/>
                </a:solidFill>
                <a:latin typeface="Arial"/>
                <a:ea typeface="Arial"/>
                <a:cs typeface="Arial"/>
                <a:sym typeface="Arial"/>
              </a:rPr>
              <a:t>Amrit Nigam</a:t>
            </a:r>
            <a:endParaRPr/>
          </a:p>
          <a:p>
            <a:pPr indent="0" lvl="0" marL="0" marR="0" rtl="0" algn="l">
              <a:lnSpc>
                <a:spcPct val="100000"/>
              </a:lnSpc>
              <a:spcBef>
                <a:spcPts val="0"/>
              </a:spcBef>
              <a:spcAft>
                <a:spcPts val="0"/>
              </a:spcAft>
              <a:buNone/>
            </a:pPr>
            <a:r>
              <a:rPr b="0" i="0" lang="en-US" sz="900" u="none" cap="none" strike="noStrike">
                <a:solidFill>
                  <a:srgbClr val="5A5A5A"/>
                </a:solidFill>
                <a:latin typeface="Arial"/>
                <a:ea typeface="Arial"/>
                <a:cs typeface="Arial"/>
                <a:sym typeface="Arial"/>
              </a:rPr>
              <a:t>16010123038</a:t>
            </a:r>
            <a:endParaRPr/>
          </a:p>
        </p:txBody>
      </p:sp>
      <p:sp>
        <p:nvSpPr>
          <p:cNvPr id="106" name="Google Shape;106;p13"/>
          <p:cNvSpPr/>
          <p:nvPr/>
        </p:nvSpPr>
        <p:spPr>
          <a:xfrm>
            <a:off x="2504541" y="4014215"/>
            <a:ext cx="2011800" cy="420600"/>
          </a:xfrm>
          <a:prstGeom prst="roundRect">
            <a:avLst>
              <a:gd fmla="val 17391" name="adj"/>
            </a:avLst>
          </a:prstGeom>
          <a:solidFill>
            <a:srgbClr val="F5F5F5"/>
          </a:solidFill>
          <a:ln>
            <a:noFill/>
          </a:ln>
        </p:spPr>
        <p:txBody>
          <a:bodyPr anchorCtr="0" anchor="ctr" bIns="18275" lIns="91425" spcFirstLastPara="1" rIns="45700" wrap="square" tIns="18275">
            <a:noAutofit/>
          </a:bodyPr>
          <a:lstStyle/>
          <a:p>
            <a:pPr indent="0" lvl="0" marL="0" marR="0" rtl="0" algn="l">
              <a:lnSpc>
                <a:spcPct val="100000"/>
              </a:lnSpc>
              <a:spcBef>
                <a:spcPts val="0"/>
              </a:spcBef>
              <a:spcAft>
                <a:spcPts val="0"/>
              </a:spcAft>
              <a:buNone/>
            </a:pPr>
            <a:r>
              <a:rPr b="1" i="0" lang="en-US" sz="1000" u="none" cap="none" strike="noStrike">
                <a:solidFill>
                  <a:srgbClr val="111111"/>
                </a:solidFill>
                <a:latin typeface="Arial"/>
                <a:ea typeface="Arial"/>
                <a:cs typeface="Arial"/>
                <a:sym typeface="Arial"/>
              </a:rPr>
              <a:t>Rishi Shanbhag</a:t>
            </a:r>
            <a:endParaRPr/>
          </a:p>
          <a:p>
            <a:pPr indent="0" lvl="0" marL="0" marR="0" rtl="0" algn="l">
              <a:lnSpc>
                <a:spcPct val="100000"/>
              </a:lnSpc>
              <a:spcBef>
                <a:spcPts val="0"/>
              </a:spcBef>
              <a:spcAft>
                <a:spcPts val="0"/>
              </a:spcAft>
              <a:buNone/>
            </a:pPr>
            <a:r>
              <a:rPr b="0" i="0" lang="en-US" sz="900" u="none" cap="none" strike="noStrike">
                <a:solidFill>
                  <a:srgbClr val="5A5A5A"/>
                </a:solidFill>
                <a:latin typeface="Arial"/>
                <a:ea typeface="Arial"/>
                <a:cs typeface="Arial"/>
                <a:sym typeface="Arial"/>
              </a:rPr>
              <a:t>16010123256</a:t>
            </a:r>
            <a:endParaRPr/>
          </a:p>
        </p:txBody>
      </p:sp>
      <p:sp>
        <p:nvSpPr>
          <p:cNvPr id="108" name="Google Shape;108;p13"/>
          <p:cNvSpPr txBox="1"/>
          <p:nvPr/>
        </p:nvSpPr>
        <p:spPr>
          <a:xfrm>
            <a:off x="4800600" y="4114800"/>
            <a:ext cx="39135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900" u="none" cap="none" strike="noStrike">
                <a:solidFill>
                  <a:srgbClr val="5A5A5A"/>
                </a:solidFill>
                <a:latin typeface="Arial"/>
                <a:ea typeface="Arial"/>
                <a:cs typeface="Arial"/>
                <a:sym typeface="Arial"/>
              </a:rPr>
              <a:t>Fails closed. </a:t>
            </a:r>
            <a:r>
              <a:rPr b="0" i="0" lang="en-US" sz="900" u="none" cap="none" strike="noStrike">
                <a:solidFill>
                  <a:srgbClr val="5A5A5A"/>
                </a:solidFill>
                <a:latin typeface="Arial"/>
                <a:ea typeface="Arial"/>
                <a:cs typeface="Arial"/>
                <a:sym typeface="Arial"/>
              </a:rPr>
              <a:t>A missing signature, an untrusted key, a tool error or an unreachable registry all mean REJECT.</a:t>
            </a:r>
            <a:endParaRPr/>
          </a:p>
        </p:txBody>
      </p:sp>
      <p:sp>
        <p:nvSpPr>
          <p:cNvPr id="109" name="Rounded Rectangle 108"/>
          <p:cNvSpPr/>
          <p:nvPr/>
        </p:nvSpPr>
        <p:spPr>
          <a:xfrm>
            <a:off x="5477190" y="1400000"/>
            <a:ext cx="2560320" cy="420000"/>
          </a:xfrm>
          <a:prstGeom prst="roundRect">
            <a:avLst>
              <a:gd name="adj" fmla="val 14000"/>
            </a:avLst>
          </a:prstGeom>
          <a:solidFill>
            <a:srgbClr val="F5F5F5"/>
          </a:solidFill>
          <a:ln w="9525">
            <a:solidFill>
              <a:srgbClr val="D9D9D9"/>
            </a:solidFill>
          </a:ln>
          <a:effectLst/>
        </p:spPr>
        <p:txBody>
          <a:bodyPr rtlCol="0" anchor="ctr" wrap="square" lIns="45700" tIns="27425" rIns="45700" bIns="27425"/>
          <a:lstStyle/>
          <a:p>
            <a:pPr algn="ctr">
              <a:spcBef>
                <a:spcPts val="0"/>
              </a:spcBef>
              <a:spcAft>
                <a:spcPts val="0"/>
              </a:spcAft>
            </a:pPr>
            <a:r>
              <a:rPr sz="1000" b="1" i="0">
                <a:solidFill>
                  <a:srgbClr val="111111"/>
                </a:solidFill>
                <a:latin typeface="Arial"/>
              </a:rPr>
              <a:t>Image tag</a:t>
            </a:r>
          </a:p>
          <a:p>
            <a:pPr algn="ctr">
              <a:spcBef>
                <a:spcPts val="100"/>
              </a:spcBef>
              <a:spcAft>
                <a:spcPts val="0"/>
              </a:spcAft>
            </a:pPr>
            <a:r>
              <a:rPr sz="900" b="0" i="0">
                <a:solidFill>
                  <a:srgbClr val="5A5A5A"/>
                </a:solidFill>
                <a:latin typeface="Arial"/>
              </a:rPr>
              <a:t>localhost:5001/trustdeploy/sample-app:1.0.0</a:t>
            </a:r>
          </a:p>
        </p:txBody>
      </p:sp>
      <p:sp>
        <p:nvSpPr>
          <p:cNvPr id="110" name="Rounded Rectangle 109"/>
          <p:cNvSpPr/>
          <p:nvPr/>
        </p:nvSpPr>
        <p:spPr>
          <a:xfrm>
            <a:off x="5477190" y="1960000"/>
            <a:ext cx="2560320" cy="420000"/>
          </a:xfrm>
          <a:prstGeom prst="roundRect">
            <a:avLst>
              <a:gd name="adj" fmla="val 14000"/>
            </a:avLst>
          </a:prstGeom>
          <a:solidFill>
            <a:srgbClr val="F5F5F5"/>
          </a:solidFill>
          <a:ln w="9525">
            <a:solidFill>
              <a:srgbClr val="D9D9D9"/>
            </a:solidFill>
          </a:ln>
          <a:effectLst/>
        </p:spPr>
        <p:txBody>
          <a:bodyPr rtlCol="0" anchor="ctr" wrap="square" lIns="45700" tIns="27425" rIns="45700" bIns="27425"/>
          <a:lstStyle/>
          <a:p>
            <a:pPr algn="ctr">
              <a:spcBef>
                <a:spcPts val="0"/>
              </a:spcBef>
              <a:spcAft>
                <a:spcPts val="0"/>
              </a:spcAft>
            </a:pPr>
            <a:r>
              <a:rPr sz="1000" b="1" i="0">
                <a:solidFill>
                  <a:srgbClr val="111111"/>
                </a:solidFill>
                <a:latin typeface="Arial"/>
              </a:rPr>
              <a:t>Immutable digest</a:t>
            </a:r>
          </a:p>
          <a:p>
            <a:pPr algn="ctr">
              <a:spcBef>
                <a:spcPts val="100"/>
              </a:spcBef>
              <a:spcAft>
                <a:spcPts val="0"/>
              </a:spcAft>
            </a:pPr>
            <a:r>
              <a:rPr sz="900" b="0" i="0">
                <a:solidFill>
                  <a:srgbClr val="5A5A5A"/>
                </a:solidFill>
                <a:latin typeface="Arial"/>
              </a:rPr>
              <a:t>sha256:deffd203… (resolved first)</a:t>
            </a:r>
          </a:p>
        </p:txBody>
      </p:sp>
      <p:sp>
        <p:nvSpPr>
          <p:cNvPr id="111" name="Rounded Rectangle 110"/>
          <p:cNvSpPr/>
          <p:nvPr/>
        </p:nvSpPr>
        <p:spPr>
          <a:xfrm>
            <a:off x="5477190" y="2520000"/>
            <a:ext cx="2560320" cy="420000"/>
          </a:xfrm>
          <a:prstGeom prst="roundRect">
            <a:avLst>
              <a:gd name="adj" fmla="val 14000"/>
            </a:avLst>
          </a:prstGeom>
          <a:solidFill>
            <a:srgbClr val="A42530"/>
          </a:solidFill>
          <a:ln>
            <a:noFill/>
          </a:ln>
          <a:effectLst/>
        </p:spPr>
        <p:txBody>
          <a:bodyPr rtlCol="0" anchor="ctr" wrap="square" lIns="45700" tIns="27425" rIns="45700" bIns="27425"/>
          <a:lstStyle/>
          <a:p>
            <a:pPr algn="ctr">
              <a:spcBef>
                <a:spcPts val="0"/>
              </a:spcBef>
              <a:spcAft>
                <a:spcPts val="0"/>
              </a:spcAft>
            </a:pPr>
            <a:r>
              <a:rPr sz="1000" b="1" i="0">
                <a:solidFill>
                  <a:srgbClr val="FFFFFF"/>
                </a:solidFill>
                <a:latin typeface="Arial"/>
              </a:rPr>
              <a:t>Signature check</a:t>
            </a:r>
          </a:p>
          <a:p>
            <a:pPr algn="ctr">
              <a:spcBef>
                <a:spcPts val="100"/>
              </a:spcBef>
              <a:spcAft>
                <a:spcPts val="0"/>
              </a:spcAft>
            </a:pPr>
            <a:r>
              <a:rPr sz="900" b="0" i="0">
                <a:solidFill>
                  <a:srgbClr val="F6D5D8"/>
                </a:solidFill>
                <a:latin typeface="Arial"/>
              </a:rPr>
              <a:t>cosign verify against trusted/cosign.pub</a:t>
            </a:r>
          </a:p>
        </p:txBody>
      </p:sp>
      <p:cxnSp>
        <p:nvCxnSpPr>
          <p:cNvPr id="112" name="Connector 111"/>
          <p:cNvCxnSpPr/>
          <p:nvPr/>
        </p:nvCxnSpPr>
        <p:spPr>
          <a:xfrm>
            <a:off x="6757350" y="1820000"/>
            <a:ext cx="0" cy="140000"/>
          </a:xfrm>
          <a:prstGeom prst="line">
            <a:avLst/>
          </a:prstGeom>
          <a:ln w="19050">
            <a:solidFill>
              <a:srgbClr val="A42530"/>
            </a:solidFill>
            <a:tailEnd type="triangle" w="med" len="med"/>
          </a:ln>
        </p:spPr>
      </p:cxnSp>
      <p:cxnSp>
        <p:nvCxnSpPr>
          <p:cNvPr id="113" name="Connector 112"/>
          <p:cNvCxnSpPr/>
          <p:nvPr/>
        </p:nvCxnSpPr>
        <p:spPr>
          <a:xfrm>
            <a:off x="6757350" y="2380000"/>
            <a:ext cx="0" cy="140000"/>
          </a:xfrm>
          <a:prstGeom prst="line">
            <a:avLst/>
          </a:prstGeom>
          <a:ln w="19050">
            <a:solidFill>
              <a:srgbClr val="A42530"/>
            </a:solidFill>
            <a:tailEnd type="triangle" w="med" len="med"/>
          </a:ln>
        </p:spPr>
      </p:cxnSp>
      <p:sp>
        <p:nvSpPr>
          <p:cNvPr id="114" name="Rounded Rectangle 113"/>
          <p:cNvSpPr/>
          <p:nvPr/>
        </p:nvSpPr>
        <p:spPr>
          <a:xfrm>
            <a:off x="4980600" y="3240000"/>
            <a:ext cx="1700000" cy="480000"/>
          </a:xfrm>
          <a:prstGeom prst="roundRect">
            <a:avLst>
              <a:gd name="adj" fmla="val 14000"/>
            </a:avLst>
          </a:prstGeom>
          <a:solidFill>
            <a:srgbClr val="2B2F36"/>
          </a:solidFill>
          <a:ln>
            <a:noFill/>
          </a:ln>
          <a:effectLst/>
        </p:spPr>
        <p:txBody>
          <a:bodyPr rtlCol="0" anchor="ctr" wrap="square" lIns="45700" tIns="27425" rIns="45700" bIns="27425"/>
          <a:lstStyle/>
          <a:p>
            <a:pPr algn="ctr">
              <a:spcBef>
                <a:spcPts val="0"/>
              </a:spcBef>
              <a:spcAft>
                <a:spcPts val="0"/>
              </a:spcAft>
            </a:pPr>
            <a:r>
              <a:rPr sz="1100" b="1" i="0">
                <a:solidFill>
                  <a:srgbClr val="FFFFFF"/>
                </a:solidFill>
                <a:latin typeface="Arial"/>
              </a:rPr>
              <a:t>ACCEPT</a:t>
            </a:r>
          </a:p>
          <a:p>
            <a:pPr algn="ctr">
              <a:spcBef>
                <a:spcPts val="100"/>
              </a:spcBef>
              <a:spcAft>
                <a:spcPts val="0"/>
              </a:spcAft>
            </a:pPr>
            <a:r>
              <a:rPr sz="900" b="0" i="0">
                <a:solidFill>
                  <a:srgbClr val="D0D3D8"/>
                </a:solidFill>
                <a:latin typeface="Arial"/>
              </a:rPr>
              <a:t>deploy the exact digest</a:t>
            </a:r>
          </a:p>
        </p:txBody>
      </p:sp>
      <p:sp>
        <p:nvSpPr>
          <p:cNvPr id="115" name="Rounded Rectangle 114"/>
          <p:cNvSpPr/>
          <p:nvPr/>
        </p:nvSpPr>
        <p:spPr>
          <a:xfrm>
            <a:off x="6834100" y="3240000"/>
            <a:ext cx="1700000" cy="480000"/>
          </a:xfrm>
          <a:prstGeom prst="roundRect">
            <a:avLst>
              <a:gd name="adj" fmla="val 14000"/>
            </a:avLst>
          </a:prstGeom>
          <a:solidFill>
            <a:srgbClr val="FBECED"/>
          </a:solidFill>
          <a:ln w="9525">
            <a:solidFill>
              <a:srgbClr val="A42530"/>
            </a:solidFill>
          </a:ln>
          <a:effectLst/>
        </p:spPr>
        <p:txBody>
          <a:bodyPr rtlCol="0" anchor="ctr" wrap="square" lIns="45700" tIns="27425" rIns="45700" bIns="27425"/>
          <a:lstStyle/>
          <a:p>
            <a:pPr algn="ctr">
              <a:spcBef>
                <a:spcPts val="0"/>
              </a:spcBef>
              <a:spcAft>
                <a:spcPts val="0"/>
              </a:spcAft>
            </a:pPr>
            <a:r>
              <a:rPr sz="1100" b="1" i="0">
                <a:solidFill>
                  <a:srgbClr val="A42530"/>
                </a:solidFill>
                <a:latin typeface="Arial"/>
              </a:rPr>
              <a:t>REJECT</a:t>
            </a:r>
          </a:p>
          <a:p>
            <a:pPr algn="ctr">
              <a:spcBef>
                <a:spcPts val="100"/>
              </a:spcBef>
              <a:spcAft>
                <a:spcPts val="0"/>
              </a:spcAft>
            </a:pPr>
            <a:r>
              <a:rPr sz="900" b="0" i="0">
                <a:solidFill>
                  <a:srgbClr val="2B2F36"/>
                </a:solidFill>
                <a:latin typeface="Arial"/>
              </a:rPr>
              <a:t>deny + audit record</a:t>
            </a:r>
          </a:p>
        </p:txBody>
      </p:sp>
      <p:cxnSp>
        <p:nvCxnSpPr>
          <p:cNvPr id="116" name="Connector 115"/>
          <p:cNvCxnSpPr/>
          <p:nvPr/>
        </p:nvCxnSpPr>
        <p:spPr>
          <a:xfrm flipH="1">
            <a:off x="5830600" y="2940000"/>
            <a:ext cx="626750" cy="300000"/>
          </a:xfrm>
          <a:prstGeom prst="line">
            <a:avLst/>
          </a:prstGeom>
          <a:ln w="19050">
            <a:solidFill>
              <a:srgbClr val="2B2F36"/>
            </a:solidFill>
            <a:tailEnd type="triangle" w="med" len="med"/>
          </a:ln>
        </p:spPr>
      </p:cxnSp>
      <p:cxnSp>
        <p:nvCxnSpPr>
          <p:cNvPr id="117" name="Connector 116"/>
          <p:cNvCxnSpPr/>
          <p:nvPr/>
        </p:nvCxnSpPr>
        <p:spPr>
          <a:xfrm>
            <a:off x="7057350" y="2940000"/>
            <a:ext cx="626750" cy="300000"/>
          </a:xfrm>
          <a:prstGeom prst="line">
            <a:avLst/>
          </a:prstGeom>
          <a:ln w="19050">
            <a:solidFill>
              <a:srgbClr val="A42530"/>
            </a:solidFill>
            <a:tailEnd type="triangle" w="med" len="med"/>
          </a:ln>
        </p:spPr>
      </p:cxnSp>
      <p:sp>
        <p:nvSpPr>
          <p:cNvPr id="118" name="TextBox 117"/>
          <p:cNvSpPr txBox="1"/>
          <p:nvPr/>
        </p:nvSpPr>
        <p:spPr>
          <a:xfrm>
            <a:off x="1428853" y="3346704"/>
            <a:ext cx="3087488" cy="164700"/>
          </a:xfrm>
          <a:prstGeom prst="rect">
            <a:avLst/>
          </a:prstGeom>
          <a:noFill/>
        </p:spPr>
        <p:txBody>
          <a:bodyPr wrap="square" anchor="t" lIns="0" tIns="0" rIns="0" bIns="0"/>
          <a:lstStyle/>
          <a:p>
            <a:pPr algn="r">
              <a:spcBef>
                <a:spcPts val="0"/>
              </a:spcBef>
              <a:spcAft>
                <a:spcPts val="0"/>
              </a:spcAft>
            </a:pPr>
            <a:r>
              <a:rPr sz="900" b="0" i="0">
                <a:solidFill>
                  <a:srgbClr val="5A5A5A"/>
                </a:solidFill>
                <a:latin typeface="Arial"/>
              </a:rPr>
              <a:t>Under the guidance of </a:t>
            </a:r>
            <a:r>
              <a:rPr sz="900" b="1" i="0">
                <a:solidFill>
                  <a:srgbClr val="111111"/>
                </a:solidFill>
                <a:latin typeface="Arial"/>
              </a:rPr>
              <a:t>Prof. Sheetal Pereira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14"/>
          <p:cNvPicPr preferRelativeResize="0"/>
          <p:nvPr/>
        </p:nvPicPr>
        <p:blipFill rotWithShape="1">
          <a:blip r:embed="rId2">
            <a:alphaModFix/>
          </a:blip>
          <a:srcRect b="0" l="0" r="10" t="0"/>
          <a:stretch/>
        </p:blipFill>
        <p:spPr>
          <a:xfrm>
            <a:off x="145399" y="106185"/>
            <a:ext cx="1737300" cy="531600"/>
          </a:xfrm>
          <a:prstGeom prst="rect">
            <a:avLst/>
          </a:prstGeom>
          <a:noFill/>
          <a:ln>
            <a:noFill/>
          </a:ln>
        </p:spPr>
      </p:pic>
      <p:pic>
        <p:nvPicPr>
          <p:cNvPr id="115" name="Google Shape;115;p14"/>
          <p:cNvPicPr preferRelativeResize="0"/>
          <p:nvPr/>
        </p:nvPicPr>
        <p:blipFill rotWithShape="1">
          <a:blip r:embed="rId3">
            <a:alphaModFix/>
          </a:blip>
          <a:srcRect b="720" l="0" r="10" t="710"/>
          <a:stretch/>
        </p:blipFill>
        <p:spPr>
          <a:xfrm>
            <a:off x="8343443" y="169593"/>
            <a:ext cx="546300" cy="404700"/>
          </a:xfrm>
          <a:prstGeom prst="rect">
            <a:avLst/>
          </a:prstGeom>
          <a:noFill/>
          <a:ln>
            <a:noFill/>
          </a:ln>
        </p:spPr>
      </p:pic>
      <p:grpSp>
        <p:nvGrpSpPr>
          <p:cNvPr id="116" name="Google Shape;116;p14"/>
          <p:cNvGrpSpPr/>
          <p:nvPr/>
        </p:nvGrpSpPr>
        <p:grpSpPr>
          <a:xfrm>
            <a:off x="0" y="4560570"/>
            <a:ext cx="9144010" cy="592800"/>
            <a:chOff x="0" y="4560570"/>
            <a:chExt cx="9144010" cy="592800"/>
          </a:xfrm>
        </p:grpSpPr>
        <p:sp>
          <p:nvSpPr>
            <p:cNvPr id="117" name="Google Shape;117;p14"/>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14"/>
          <p:cNvSpPr txBox="1"/>
          <p:nvPr/>
        </p:nvSpPr>
        <p:spPr>
          <a:xfrm>
            <a:off x="428853" y="676656"/>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THE PROBLEM</a:t>
            </a:r>
            <a:endParaRPr/>
          </a:p>
          <a:p>
            <a:pPr indent="0" lvl="0" marL="0" marR="0" rtl="0" algn="l">
              <a:lnSpc>
                <a:spcPct val="100000"/>
              </a:lnSpc>
              <a:spcBef>
                <a:spcPts val="300"/>
              </a:spcBef>
              <a:spcAft>
                <a:spcPts val="0"/>
              </a:spcAft>
              <a:buClr>
                <a:srgbClr val="000000"/>
              </a:buClr>
              <a:buSzPts val="2400"/>
              <a:buFont typeface="Arial"/>
              <a:buNone/>
            </a:pPr>
            <a:r>
              <a:rPr b="1" i="0" lang="en-US" sz="2400" u="none" cap="none" strike="noStrike">
                <a:solidFill>
                  <a:srgbClr val="111111"/>
                </a:solidFill>
                <a:latin typeface="Arial"/>
                <a:ea typeface="Arial"/>
                <a:cs typeface="Arial"/>
                <a:sym typeface="Arial"/>
              </a:rPr>
              <a:t>A tag is not proof of origin</a:t>
            </a:r>
            <a:endParaRPr/>
          </a:p>
        </p:txBody>
      </p:sp>
      <p:sp>
        <p:nvSpPr>
          <p:cNvPr id="121" name="Google Shape;121;p14"/>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122" name="Google Shape;122;p14"/>
          <p:cNvSpPr txBox="1"/>
          <p:nvPr/>
        </p:nvSpPr>
        <p:spPr>
          <a:xfrm>
            <a:off x="7324287"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2</a:t>
            </a:r>
            <a:endParaRPr/>
          </a:p>
        </p:txBody>
      </p:sp>
      <p:sp>
        <p:nvSpPr>
          <p:cNvPr id="123" name="Rounded Rectangle 122"/>
          <p:cNvSpPr/>
          <p:nvPr/>
        </p:nvSpPr>
        <p:spPr>
          <a:xfrm>
            <a:off x="428853" y="1353312"/>
            <a:ext cx="4300000" cy="780000"/>
          </a:xfrm>
          <a:prstGeom prst="roundRect">
            <a:avLst>
              <a:gd name="adj" fmla="val 8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24" name="Oval 123"/>
          <p:cNvSpPr/>
          <p:nvPr/>
        </p:nvSpPr>
        <p:spPr>
          <a:xfrm>
            <a:off x="548853" y="1603312"/>
            <a:ext cx="280000" cy="28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1000" b="1" i="0">
                <a:solidFill>
                  <a:srgbClr val="FFFFFF"/>
                </a:solidFill>
                <a:latin typeface="Arial"/>
              </a:rPr>
              <a:t>1</a:t>
            </a:r>
          </a:p>
        </p:txBody>
      </p:sp>
      <p:sp>
        <p:nvSpPr>
          <p:cNvPr id="125" name="TextBox 124"/>
          <p:cNvSpPr txBox="1"/>
          <p:nvPr/>
        </p:nvSpPr>
        <p:spPr>
          <a:xfrm>
            <a:off x="948853" y="1483312"/>
            <a:ext cx="3650000" cy="560000"/>
          </a:xfrm>
          <a:prstGeom prst="rect">
            <a:avLst/>
          </a:prstGeom>
          <a:noFill/>
        </p:spPr>
        <p:txBody>
          <a:bodyPr wrap="square" anchor="ctr" lIns="0" tIns="0" rIns="0" bIns="0"/>
          <a:lstStyle/>
          <a:p>
            <a:pPr algn="l">
              <a:spcBef>
                <a:spcPts val="0"/>
              </a:spcBef>
              <a:spcAft>
                <a:spcPts val="0"/>
              </a:spcAft>
            </a:pPr>
            <a:r>
              <a:rPr sz="1100" b="1" i="0">
                <a:solidFill>
                  <a:srgbClr val="111111"/>
                </a:solidFill>
                <a:latin typeface="Arial"/>
              </a:rPr>
              <a:t>Compromised pipeline</a:t>
            </a:r>
          </a:p>
          <a:p>
            <a:pPr algn="l">
              <a:spcBef>
                <a:spcPts val="300"/>
              </a:spcBef>
              <a:spcAft>
                <a:spcPts val="0"/>
              </a:spcAft>
            </a:pPr>
            <a:r>
              <a:rPr sz="1000" b="0" i="0">
                <a:solidFill>
                  <a:srgbClr val="5A5A5A"/>
                </a:solidFill>
                <a:latin typeface="Arial"/>
              </a:rPr>
              <a:t>A tampered build system or CI step ships an altered image under a trusted name</a:t>
            </a:r>
          </a:p>
        </p:txBody>
      </p:sp>
      <p:sp>
        <p:nvSpPr>
          <p:cNvPr id="126" name="Rounded Rectangle 125"/>
          <p:cNvSpPr/>
          <p:nvPr/>
        </p:nvSpPr>
        <p:spPr>
          <a:xfrm>
            <a:off x="428853" y="2233312"/>
            <a:ext cx="4300000" cy="780000"/>
          </a:xfrm>
          <a:prstGeom prst="roundRect">
            <a:avLst>
              <a:gd name="adj" fmla="val 8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27" name="Oval 126"/>
          <p:cNvSpPr/>
          <p:nvPr/>
        </p:nvSpPr>
        <p:spPr>
          <a:xfrm>
            <a:off x="548853" y="2483312"/>
            <a:ext cx="280000" cy="28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1000" b="1" i="0">
                <a:solidFill>
                  <a:srgbClr val="FFFFFF"/>
                </a:solidFill>
                <a:latin typeface="Arial"/>
              </a:rPr>
              <a:t>2</a:t>
            </a:r>
          </a:p>
        </p:txBody>
      </p:sp>
      <p:sp>
        <p:nvSpPr>
          <p:cNvPr id="128" name="TextBox 127"/>
          <p:cNvSpPr txBox="1"/>
          <p:nvPr/>
        </p:nvSpPr>
        <p:spPr>
          <a:xfrm>
            <a:off x="948853" y="2363312"/>
            <a:ext cx="3650000" cy="560000"/>
          </a:xfrm>
          <a:prstGeom prst="rect">
            <a:avLst/>
          </a:prstGeom>
          <a:noFill/>
        </p:spPr>
        <p:txBody>
          <a:bodyPr wrap="square" anchor="ctr" lIns="0" tIns="0" rIns="0" bIns="0"/>
          <a:lstStyle/>
          <a:p>
            <a:pPr algn="l">
              <a:spcBef>
                <a:spcPts val="0"/>
              </a:spcBef>
              <a:spcAft>
                <a:spcPts val="0"/>
              </a:spcAft>
            </a:pPr>
            <a:r>
              <a:rPr sz="1100" b="1" i="0">
                <a:solidFill>
                  <a:srgbClr val="111111"/>
                </a:solidFill>
                <a:latin typeface="Arial"/>
              </a:rPr>
              <a:t>Malicious public image</a:t>
            </a:r>
          </a:p>
          <a:p>
            <a:pPr algn="l">
              <a:spcBef>
                <a:spcPts val="300"/>
              </a:spcBef>
              <a:spcAft>
                <a:spcPts val="0"/>
              </a:spcAft>
            </a:pPr>
            <a:r>
              <a:rPr sz="1000" b="0" i="0">
                <a:solidFill>
                  <a:srgbClr val="5A5A5A"/>
                </a:solidFill>
                <a:latin typeface="Arial"/>
              </a:rPr>
              <a:t>Typosquatted or backdoored images pulled from a public registry</a:t>
            </a:r>
          </a:p>
        </p:txBody>
      </p:sp>
      <p:sp>
        <p:nvSpPr>
          <p:cNvPr id="129" name="Rounded Rectangle 128"/>
          <p:cNvSpPr/>
          <p:nvPr/>
        </p:nvSpPr>
        <p:spPr>
          <a:xfrm>
            <a:off x="428853" y="3113312"/>
            <a:ext cx="4300000" cy="780000"/>
          </a:xfrm>
          <a:prstGeom prst="roundRect">
            <a:avLst>
              <a:gd name="adj" fmla="val 8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0" name="Oval 129"/>
          <p:cNvSpPr/>
          <p:nvPr/>
        </p:nvSpPr>
        <p:spPr>
          <a:xfrm>
            <a:off x="548853" y="3363312"/>
            <a:ext cx="280000" cy="28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1000" b="1" i="0">
                <a:solidFill>
                  <a:srgbClr val="FFFFFF"/>
                </a:solidFill>
                <a:latin typeface="Arial"/>
              </a:rPr>
              <a:t>3</a:t>
            </a:r>
          </a:p>
        </p:txBody>
      </p:sp>
      <p:sp>
        <p:nvSpPr>
          <p:cNvPr id="131" name="TextBox 130"/>
          <p:cNvSpPr txBox="1"/>
          <p:nvPr/>
        </p:nvSpPr>
        <p:spPr>
          <a:xfrm>
            <a:off x="948853" y="3243312"/>
            <a:ext cx="3650000" cy="560000"/>
          </a:xfrm>
          <a:prstGeom prst="rect">
            <a:avLst/>
          </a:prstGeom>
          <a:noFill/>
        </p:spPr>
        <p:txBody>
          <a:bodyPr wrap="square" anchor="ctr" lIns="0" tIns="0" rIns="0" bIns="0"/>
          <a:lstStyle/>
          <a:p>
            <a:pPr algn="l">
              <a:spcBef>
                <a:spcPts val="0"/>
              </a:spcBef>
              <a:spcAft>
                <a:spcPts val="0"/>
              </a:spcAft>
            </a:pPr>
            <a:r>
              <a:rPr sz="1100" b="1" i="0">
                <a:solidFill>
                  <a:srgbClr val="111111"/>
                </a:solidFill>
                <a:latin typeface="Arial"/>
              </a:rPr>
              <a:t>Image swapped after build</a:t>
            </a:r>
          </a:p>
          <a:p>
            <a:pPr algn="l">
              <a:spcBef>
                <a:spcPts val="300"/>
              </a:spcBef>
              <a:spcAft>
                <a:spcPts val="0"/>
              </a:spcAft>
            </a:pPr>
            <a:r>
              <a:rPr sz="1000" b="0" i="0">
                <a:solidFill>
                  <a:srgbClr val="5A5A5A"/>
                </a:solidFill>
                <a:latin typeface="Arial"/>
              </a:rPr>
              <a:t>The registry tag is re-pointed to a different image after approval</a:t>
            </a:r>
          </a:p>
        </p:txBody>
      </p:sp>
      <p:sp>
        <p:nvSpPr>
          <p:cNvPr id="132" name="Rounded Rectangle 131"/>
          <p:cNvSpPr/>
          <p:nvPr/>
        </p:nvSpPr>
        <p:spPr>
          <a:xfrm>
            <a:off x="4928853" y="1353312"/>
            <a:ext cx="3784500" cy="2620000"/>
          </a:xfrm>
          <a:prstGeom prst="roundRect">
            <a:avLst>
              <a:gd name="adj" fmla="val 5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3" name="TextBox 132"/>
          <p:cNvSpPr txBox="1"/>
          <p:nvPr/>
        </p:nvSpPr>
        <p:spPr>
          <a:xfrm>
            <a:off x="5048853" y="1423312"/>
            <a:ext cx="3784500" cy="170000"/>
          </a:xfrm>
          <a:prstGeom prst="rect">
            <a:avLst/>
          </a:prstGeom>
          <a:noFill/>
        </p:spPr>
        <p:txBody>
          <a:bodyPr wrap="square" anchor="t" lIns="0" tIns="0" rIns="0" bIns="0"/>
          <a:lstStyle/>
          <a:p>
            <a:pPr algn="l">
              <a:spcBef>
                <a:spcPts val="0"/>
              </a:spcBef>
              <a:spcAft>
                <a:spcPts val="0"/>
              </a:spcAft>
            </a:pPr>
            <a:r>
              <a:rPr sz="900" b="1" i="0">
                <a:solidFill>
                  <a:srgbClr val="A42530"/>
                </a:solidFill>
                <a:latin typeface="Arial"/>
              </a:rPr>
              <a:t>MUTABLE TAG</a:t>
            </a:r>
          </a:p>
        </p:txBody>
      </p:sp>
      <p:sp>
        <p:nvSpPr>
          <p:cNvPr id="134" name="Rounded Rectangle 133"/>
          <p:cNvSpPr/>
          <p:nvPr/>
        </p:nvSpPr>
        <p:spPr>
          <a:xfrm>
            <a:off x="5078853" y="1683312"/>
            <a:ext cx="1500000" cy="470000"/>
          </a:xfrm>
          <a:prstGeom prst="roundRect">
            <a:avLst>
              <a:gd name="adj" fmla="val 14000"/>
            </a:avLst>
          </a:prstGeom>
          <a:solidFill>
            <a:srgbClr val="FFFFFF"/>
          </a:solidFill>
          <a:ln w="9525">
            <a:solidFill>
              <a:srgbClr val="D9D9D9"/>
            </a:solidFill>
          </a:ln>
          <a:effectLst/>
        </p:spPr>
        <p:txBody>
          <a:bodyPr rtlCol="0" anchor="ctr" wrap="square" lIns="45700" tIns="27425" rIns="45700" bIns="27425"/>
          <a:lstStyle/>
          <a:p>
            <a:pPr algn="ctr">
              <a:spcBef>
                <a:spcPts val="0"/>
              </a:spcBef>
              <a:spcAft>
                <a:spcPts val="0"/>
              </a:spcAft>
            </a:pPr>
            <a:r>
              <a:rPr sz="1000" b="1" i="0">
                <a:solidFill>
                  <a:srgbClr val="111111"/>
                </a:solidFill>
                <a:latin typeface="Arial"/>
              </a:rPr>
              <a:t>sample-app:1.0.0</a:t>
            </a:r>
          </a:p>
          <a:p>
            <a:pPr algn="ctr">
              <a:spcBef>
                <a:spcPts val="100"/>
              </a:spcBef>
              <a:spcAft>
                <a:spcPts val="0"/>
              </a:spcAft>
            </a:pPr>
            <a:r>
              <a:rPr sz="900" b="0" i="0">
                <a:solidFill>
                  <a:srgbClr val="5A5A5A"/>
                </a:solidFill>
                <a:latin typeface="Arial"/>
              </a:rPr>
              <a:t>can be re-pointed</a:t>
            </a:r>
          </a:p>
        </p:txBody>
      </p:sp>
      <p:sp>
        <p:nvSpPr>
          <p:cNvPr id="135" name="Rounded Rectangle 134"/>
          <p:cNvSpPr/>
          <p:nvPr/>
        </p:nvSpPr>
        <p:spPr>
          <a:xfrm>
            <a:off x="7063353" y="1613312"/>
            <a:ext cx="1500000" cy="280000"/>
          </a:xfrm>
          <a:prstGeom prst="roundRect">
            <a:avLst>
              <a:gd name="adj" fmla="val 14000"/>
            </a:avLst>
          </a:prstGeom>
          <a:solidFill>
            <a:srgbClr val="FFFFFF"/>
          </a:solidFill>
          <a:ln w="9525">
            <a:solidFill>
              <a:srgbClr val="D9D9D9"/>
            </a:solidFill>
          </a:ln>
          <a:effectLst/>
        </p:spPr>
        <p:txBody>
          <a:bodyPr rtlCol="0" anchor="ctr" wrap="square" lIns="45700" tIns="27425" rIns="45700" bIns="27425"/>
          <a:lstStyle/>
          <a:p>
            <a:pPr algn="ctr">
              <a:spcBef>
                <a:spcPts val="0"/>
              </a:spcBef>
              <a:spcAft>
                <a:spcPts val="0"/>
              </a:spcAft>
            </a:pPr>
            <a:r>
              <a:rPr sz="900" b="1" i="0">
                <a:solidFill>
                  <a:srgbClr val="111111"/>
                </a:solidFill>
                <a:latin typeface="Arial"/>
              </a:rPr>
              <a:t>approved image</a:t>
            </a:r>
          </a:p>
        </p:txBody>
      </p:sp>
      <p:sp>
        <p:nvSpPr>
          <p:cNvPr id="136" name="Rounded Rectangle 135"/>
          <p:cNvSpPr/>
          <p:nvPr/>
        </p:nvSpPr>
        <p:spPr>
          <a:xfrm>
            <a:off x="7063353" y="1953312"/>
            <a:ext cx="1500000" cy="280000"/>
          </a:xfrm>
          <a:prstGeom prst="roundRect">
            <a:avLst>
              <a:gd name="adj" fmla="val 14000"/>
            </a:avLst>
          </a:prstGeom>
          <a:solidFill>
            <a:srgbClr val="A42530"/>
          </a:solidFill>
          <a:ln>
            <a:noFill/>
          </a:ln>
          <a:effectLst/>
        </p:spPr>
        <p:txBody>
          <a:bodyPr rtlCol="0" anchor="ctr" wrap="square" lIns="45700" tIns="27425" rIns="45700" bIns="27425"/>
          <a:lstStyle/>
          <a:p>
            <a:pPr algn="ctr">
              <a:spcBef>
                <a:spcPts val="0"/>
              </a:spcBef>
              <a:spcAft>
                <a:spcPts val="0"/>
              </a:spcAft>
            </a:pPr>
            <a:r>
              <a:rPr sz="900" b="1" i="0">
                <a:solidFill>
                  <a:srgbClr val="FFFFFF"/>
                </a:solidFill>
                <a:latin typeface="Arial"/>
              </a:rPr>
              <a:t>tampered image</a:t>
            </a:r>
          </a:p>
        </p:txBody>
      </p:sp>
      <p:cxnSp>
        <p:nvCxnSpPr>
          <p:cNvPr id="137" name="Connector 136"/>
          <p:cNvCxnSpPr/>
          <p:nvPr/>
        </p:nvCxnSpPr>
        <p:spPr>
          <a:xfrm flipV="1">
            <a:off x="6578853" y="1753312"/>
            <a:ext cx="484500" cy="100000"/>
          </a:xfrm>
          <a:prstGeom prst="line">
            <a:avLst/>
          </a:prstGeom>
          <a:ln w="19050">
            <a:solidFill>
              <a:srgbClr val="5A5A5A"/>
            </a:solidFill>
            <a:tailEnd type="triangle" w="med" len="med"/>
          </a:ln>
        </p:spPr>
      </p:cxnSp>
      <p:cxnSp>
        <p:nvCxnSpPr>
          <p:cNvPr id="138" name="Connector 137"/>
          <p:cNvCxnSpPr/>
          <p:nvPr/>
        </p:nvCxnSpPr>
        <p:spPr>
          <a:xfrm>
            <a:off x="6578853" y="1993312"/>
            <a:ext cx="484500" cy="100000"/>
          </a:xfrm>
          <a:prstGeom prst="line">
            <a:avLst/>
          </a:prstGeom>
          <a:ln w="19050">
            <a:solidFill>
              <a:srgbClr val="A42530"/>
            </a:solidFill>
            <a:tailEnd type="triangle" w="med" len="med"/>
          </a:ln>
        </p:spPr>
      </p:cxnSp>
      <p:sp>
        <p:nvSpPr>
          <p:cNvPr id="139" name="TextBox 138"/>
          <p:cNvSpPr txBox="1"/>
          <p:nvPr/>
        </p:nvSpPr>
        <p:spPr>
          <a:xfrm>
            <a:off x="5048853" y="2453312"/>
            <a:ext cx="3784500" cy="170000"/>
          </a:xfrm>
          <a:prstGeom prst="rect">
            <a:avLst/>
          </a:prstGeom>
          <a:noFill/>
        </p:spPr>
        <p:txBody>
          <a:bodyPr wrap="square" anchor="t" lIns="0" tIns="0" rIns="0" bIns="0"/>
          <a:lstStyle/>
          <a:p>
            <a:pPr algn="l">
              <a:spcBef>
                <a:spcPts val="0"/>
              </a:spcBef>
              <a:spcAft>
                <a:spcPts val="0"/>
              </a:spcAft>
            </a:pPr>
            <a:r>
              <a:rPr sz="900" b="1" i="0">
                <a:solidFill>
                  <a:srgbClr val="A42530"/>
                </a:solidFill>
                <a:latin typeface="Arial"/>
              </a:rPr>
              <a:t>IMMUTABLE DIGEST + SIGNATURE</a:t>
            </a:r>
          </a:p>
        </p:txBody>
      </p:sp>
      <p:sp>
        <p:nvSpPr>
          <p:cNvPr id="140" name="Rounded Rectangle 139"/>
          <p:cNvSpPr/>
          <p:nvPr/>
        </p:nvSpPr>
        <p:spPr>
          <a:xfrm>
            <a:off x="5078853" y="2713312"/>
            <a:ext cx="1500000" cy="470000"/>
          </a:xfrm>
          <a:prstGeom prst="roundRect">
            <a:avLst>
              <a:gd name="adj" fmla="val 14000"/>
            </a:avLst>
          </a:prstGeom>
          <a:solidFill>
            <a:srgbClr val="2B2F36"/>
          </a:solidFill>
          <a:ln>
            <a:noFill/>
          </a:ln>
          <a:effectLst/>
        </p:spPr>
        <p:txBody>
          <a:bodyPr rtlCol="0" anchor="ctr" wrap="square" lIns="45700" tIns="27425" rIns="45700" bIns="27425"/>
          <a:lstStyle/>
          <a:p>
            <a:pPr algn="ctr">
              <a:spcBef>
                <a:spcPts val="0"/>
              </a:spcBef>
              <a:spcAft>
                <a:spcPts val="0"/>
              </a:spcAft>
            </a:pPr>
            <a:r>
              <a:rPr sz="1000" b="1" i="0">
                <a:solidFill>
                  <a:srgbClr val="FFFFFF"/>
                </a:solidFill>
                <a:latin typeface="Arial"/>
              </a:rPr>
              <a:t>sha256:deffd203…</a:t>
            </a:r>
          </a:p>
          <a:p>
            <a:pPr algn="ctr">
              <a:spcBef>
                <a:spcPts val="100"/>
              </a:spcBef>
              <a:spcAft>
                <a:spcPts val="0"/>
              </a:spcAft>
            </a:pPr>
            <a:r>
              <a:rPr sz="900" b="0" i="0">
                <a:solidFill>
                  <a:srgbClr val="D0D3D8"/>
                </a:solidFill>
                <a:latin typeface="Arial"/>
              </a:rPr>
              <a:t>content address</a:t>
            </a:r>
          </a:p>
        </p:txBody>
      </p:sp>
      <p:sp>
        <p:nvSpPr>
          <p:cNvPr id="141" name="Rounded Rectangle 140"/>
          <p:cNvSpPr/>
          <p:nvPr/>
        </p:nvSpPr>
        <p:spPr>
          <a:xfrm>
            <a:off x="7063353" y="2808312"/>
            <a:ext cx="1500000" cy="280000"/>
          </a:xfrm>
          <a:prstGeom prst="roundRect">
            <a:avLst>
              <a:gd name="adj" fmla="val 14000"/>
            </a:avLst>
          </a:prstGeom>
          <a:solidFill>
            <a:srgbClr val="FFFFFF"/>
          </a:solidFill>
          <a:ln w="9525">
            <a:solidFill>
              <a:srgbClr val="D9D9D9"/>
            </a:solidFill>
          </a:ln>
          <a:effectLst/>
        </p:spPr>
        <p:txBody>
          <a:bodyPr rtlCol="0" anchor="ctr" wrap="square" lIns="45700" tIns="27425" rIns="45700" bIns="27425"/>
          <a:lstStyle/>
          <a:p>
            <a:pPr algn="ctr">
              <a:spcBef>
                <a:spcPts val="0"/>
              </a:spcBef>
              <a:spcAft>
                <a:spcPts val="0"/>
              </a:spcAft>
            </a:pPr>
            <a:r>
              <a:rPr sz="900" b="1" i="0">
                <a:solidFill>
                  <a:srgbClr val="111111"/>
                </a:solidFill>
                <a:latin typeface="Arial"/>
              </a:rPr>
              <a:t>exactly one image</a:t>
            </a:r>
          </a:p>
        </p:txBody>
      </p:sp>
      <p:cxnSp>
        <p:nvCxnSpPr>
          <p:cNvPr id="142" name="Connector 141"/>
          <p:cNvCxnSpPr/>
          <p:nvPr/>
        </p:nvCxnSpPr>
        <p:spPr>
          <a:xfrm>
            <a:off x="6578853" y="2948312"/>
            <a:ext cx="484500" cy="0"/>
          </a:xfrm>
          <a:prstGeom prst="line">
            <a:avLst/>
          </a:prstGeom>
          <a:ln w="19050">
            <a:solidFill>
              <a:srgbClr val="2B2F36"/>
            </a:solidFill>
            <a:tailEnd type="triangle" w="med" len="med"/>
          </a:ln>
        </p:spPr>
      </p:cxnSp>
      <p:sp>
        <p:nvSpPr>
          <p:cNvPr id="143" name="TextBox 142"/>
          <p:cNvSpPr txBox="1"/>
          <p:nvPr/>
        </p:nvSpPr>
        <p:spPr>
          <a:xfrm>
            <a:off x="5078853" y="3343312"/>
            <a:ext cx="3484500" cy="560000"/>
          </a:xfrm>
          <a:prstGeom prst="rect">
            <a:avLst/>
          </a:prstGeom>
          <a:noFill/>
        </p:spPr>
        <p:txBody>
          <a:bodyPr wrap="square" anchor="t" lIns="0" tIns="0" rIns="0" bIns="0"/>
          <a:lstStyle/>
          <a:p>
            <a:pPr algn="l">
              <a:spcBef>
                <a:spcPts val="0"/>
              </a:spcBef>
              <a:spcAft>
                <a:spcPts val="0"/>
              </a:spcAft>
            </a:pPr>
            <a:r>
              <a:rPr sz="1000" b="0" i="1">
                <a:solidFill>
                  <a:srgbClr val="2B2F36"/>
                </a:solidFill>
                <a:latin typeface="Arial"/>
              </a:rPr>
              <a:t>A digest names the bytes; a signature on that digest proves who approved them.</a:t>
            </a:r>
          </a:p>
        </p:txBody>
      </p:sp>
      <p:sp>
        <p:nvSpPr>
          <p:cNvPr id="144" name="Rounded Rectangle 143"/>
          <p:cNvSpPr/>
          <p:nvPr/>
        </p:nvSpPr>
        <p:spPr>
          <a:xfrm>
            <a:off x="428853" y="4093312"/>
            <a:ext cx="8284500" cy="374000"/>
          </a:xfrm>
          <a:prstGeom prst="roundRect">
            <a:avLst>
              <a:gd name="adj" fmla="val 19000"/>
            </a:avLst>
          </a:prstGeom>
          <a:solidFill>
            <a:srgbClr val="FBECED"/>
          </a:solidFill>
          <a:ln w="12700">
            <a:solidFill>
              <a:srgbClr val="A42530"/>
            </a:solidFill>
          </a:ln>
          <a:effectLst/>
        </p:spPr>
        <p:txBody>
          <a:bodyPr rtlCol="0" anchor="ctr" wrap="square" lIns="109725" tIns="18275" rIns="91425" bIns="18275"/>
          <a:lstStyle/>
          <a:p>
            <a:pPr algn="l">
              <a:spcBef>
                <a:spcPts val="0"/>
              </a:spcBef>
              <a:spcAft>
                <a:spcPts val="0"/>
              </a:spcAft>
            </a:pPr>
            <a:r>
              <a:rPr sz="1000" b="1" i="0">
                <a:solidFill>
                  <a:srgbClr val="A42530"/>
                </a:solidFill>
                <a:latin typeface="Arial"/>
              </a:rPr>
              <a:t>The gap: </a:t>
            </a:r>
            <a:r>
              <a:rPr sz="1000" b="0" i="0">
                <a:solidFill>
                  <a:srgbClr val="2B2F36"/>
                </a:solidFill>
                <a:latin typeface="Arial"/>
              </a:rPr>
              <a:t>deploying by mutable tag gives no cryptographic proof of origin, so a swapped image deploys silently.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14"/>
          <p:cNvPicPr preferRelativeResize="0"/>
          <p:nvPr/>
        </p:nvPicPr>
        <p:blipFill rotWithShape="1">
          <a:blip r:embed="rId2">
            <a:alphaModFix/>
          </a:blip>
          <a:srcRect b="0" l="0" r="10" t="0"/>
          <a:stretch/>
        </p:blipFill>
        <p:spPr>
          <a:xfrm>
            <a:off x="145399" y="106185"/>
            <a:ext cx="1737300" cy="531600"/>
          </a:xfrm>
          <a:prstGeom prst="rect">
            <a:avLst/>
          </a:prstGeom>
          <a:noFill/>
          <a:ln>
            <a:noFill/>
          </a:ln>
        </p:spPr>
      </p:pic>
      <p:pic>
        <p:nvPicPr>
          <p:cNvPr id="115" name="Google Shape;115;p14"/>
          <p:cNvPicPr preferRelativeResize="0"/>
          <p:nvPr/>
        </p:nvPicPr>
        <p:blipFill rotWithShape="1">
          <a:blip r:embed="rId3">
            <a:alphaModFix/>
          </a:blip>
          <a:srcRect b="720" l="0" r="10" t="710"/>
          <a:stretch/>
        </p:blipFill>
        <p:spPr>
          <a:xfrm>
            <a:off x="8343443" y="169593"/>
            <a:ext cx="546300" cy="404700"/>
          </a:xfrm>
          <a:prstGeom prst="rect">
            <a:avLst/>
          </a:prstGeom>
          <a:noFill/>
          <a:ln>
            <a:noFill/>
          </a:ln>
        </p:spPr>
      </p:pic>
      <p:grpSp>
        <p:nvGrpSpPr>
          <p:cNvPr id="116" name="Google Shape;116;p14"/>
          <p:cNvGrpSpPr/>
          <p:nvPr/>
        </p:nvGrpSpPr>
        <p:grpSpPr>
          <a:xfrm>
            <a:off x="0" y="4560570"/>
            <a:ext cx="9144010" cy="592800"/>
            <a:chOff x="0" y="4560570"/>
            <a:chExt cx="9144010" cy="592800"/>
          </a:xfrm>
        </p:grpSpPr>
        <p:sp>
          <p:nvSpPr>
            <p:cNvPr id="117" name="Google Shape;117;p14"/>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14"/>
          <p:cNvSpPr txBox="1"/>
          <p:nvPr/>
        </p:nvSpPr>
        <p:spPr>
          <a:xfrm>
            <a:off x="428853" y="676656"/>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PROPOSED SOLUTION</a:t>
            </a:r>
            <a:endParaRPr/>
          </a:p>
          <a:p>
            <a:pPr indent="0" lvl="0" marL="0" marR="0" rtl="0" algn="l">
              <a:lnSpc>
                <a:spcPct val="100000"/>
              </a:lnSpc>
              <a:spcBef>
                <a:spcPts val="300"/>
              </a:spcBef>
              <a:spcAft>
                <a:spcPts val="0"/>
              </a:spcAft>
              <a:buClr>
                <a:srgbClr val="000000"/>
              </a:buClr>
              <a:buSzPts val="2400"/>
              <a:buFont typeface="Arial"/>
              <a:buNone/>
            </a:pPr>
            <a:r>
              <a:rPr b="1" i="0" lang="en-US" sz="2400" u="none" cap="none" strike="noStrike">
                <a:solidFill>
                  <a:srgbClr val="111111"/>
                </a:solidFill>
                <a:latin typeface="Arial"/>
                <a:ea typeface="Arial"/>
                <a:cs typeface="Arial"/>
                <a:sym typeface="Arial"/>
              </a:rPr>
              <a:t>A verification gate before deployment</a:t>
            </a:r>
            <a:endParaRPr/>
          </a:p>
        </p:txBody>
      </p:sp>
      <p:sp>
        <p:nvSpPr>
          <p:cNvPr id="121" name="Google Shape;121;p14"/>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122" name="Google Shape;122;p14"/>
          <p:cNvSpPr txBox="1"/>
          <p:nvPr/>
        </p:nvSpPr>
        <p:spPr>
          <a:xfrm>
            <a:off x="7324287"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3</a:t>
            </a:r>
            <a:endParaRPr/>
          </a:p>
        </p:txBody>
      </p:sp>
      <p:sp>
        <p:nvSpPr>
          <p:cNvPr id="123" name="Rounded Rectangle 122"/>
          <p:cNvSpPr/>
          <p:nvPr/>
        </p:nvSpPr>
        <p:spPr>
          <a:xfrm>
            <a:off x="428853" y="1733312"/>
            <a:ext cx="1450000" cy="560000"/>
          </a:xfrm>
          <a:prstGeom prst="roundRect">
            <a:avLst>
              <a:gd name="adj" fmla="val 14000"/>
            </a:avLst>
          </a:prstGeom>
          <a:solidFill>
            <a:srgbClr val="F5F5F5"/>
          </a:solidFill>
          <a:ln w="9525">
            <a:solidFill>
              <a:srgbClr val="D9D9D9"/>
            </a:solidFill>
          </a:ln>
          <a:effectLst/>
        </p:spPr>
        <p:txBody>
          <a:bodyPr rtlCol="0" anchor="ctr" wrap="square" lIns="45700" tIns="27425" rIns="45700" bIns="27425"/>
          <a:lstStyle/>
          <a:p>
            <a:pPr algn="ctr">
              <a:spcBef>
                <a:spcPts val="0"/>
              </a:spcBef>
              <a:spcAft>
                <a:spcPts val="0"/>
              </a:spcAft>
            </a:pPr>
            <a:r>
              <a:rPr sz="1000" b="1" i="0">
                <a:solidFill>
                  <a:srgbClr val="111111"/>
                </a:solidFill>
                <a:latin typeface="Arial"/>
              </a:rPr>
              <a:t>Registry</a:t>
            </a:r>
          </a:p>
          <a:p>
            <a:pPr algn="ctr">
              <a:spcBef>
                <a:spcPts val="100"/>
              </a:spcBef>
              <a:spcAft>
                <a:spcPts val="0"/>
              </a:spcAft>
            </a:pPr>
            <a:r>
              <a:rPr sz="900" b="0" i="0">
                <a:solidFill>
                  <a:srgbClr val="5A5A5A"/>
                </a:solidFill>
                <a:latin typeface="Arial"/>
              </a:rPr>
              <a:t>localhost:5001</a:t>
            </a:r>
          </a:p>
        </p:txBody>
      </p:sp>
      <p:sp>
        <p:nvSpPr>
          <p:cNvPr id="124" name="Rounded Rectangle 123"/>
          <p:cNvSpPr/>
          <p:nvPr/>
        </p:nvSpPr>
        <p:spPr>
          <a:xfrm>
            <a:off x="2178853" y="1353312"/>
            <a:ext cx="5080000" cy="1700000"/>
          </a:xfrm>
          <a:prstGeom prst="roundRect">
            <a:avLst>
              <a:gd name="adj" fmla="val 5000"/>
            </a:avLst>
          </a:prstGeom>
          <a:solidFill>
            <a:srgbClr val="FBECED"/>
          </a:solidFill>
          <a:ln w="12700">
            <a:solidFill>
              <a:srgbClr val="A42530"/>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25" name="TextBox 124"/>
          <p:cNvSpPr txBox="1"/>
          <p:nvPr/>
        </p:nvSpPr>
        <p:spPr>
          <a:xfrm>
            <a:off x="2298853" y="1413312"/>
            <a:ext cx="3000000" cy="170000"/>
          </a:xfrm>
          <a:prstGeom prst="rect">
            <a:avLst/>
          </a:prstGeom>
          <a:noFill/>
        </p:spPr>
        <p:txBody>
          <a:bodyPr wrap="square" anchor="t" lIns="0" tIns="0" rIns="0" bIns="0"/>
          <a:lstStyle/>
          <a:p>
            <a:pPr algn="l">
              <a:spcBef>
                <a:spcPts val="0"/>
              </a:spcBef>
              <a:spcAft>
                <a:spcPts val="0"/>
              </a:spcAft>
            </a:pPr>
            <a:r>
              <a:rPr sz="900" b="1" i="0">
                <a:solidFill>
                  <a:srgbClr val="A42530"/>
                </a:solidFill>
                <a:latin typeface="Arial"/>
              </a:rPr>
              <a:t>TRUSTDEPLOY GATE</a:t>
            </a:r>
          </a:p>
        </p:txBody>
      </p:sp>
      <p:sp>
        <p:nvSpPr>
          <p:cNvPr id="126" name="Rounded Rectangle 125"/>
          <p:cNvSpPr/>
          <p:nvPr/>
        </p:nvSpPr>
        <p:spPr>
          <a:xfrm>
            <a:off x="2298853" y="1733312"/>
            <a:ext cx="1466666" cy="560000"/>
          </a:xfrm>
          <a:prstGeom prst="roundRect">
            <a:avLst>
              <a:gd name="adj" fmla="val 14000"/>
            </a:avLst>
          </a:prstGeom>
          <a:solidFill>
            <a:srgbClr val="A42530"/>
          </a:solidFill>
          <a:ln>
            <a:noFill/>
          </a:ln>
          <a:effectLst/>
        </p:spPr>
        <p:txBody>
          <a:bodyPr rtlCol="0" anchor="ctr" wrap="square" lIns="45700" tIns="27425" rIns="45700" bIns="27425"/>
          <a:lstStyle/>
          <a:p>
            <a:pPr algn="ctr">
              <a:spcBef>
                <a:spcPts val="0"/>
              </a:spcBef>
              <a:spcAft>
                <a:spcPts val="0"/>
              </a:spcAft>
            </a:pPr>
            <a:r>
              <a:rPr sz="1000" b="1" i="0">
                <a:solidFill>
                  <a:srgbClr val="FFFFFF"/>
                </a:solidFill>
                <a:latin typeface="Arial"/>
              </a:rPr>
              <a:t>Resolve</a:t>
            </a:r>
          </a:p>
          <a:p>
            <a:pPr algn="ctr">
              <a:spcBef>
                <a:spcPts val="100"/>
              </a:spcBef>
              <a:spcAft>
                <a:spcPts val="0"/>
              </a:spcAft>
            </a:pPr>
            <a:r>
              <a:rPr sz="900" b="0" i="0">
                <a:solidFill>
                  <a:srgbClr val="F6D5D8"/>
                </a:solidFill>
                <a:latin typeface="Arial"/>
              </a:rPr>
              <a:t>tag → sha256 digest</a:t>
            </a:r>
          </a:p>
        </p:txBody>
      </p:sp>
      <p:sp>
        <p:nvSpPr>
          <p:cNvPr id="127" name="Rounded Rectangle 126"/>
          <p:cNvSpPr/>
          <p:nvPr/>
        </p:nvSpPr>
        <p:spPr>
          <a:xfrm>
            <a:off x="3985519" y="1733312"/>
            <a:ext cx="1466666" cy="560000"/>
          </a:xfrm>
          <a:prstGeom prst="roundRect">
            <a:avLst>
              <a:gd name="adj" fmla="val 14000"/>
            </a:avLst>
          </a:prstGeom>
          <a:solidFill>
            <a:srgbClr val="A42530"/>
          </a:solidFill>
          <a:ln>
            <a:noFill/>
          </a:ln>
          <a:effectLst/>
        </p:spPr>
        <p:txBody>
          <a:bodyPr rtlCol="0" anchor="ctr" wrap="square" lIns="45700" tIns="27425" rIns="45700" bIns="27425"/>
          <a:lstStyle/>
          <a:p>
            <a:pPr algn="ctr">
              <a:spcBef>
                <a:spcPts val="0"/>
              </a:spcBef>
              <a:spcAft>
                <a:spcPts val="0"/>
              </a:spcAft>
            </a:pPr>
            <a:r>
              <a:rPr sz="1000" b="1" i="0">
                <a:solidFill>
                  <a:srgbClr val="FFFFFF"/>
                </a:solidFill>
                <a:latin typeface="Arial"/>
              </a:rPr>
              <a:t>Verify</a:t>
            </a:r>
          </a:p>
          <a:p>
            <a:pPr algn="ctr">
              <a:spcBef>
                <a:spcPts val="100"/>
              </a:spcBef>
              <a:spcAft>
                <a:spcPts val="0"/>
              </a:spcAft>
            </a:pPr>
            <a:r>
              <a:rPr sz="900" b="0" i="0">
                <a:solidFill>
                  <a:srgbClr val="F6D5D8"/>
                </a:solidFill>
                <a:latin typeface="Arial"/>
              </a:rPr>
              <a:t>cosign + trusted key</a:t>
            </a:r>
          </a:p>
        </p:txBody>
      </p:sp>
      <p:cxnSp>
        <p:nvCxnSpPr>
          <p:cNvPr id="128" name="Connector 127"/>
          <p:cNvCxnSpPr/>
          <p:nvPr/>
        </p:nvCxnSpPr>
        <p:spPr>
          <a:xfrm>
            <a:off x="3765519" y="2013312"/>
            <a:ext cx="220000" cy="0"/>
          </a:xfrm>
          <a:prstGeom prst="line">
            <a:avLst/>
          </a:prstGeom>
          <a:ln w="19050">
            <a:solidFill>
              <a:srgbClr val="A42530"/>
            </a:solidFill>
            <a:tailEnd type="triangle" w="med" len="med"/>
          </a:ln>
        </p:spPr>
      </p:cxnSp>
      <p:sp>
        <p:nvSpPr>
          <p:cNvPr id="129" name="Rounded Rectangle 128"/>
          <p:cNvSpPr/>
          <p:nvPr/>
        </p:nvSpPr>
        <p:spPr>
          <a:xfrm>
            <a:off x="5672185" y="1733312"/>
            <a:ext cx="1466666" cy="560000"/>
          </a:xfrm>
          <a:prstGeom prst="roundRect">
            <a:avLst>
              <a:gd name="adj" fmla="val 14000"/>
            </a:avLst>
          </a:prstGeom>
          <a:solidFill>
            <a:srgbClr val="A42530"/>
          </a:solidFill>
          <a:ln>
            <a:noFill/>
          </a:ln>
          <a:effectLst/>
        </p:spPr>
        <p:txBody>
          <a:bodyPr rtlCol="0" anchor="ctr" wrap="square" lIns="45700" tIns="27425" rIns="45700" bIns="27425"/>
          <a:lstStyle/>
          <a:p>
            <a:pPr algn="ctr">
              <a:spcBef>
                <a:spcPts val="0"/>
              </a:spcBef>
              <a:spcAft>
                <a:spcPts val="0"/>
              </a:spcAft>
            </a:pPr>
            <a:r>
              <a:rPr sz="1000" b="1" i="0">
                <a:solidFill>
                  <a:srgbClr val="FFFFFF"/>
                </a:solidFill>
                <a:latin typeface="Arial"/>
              </a:rPr>
              <a:t>Decide</a:t>
            </a:r>
          </a:p>
          <a:p>
            <a:pPr algn="ctr">
              <a:spcBef>
                <a:spcPts val="100"/>
              </a:spcBef>
              <a:spcAft>
                <a:spcPts val="0"/>
              </a:spcAft>
            </a:pPr>
            <a:r>
              <a:rPr sz="900" b="0" i="0">
                <a:solidFill>
                  <a:srgbClr val="F6D5D8"/>
                </a:solidFill>
                <a:latin typeface="Arial"/>
              </a:rPr>
              <a:t>policy: verified?</a:t>
            </a:r>
          </a:p>
        </p:txBody>
      </p:sp>
      <p:cxnSp>
        <p:nvCxnSpPr>
          <p:cNvPr id="130" name="Connector 129"/>
          <p:cNvCxnSpPr/>
          <p:nvPr/>
        </p:nvCxnSpPr>
        <p:spPr>
          <a:xfrm>
            <a:off x="5452185" y="2013312"/>
            <a:ext cx="220000" cy="0"/>
          </a:xfrm>
          <a:prstGeom prst="line">
            <a:avLst/>
          </a:prstGeom>
          <a:ln w="19050">
            <a:solidFill>
              <a:srgbClr val="A42530"/>
            </a:solidFill>
            <a:tailEnd type="triangle" w="med" len="med"/>
          </a:ln>
        </p:spPr>
      </p:cxnSp>
      <p:cxnSp>
        <p:nvCxnSpPr>
          <p:cNvPr id="131" name="Connector 130"/>
          <p:cNvCxnSpPr/>
          <p:nvPr/>
        </p:nvCxnSpPr>
        <p:spPr>
          <a:xfrm>
            <a:off x="1878853" y="2013312"/>
            <a:ext cx="420000" cy="0"/>
          </a:xfrm>
          <a:prstGeom prst="line">
            <a:avLst/>
          </a:prstGeom>
          <a:ln w="19050">
            <a:solidFill>
              <a:srgbClr val="A42530"/>
            </a:solidFill>
            <a:tailEnd type="triangle" w="med" len="med"/>
          </a:ln>
        </p:spPr>
      </p:cxnSp>
      <p:sp>
        <p:nvSpPr>
          <p:cNvPr id="132" name="Rounded Rectangle 131"/>
          <p:cNvSpPr/>
          <p:nvPr/>
        </p:nvSpPr>
        <p:spPr>
          <a:xfrm>
            <a:off x="7558853" y="1733312"/>
            <a:ext cx="1154500" cy="560000"/>
          </a:xfrm>
          <a:prstGeom prst="roundRect">
            <a:avLst>
              <a:gd name="adj" fmla="val 14000"/>
            </a:avLst>
          </a:prstGeom>
          <a:solidFill>
            <a:srgbClr val="2B2F36"/>
          </a:solidFill>
          <a:ln>
            <a:noFill/>
          </a:ln>
          <a:effectLst/>
        </p:spPr>
        <p:txBody>
          <a:bodyPr rtlCol="0" anchor="ctr" wrap="square" lIns="45700" tIns="27425" rIns="45700" bIns="27425"/>
          <a:lstStyle/>
          <a:p>
            <a:pPr algn="ctr">
              <a:spcBef>
                <a:spcPts val="0"/>
              </a:spcBef>
              <a:spcAft>
                <a:spcPts val="0"/>
              </a:spcAft>
            </a:pPr>
            <a:r>
              <a:rPr sz="1100" b="1" i="0">
                <a:solidFill>
                  <a:srgbClr val="FFFFFF"/>
                </a:solidFill>
                <a:latin typeface="Arial"/>
              </a:rPr>
              <a:t>ACCEPT</a:t>
            </a:r>
          </a:p>
          <a:p>
            <a:pPr algn="ctr">
              <a:spcBef>
                <a:spcPts val="100"/>
              </a:spcBef>
              <a:spcAft>
                <a:spcPts val="0"/>
              </a:spcAft>
            </a:pPr>
            <a:r>
              <a:rPr sz="900" b="0" i="0">
                <a:solidFill>
                  <a:srgbClr val="D0D3D8"/>
                </a:solidFill>
                <a:latin typeface="Arial"/>
              </a:rPr>
              <a:t>deploy image@digest</a:t>
            </a:r>
          </a:p>
        </p:txBody>
      </p:sp>
      <p:cxnSp>
        <p:nvCxnSpPr>
          <p:cNvPr id="133" name="Connector 132"/>
          <p:cNvCxnSpPr/>
          <p:nvPr/>
        </p:nvCxnSpPr>
        <p:spPr>
          <a:xfrm>
            <a:off x="7138851" y="2013312"/>
            <a:ext cx="420002" cy="0"/>
          </a:xfrm>
          <a:prstGeom prst="line">
            <a:avLst/>
          </a:prstGeom>
          <a:ln w="19050">
            <a:solidFill>
              <a:srgbClr val="2B2F36"/>
            </a:solidFill>
            <a:tailEnd type="triangle" w="med" len="med"/>
          </a:ln>
        </p:spPr>
      </p:cxnSp>
      <p:sp>
        <p:nvSpPr>
          <p:cNvPr id="134" name="Rounded Rectangle 133"/>
          <p:cNvSpPr/>
          <p:nvPr/>
        </p:nvSpPr>
        <p:spPr>
          <a:xfrm>
            <a:off x="5672185" y="2533312"/>
            <a:ext cx="1466666" cy="400000"/>
          </a:xfrm>
          <a:prstGeom prst="roundRect">
            <a:avLst>
              <a:gd name="adj" fmla="val 14000"/>
            </a:avLst>
          </a:prstGeom>
          <a:solidFill>
            <a:srgbClr val="FFFFFF"/>
          </a:solidFill>
          <a:ln w="9525">
            <a:solidFill>
              <a:srgbClr val="D9D9D9"/>
            </a:solidFill>
          </a:ln>
          <a:effectLst/>
        </p:spPr>
        <p:txBody>
          <a:bodyPr rtlCol="0" anchor="ctr" wrap="square" lIns="45700" tIns="27425" rIns="45700" bIns="27425"/>
          <a:lstStyle/>
          <a:p>
            <a:pPr algn="ctr">
              <a:spcBef>
                <a:spcPts val="0"/>
              </a:spcBef>
              <a:spcAft>
                <a:spcPts val="0"/>
              </a:spcAft>
            </a:pPr>
            <a:r>
              <a:rPr sz="1000" b="1" i="0">
                <a:solidFill>
                  <a:srgbClr val="111111"/>
                </a:solidFill>
                <a:latin typeface="Arial"/>
              </a:rPr>
              <a:t>REJECT</a:t>
            </a:r>
          </a:p>
          <a:p>
            <a:pPr algn="ctr">
              <a:spcBef>
                <a:spcPts val="100"/>
              </a:spcBef>
              <a:spcAft>
                <a:spcPts val="0"/>
              </a:spcAft>
            </a:pPr>
            <a:r>
              <a:rPr sz="900" b="0" i="0">
                <a:solidFill>
                  <a:srgbClr val="5A5A5A"/>
                </a:solidFill>
                <a:latin typeface="Arial"/>
              </a:rPr>
              <a:t>deny + audit</a:t>
            </a:r>
          </a:p>
        </p:txBody>
      </p:sp>
      <p:cxnSp>
        <p:nvCxnSpPr>
          <p:cNvPr id="135" name="Connector 134"/>
          <p:cNvCxnSpPr/>
          <p:nvPr/>
        </p:nvCxnSpPr>
        <p:spPr>
          <a:xfrm>
            <a:off x="6405518" y="2293312"/>
            <a:ext cx="0" cy="240000"/>
          </a:xfrm>
          <a:prstGeom prst="line">
            <a:avLst/>
          </a:prstGeom>
          <a:ln w="19050">
            <a:solidFill>
              <a:srgbClr val="A42530"/>
            </a:solidFill>
            <a:tailEnd type="triangle" w="med" len="med"/>
          </a:ln>
        </p:spPr>
      </p:cxnSp>
      <p:sp>
        <p:nvSpPr>
          <p:cNvPr id="136" name="TextBox 135"/>
          <p:cNvSpPr txBox="1"/>
          <p:nvPr/>
        </p:nvSpPr>
        <p:spPr>
          <a:xfrm>
            <a:off x="2298853" y="2553312"/>
            <a:ext cx="3153332" cy="380000"/>
          </a:xfrm>
          <a:prstGeom prst="rect">
            <a:avLst/>
          </a:prstGeom>
          <a:noFill/>
        </p:spPr>
        <p:txBody>
          <a:bodyPr wrap="square" anchor="ctr" lIns="0" tIns="0" rIns="0" bIns="0"/>
          <a:lstStyle/>
          <a:p>
            <a:pPr algn="l">
              <a:spcBef>
                <a:spcPts val="0"/>
              </a:spcBef>
              <a:spcAft>
                <a:spcPts val="0"/>
              </a:spcAft>
            </a:pPr>
            <a:r>
              <a:rPr sz="900" b="0" i="0">
                <a:solidFill>
                  <a:srgbClr val="2B2F36"/>
                </a:solidFill>
                <a:latin typeface="Arial"/>
              </a:rPr>
              <a:t>Any error on the way </a:t>
            </a:r>
            <a:r>
              <a:rPr sz="900" b="1" i="0">
                <a:solidFill>
                  <a:srgbClr val="A42530"/>
                </a:solidFill>
                <a:latin typeface="Arial"/>
              </a:rPr>
              <a:t>→ REJECT</a:t>
            </a:r>
          </a:p>
        </p:txBody>
      </p:sp>
      <p:sp>
        <p:nvSpPr>
          <p:cNvPr id="137" name="Rounded Rectangle 136"/>
          <p:cNvSpPr/>
          <p:nvPr/>
        </p:nvSpPr>
        <p:spPr>
          <a:xfrm>
            <a:off x="428853" y="3253312"/>
            <a:ext cx="1958625" cy="1150000"/>
          </a:xfrm>
          <a:prstGeom prst="roundRect">
            <a:avLst>
              <a:gd name="adj" fmla="val 6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8" name="Oval 137"/>
          <p:cNvSpPr/>
          <p:nvPr/>
        </p:nvSpPr>
        <p:spPr>
          <a:xfrm>
            <a:off x="548853" y="3383312"/>
            <a:ext cx="300000" cy="30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1000" b="1" i="0">
                <a:solidFill>
                  <a:srgbClr val="FFFFFF"/>
                </a:solidFill>
                <a:latin typeface="Arial"/>
              </a:rPr>
              <a:t>1</a:t>
            </a:r>
          </a:p>
        </p:txBody>
      </p:sp>
      <p:sp>
        <p:nvSpPr>
          <p:cNvPr id="139" name="TextBox 138"/>
          <p:cNvSpPr txBox="1"/>
          <p:nvPr/>
        </p:nvSpPr>
        <p:spPr>
          <a:xfrm>
            <a:off x="548853" y="3753312"/>
            <a:ext cx="1718625" cy="600000"/>
          </a:xfrm>
          <a:prstGeom prst="rect">
            <a:avLst/>
          </a:prstGeom>
          <a:noFill/>
        </p:spPr>
        <p:txBody>
          <a:bodyPr wrap="square" anchor="t" lIns="0" tIns="0" rIns="0" bIns="0"/>
          <a:lstStyle/>
          <a:p>
            <a:pPr algn="l">
              <a:spcBef>
                <a:spcPts val="0"/>
              </a:spcBef>
              <a:spcAft>
                <a:spcPts val="0"/>
              </a:spcAft>
            </a:pPr>
            <a:r>
              <a:rPr sz="1100" b="1" i="0">
                <a:solidFill>
                  <a:srgbClr val="111111"/>
                </a:solidFill>
                <a:latin typeface="Arial"/>
              </a:rPr>
              <a:t>Fail closed</a:t>
            </a:r>
          </a:p>
          <a:p>
            <a:pPr algn="l">
              <a:spcBef>
                <a:spcPts val="300"/>
              </a:spcBef>
              <a:spcAft>
                <a:spcPts val="0"/>
              </a:spcAft>
            </a:pPr>
            <a:r>
              <a:rPr sz="900" b="0" i="0">
                <a:solidFill>
                  <a:srgbClr val="5A5A5A"/>
                </a:solidFill>
                <a:latin typeface="Arial"/>
              </a:rPr>
              <a:t>Tool error, unreachable registry or missing signature means REJECT</a:t>
            </a:r>
          </a:p>
        </p:txBody>
      </p:sp>
      <p:sp>
        <p:nvSpPr>
          <p:cNvPr id="140" name="Rounded Rectangle 139"/>
          <p:cNvSpPr/>
          <p:nvPr/>
        </p:nvSpPr>
        <p:spPr>
          <a:xfrm>
            <a:off x="2537478" y="3253312"/>
            <a:ext cx="1958625" cy="1150000"/>
          </a:xfrm>
          <a:prstGeom prst="roundRect">
            <a:avLst>
              <a:gd name="adj" fmla="val 6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41" name="Oval 140"/>
          <p:cNvSpPr/>
          <p:nvPr/>
        </p:nvSpPr>
        <p:spPr>
          <a:xfrm>
            <a:off x="2657478" y="3383312"/>
            <a:ext cx="300000" cy="30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1000" b="1" i="0">
                <a:solidFill>
                  <a:srgbClr val="FFFFFF"/>
                </a:solidFill>
                <a:latin typeface="Arial"/>
              </a:rPr>
              <a:t>2</a:t>
            </a:r>
          </a:p>
        </p:txBody>
      </p:sp>
      <p:sp>
        <p:nvSpPr>
          <p:cNvPr id="142" name="TextBox 141"/>
          <p:cNvSpPr txBox="1"/>
          <p:nvPr/>
        </p:nvSpPr>
        <p:spPr>
          <a:xfrm>
            <a:off x="2657478" y="3753312"/>
            <a:ext cx="1718625" cy="600000"/>
          </a:xfrm>
          <a:prstGeom prst="rect">
            <a:avLst/>
          </a:prstGeom>
          <a:noFill/>
        </p:spPr>
        <p:txBody>
          <a:bodyPr wrap="square" anchor="t" lIns="0" tIns="0" rIns="0" bIns="0"/>
          <a:lstStyle/>
          <a:p>
            <a:pPr algn="l">
              <a:spcBef>
                <a:spcPts val="0"/>
              </a:spcBef>
              <a:spcAft>
                <a:spcPts val="0"/>
              </a:spcAft>
            </a:pPr>
            <a:r>
              <a:rPr sz="1100" b="1" i="0">
                <a:solidFill>
                  <a:srgbClr val="111111"/>
                </a:solidFill>
                <a:latin typeface="Arial"/>
              </a:rPr>
              <a:t>Digest-pinned</a:t>
            </a:r>
          </a:p>
          <a:p>
            <a:pPr algn="l">
              <a:spcBef>
                <a:spcPts val="300"/>
              </a:spcBef>
              <a:spcAft>
                <a:spcPts val="0"/>
              </a:spcAft>
            </a:pPr>
            <a:r>
              <a:rPr sz="900" b="0" i="0">
                <a:solidFill>
                  <a:srgbClr val="5A5A5A"/>
                </a:solidFill>
                <a:latin typeface="Arial"/>
              </a:rPr>
              <a:t>Deploys the verified sha256 digest, never the mutable tag</a:t>
            </a:r>
          </a:p>
        </p:txBody>
      </p:sp>
      <p:sp>
        <p:nvSpPr>
          <p:cNvPr id="143" name="Rounded Rectangle 142"/>
          <p:cNvSpPr/>
          <p:nvPr/>
        </p:nvSpPr>
        <p:spPr>
          <a:xfrm>
            <a:off x="4646103" y="3253312"/>
            <a:ext cx="1958625" cy="1150000"/>
          </a:xfrm>
          <a:prstGeom prst="roundRect">
            <a:avLst>
              <a:gd name="adj" fmla="val 6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44" name="Oval 143"/>
          <p:cNvSpPr/>
          <p:nvPr/>
        </p:nvSpPr>
        <p:spPr>
          <a:xfrm>
            <a:off x="4766103" y="3383312"/>
            <a:ext cx="300000" cy="30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1000" b="1" i="0">
                <a:solidFill>
                  <a:srgbClr val="FFFFFF"/>
                </a:solidFill>
                <a:latin typeface="Arial"/>
              </a:rPr>
              <a:t>3</a:t>
            </a:r>
          </a:p>
        </p:txBody>
      </p:sp>
      <p:sp>
        <p:nvSpPr>
          <p:cNvPr id="145" name="TextBox 144"/>
          <p:cNvSpPr txBox="1"/>
          <p:nvPr/>
        </p:nvSpPr>
        <p:spPr>
          <a:xfrm>
            <a:off x="4766103" y="3753312"/>
            <a:ext cx="1718625" cy="600000"/>
          </a:xfrm>
          <a:prstGeom prst="rect">
            <a:avLst/>
          </a:prstGeom>
          <a:noFill/>
        </p:spPr>
        <p:txBody>
          <a:bodyPr wrap="square" anchor="t" lIns="0" tIns="0" rIns="0" bIns="0"/>
          <a:lstStyle/>
          <a:p>
            <a:pPr algn="l">
              <a:spcBef>
                <a:spcPts val="0"/>
              </a:spcBef>
              <a:spcAft>
                <a:spcPts val="0"/>
              </a:spcAft>
            </a:pPr>
            <a:r>
              <a:rPr sz="1100" b="1" i="0">
                <a:solidFill>
                  <a:srgbClr val="111111"/>
                </a:solidFill>
                <a:latin typeface="Arial"/>
              </a:rPr>
              <a:t>Trusted key only</a:t>
            </a:r>
          </a:p>
          <a:p>
            <a:pPr algn="l">
              <a:spcBef>
                <a:spcPts val="300"/>
              </a:spcBef>
              <a:spcAft>
                <a:spcPts val="0"/>
              </a:spcAft>
            </a:pPr>
            <a:r>
              <a:rPr sz="900" b="0" i="0">
                <a:solidFill>
                  <a:srgbClr val="5A5A5A"/>
                </a:solidFill>
                <a:latin typeface="Arial"/>
              </a:rPr>
              <a:t>Signature must verify against trusted/cosign.pub</a:t>
            </a:r>
          </a:p>
        </p:txBody>
      </p:sp>
      <p:sp>
        <p:nvSpPr>
          <p:cNvPr id="146" name="Rounded Rectangle 145"/>
          <p:cNvSpPr/>
          <p:nvPr/>
        </p:nvSpPr>
        <p:spPr>
          <a:xfrm>
            <a:off x="6754728" y="3253312"/>
            <a:ext cx="1958625" cy="1150000"/>
          </a:xfrm>
          <a:prstGeom prst="roundRect">
            <a:avLst>
              <a:gd name="adj" fmla="val 6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47" name="Oval 146"/>
          <p:cNvSpPr/>
          <p:nvPr/>
        </p:nvSpPr>
        <p:spPr>
          <a:xfrm>
            <a:off x="6874728" y="3383312"/>
            <a:ext cx="300000" cy="30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1000" b="1" i="0">
                <a:solidFill>
                  <a:srgbClr val="FFFFFF"/>
                </a:solidFill>
                <a:latin typeface="Arial"/>
              </a:rPr>
              <a:t>4</a:t>
            </a:r>
          </a:p>
        </p:txBody>
      </p:sp>
      <p:sp>
        <p:nvSpPr>
          <p:cNvPr id="148" name="TextBox 147"/>
          <p:cNvSpPr txBox="1"/>
          <p:nvPr/>
        </p:nvSpPr>
        <p:spPr>
          <a:xfrm>
            <a:off x="6874728" y="3753312"/>
            <a:ext cx="1718625" cy="600000"/>
          </a:xfrm>
          <a:prstGeom prst="rect">
            <a:avLst/>
          </a:prstGeom>
          <a:noFill/>
        </p:spPr>
        <p:txBody>
          <a:bodyPr wrap="square" anchor="t" lIns="0" tIns="0" rIns="0" bIns="0"/>
          <a:lstStyle/>
          <a:p>
            <a:pPr algn="l">
              <a:spcBef>
                <a:spcPts val="0"/>
              </a:spcBef>
              <a:spcAft>
                <a:spcPts val="0"/>
              </a:spcAft>
            </a:pPr>
            <a:r>
              <a:rPr sz="1100" b="1" i="0">
                <a:solidFill>
                  <a:srgbClr val="111111"/>
                </a:solidFill>
                <a:latin typeface="Arial"/>
              </a:rPr>
              <a:t>Fully audited</a:t>
            </a:r>
          </a:p>
          <a:p>
            <a:pPr algn="l">
              <a:spcBef>
                <a:spcPts val="300"/>
              </a:spcBef>
              <a:spcAft>
                <a:spcPts val="0"/>
              </a:spcAft>
            </a:pPr>
            <a:r>
              <a:rPr sz="900" b="0" i="0">
                <a:solidFill>
                  <a:srgbClr val="5A5A5A"/>
                </a:solidFill>
                <a:latin typeface="Arial"/>
              </a:rPr>
              <a:t>JSONL log exported as HTML dashboard, CSV and JSON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14"/>
          <p:cNvPicPr preferRelativeResize="0"/>
          <p:nvPr/>
        </p:nvPicPr>
        <p:blipFill rotWithShape="1">
          <a:blip r:embed="rId2">
            <a:alphaModFix/>
          </a:blip>
          <a:srcRect b="0" l="0" r="10" t="0"/>
          <a:stretch/>
        </p:blipFill>
        <p:spPr>
          <a:xfrm>
            <a:off x="145399" y="106185"/>
            <a:ext cx="1737300" cy="531600"/>
          </a:xfrm>
          <a:prstGeom prst="rect">
            <a:avLst/>
          </a:prstGeom>
          <a:noFill/>
          <a:ln>
            <a:noFill/>
          </a:ln>
        </p:spPr>
      </p:pic>
      <p:pic>
        <p:nvPicPr>
          <p:cNvPr id="115" name="Google Shape;115;p14"/>
          <p:cNvPicPr preferRelativeResize="0"/>
          <p:nvPr/>
        </p:nvPicPr>
        <p:blipFill rotWithShape="1">
          <a:blip r:embed="rId3">
            <a:alphaModFix/>
          </a:blip>
          <a:srcRect b="720" l="0" r="10" t="710"/>
          <a:stretch/>
        </p:blipFill>
        <p:spPr>
          <a:xfrm>
            <a:off x="8343443" y="169593"/>
            <a:ext cx="546300" cy="404700"/>
          </a:xfrm>
          <a:prstGeom prst="rect">
            <a:avLst/>
          </a:prstGeom>
          <a:noFill/>
          <a:ln>
            <a:noFill/>
          </a:ln>
        </p:spPr>
      </p:pic>
      <p:grpSp>
        <p:nvGrpSpPr>
          <p:cNvPr id="116" name="Google Shape;116;p14"/>
          <p:cNvGrpSpPr/>
          <p:nvPr/>
        </p:nvGrpSpPr>
        <p:grpSpPr>
          <a:xfrm>
            <a:off x="0" y="4560570"/>
            <a:ext cx="9144010" cy="592800"/>
            <a:chOff x="0" y="4560570"/>
            <a:chExt cx="9144010" cy="592800"/>
          </a:xfrm>
        </p:grpSpPr>
        <p:sp>
          <p:nvSpPr>
            <p:cNvPr id="117" name="Google Shape;117;p14"/>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14"/>
          <p:cNvSpPr txBox="1"/>
          <p:nvPr/>
        </p:nvSpPr>
        <p:spPr>
          <a:xfrm>
            <a:off x="428853" y="676656"/>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SYSTEM ARCHITECTURE</a:t>
            </a:r>
            <a:endParaRPr/>
          </a:p>
          <a:p>
            <a:pPr indent="0" lvl="0" marL="0" marR="0" rtl="0" algn="l">
              <a:lnSpc>
                <a:spcPct val="100000"/>
              </a:lnSpc>
              <a:spcBef>
                <a:spcPts val="300"/>
              </a:spcBef>
              <a:spcAft>
                <a:spcPts val="0"/>
              </a:spcAft>
              <a:buClr>
                <a:srgbClr val="000000"/>
              </a:buClr>
              <a:buSzPts val="2400"/>
              <a:buFont typeface="Arial"/>
              <a:buNone/>
            </a:pPr>
            <a:r>
              <a:rPr b="1" i="0" lang="en-US" sz="2400" u="none" cap="none" strike="noStrike">
                <a:solidFill>
                  <a:srgbClr val="111111"/>
                </a:solidFill>
                <a:latin typeface="Arial"/>
                <a:ea typeface="Arial"/>
                <a:cs typeface="Arial"/>
                <a:sym typeface="Arial"/>
              </a:rPr>
              <a:t>From build to verified deployment</a:t>
            </a:r>
            <a:endParaRPr/>
          </a:p>
        </p:txBody>
      </p:sp>
      <p:sp>
        <p:nvSpPr>
          <p:cNvPr id="121" name="Google Shape;121;p14"/>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122" name="Google Shape;122;p14"/>
          <p:cNvSpPr txBox="1"/>
          <p:nvPr/>
        </p:nvSpPr>
        <p:spPr>
          <a:xfrm>
            <a:off x="7324287"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4</a:t>
            </a:r>
            <a:endParaRPr/>
          </a:p>
        </p:txBody>
      </p:sp>
      <p:sp>
        <p:nvSpPr>
          <p:cNvPr id="123" name="Rounded Rectangle 122"/>
          <p:cNvSpPr/>
          <p:nvPr/>
        </p:nvSpPr>
        <p:spPr>
          <a:xfrm>
            <a:off x="428853" y="1353312"/>
            <a:ext cx="8284500" cy="900000"/>
          </a:xfrm>
          <a:prstGeom prst="roundRect">
            <a:avLst>
              <a:gd name="adj" fmla="val 8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24" name="TextBox 123"/>
          <p:cNvSpPr txBox="1"/>
          <p:nvPr/>
        </p:nvSpPr>
        <p:spPr>
          <a:xfrm>
            <a:off x="548853" y="1393312"/>
            <a:ext cx="4000000" cy="170000"/>
          </a:xfrm>
          <a:prstGeom prst="rect">
            <a:avLst/>
          </a:prstGeom>
          <a:noFill/>
        </p:spPr>
        <p:txBody>
          <a:bodyPr wrap="square" anchor="t" lIns="0" tIns="0" rIns="0" bIns="0"/>
          <a:lstStyle/>
          <a:p>
            <a:pPr algn="l">
              <a:spcBef>
                <a:spcPts val="0"/>
              </a:spcBef>
              <a:spcAft>
                <a:spcPts val="0"/>
              </a:spcAft>
            </a:pPr>
            <a:r>
              <a:rPr sz="900" b="1" i="0">
                <a:solidFill>
                  <a:srgbClr val="A42530"/>
                </a:solidFill>
                <a:latin typeface="Arial"/>
              </a:rPr>
              <a:t>SIGNING PATH  (BUILD TIME)</a:t>
            </a:r>
          </a:p>
        </p:txBody>
      </p:sp>
      <p:sp>
        <p:nvSpPr>
          <p:cNvPr id="125" name="Rounded Rectangle 124"/>
          <p:cNvSpPr/>
          <p:nvPr/>
        </p:nvSpPr>
        <p:spPr>
          <a:xfrm>
            <a:off x="548853" y="1623312"/>
            <a:ext cx="1800000" cy="520000"/>
          </a:xfrm>
          <a:prstGeom prst="roundRect">
            <a:avLst>
              <a:gd name="adj" fmla="val 14000"/>
            </a:avLst>
          </a:prstGeom>
          <a:solidFill>
            <a:srgbClr val="F5F5F5"/>
          </a:solidFill>
          <a:ln w="9525">
            <a:solidFill>
              <a:srgbClr val="D9D9D9"/>
            </a:solidFill>
          </a:ln>
          <a:effectLst/>
        </p:spPr>
        <p:txBody>
          <a:bodyPr rtlCol="0" anchor="ctr" wrap="square" lIns="45700" tIns="27425" rIns="45700" bIns="27425"/>
          <a:lstStyle/>
          <a:p>
            <a:pPr algn="ctr">
              <a:spcBef>
                <a:spcPts val="0"/>
              </a:spcBef>
              <a:spcAft>
                <a:spcPts val="0"/>
              </a:spcAft>
            </a:pPr>
            <a:r>
              <a:rPr sz="1000" b="1" i="0">
                <a:solidFill>
                  <a:srgbClr val="111111"/>
                </a:solidFill>
                <a:latin typeface="Arial"/>
              </a:rPr>
              <a:t>Docker image builder</a:t>
            </a:r>
          </a:p>
          <a:p>
            <a:pPr algn="ctr">
              <a:spcBef>
                <a:spcPts val="100"/>
              </a:spcBef>
              <a:spcAft>
                <a:spcPts val="0"/>
              </a:spcAft>
            </a:pPr>
            <a:r>
              <a:rPr sz="900" b="0" i="0">
                <a:solidFill>
                  <a:srgbClr val="5A5A5A"/>
                </a:solidFill>
                <a:latin typeface="Arial"/>
              </a:rPr>
              <a:t>app/Dockerfile → image</a:t>
            </a:r>
          </a:p>
        </p:txBody>
      </p:sp>
      <p:sp>
        <p:nvSpPr>
          <p:cNvPr id="126" name="Rounded Rectangle 125"/>
          <p:cNvSpPr/>
          <p:nvPr/>
        </p:nvSpPr>
        <p:spPr>
          <a:xfrm>
            <a:off x="2630353" y="1623312"/>
            <a:ext cx="1800000" cy="520000"/>
          </a:xfrm>
          <a:prstGeom prst="roundRect">
            <a:avLst>
              <a:gd name="adj" fmla="val 14000"/>
            </a:avLst>
          </a:prstGeom>
          <a:solidFill>
            <a:srgbClr val="F5F5F5"/>
          </a:solidFill>
          <a:ln w="9525">
            <a:solidFill>
              <a:srgbClr val="D9D9D9"/>
            </a:solidFill>
          </a:ln>
          <a:effectLst/>
        </p:spPr>
        <p:txBody>
          <a:bodyPr rtlCol="0" anchor="ctr" wrap="square" lIns="45700" tIns="27425" rIns="45700" bIns="27425"/>
          <a:lstStyle/>
          <a:p>
            <a:pPr algn="ctr">
              <a:spcBef>
                <a:spcPts val="0"/>
              </a:spcBef>
              <a:spcAft>
                <a:spcPts val="0"/>
              </a:spcAft>
            </a:pPr>
            <a:r>
              <a:rPr sz="1000" b="1" i="0">
                <a:solidFill>
                  <a:srgbClr val="111111"/>
                </a:solidFill>
                <a:latin typeface="Arial"/>
              </a:rPr>
              <a:t>Local registry</a:t>
            </a:r>
          </a:p>
          <a:p>
            <a:pPr algn="ctr">
              <a:spcBef>
                <a:spcPts val="100"/>
              </a:spcBef>
              <a:spcAft>
                <a:spcPts val="0"/>
              </a:spcAft>
            </a:pPr>
            <a:r>
              <a:rPr sz="900" b="0" i="0">
                <a:solidFill>
                  <a:srgbClr val="5A5A5A"/>
                </a:solidFill>
                <a:latin typeface="Arial"/>
              </a:rPr>
              <a:t>registry:2 at localhost:5001</a:t>
            </a:r>
          </a:p>
        </p:txBody>
      </p:sp>
      <p:cxnSp>
        <p:nvCxnSpPr>
          <p:cNvPr id="127" name="Connector 126"/>
          <p:cNvCxnSpPr/>
          <p:nvPr/>
        </p:nvCxnSpPr>
        <p:spPr>
          <a:xfrm>
            <a:off x="2348853" y="1883312"/>
            <a:ext cx="281500" cy="0"/>
          </a:xfrm>
          <a:prstGeom prst="line">
            <a:avLst/>
          </a:prstGeom>
          <a:ln w="19050">
            <a:solidFill>
              <a:srgbClr val="A42530"/>
            </a:solidFill>
            <a:tailEnd type="triangle" w="med" len="med"/>
          </a:ln>
        </p:spPr>
      </p:cxnSp>
      <p:sp>
        <p:nvSpPr>
          <p:cNvPr id="128" name="Rounded Rectangle 127"/>
          <p:cNvSpPr/>
          <p:nvPr/>
        </p:nvSpPr>
        <p:spPr>
          <a:xfrm>
            <a:off x="4711853" y="1623312"/>
            <a:ext cx="1800000" cy="520000"/>
          </a:xfrm>
          <a:prstGeom prst="roundRect">
            <a:avLst>
              <a:gd name="adj" fmla="val 14000"/>
            </a:avLst>
          </a:prstGeom>
          <a:solidFill>
            <a:srgbClr val="A42530"/>
          </a:solidFill>
          <a:ln>
            <a:noFill/>
          </a:ln>
          <a:effectLst/>
        </p:spPr>
        <p:txBody>
          <a:bodyPr rtlCol="0" anchor="ctr" wrap="square" lIns="45700" tIns="27425" rIns="45700" bIns="27425"/>
          <a:lstStyle/>
          <a:p>
            <a:pPr algn="ctr">
              <a:spcBef>
                <a:spcPts val="0"/>
              </a:spcBef>
              <a:spcAft>
                <a:spcPts val="0"/>
              </a:spcAft>
            </a:pPr>
            <a:r>
              <a:rPr sz="1000" b="1" i="0">
                <a:solidFill>
                  <a:srgbClr val="FFFFFF"/>
                </a:solidFill>
                <a:latin typeface="Arial"/>
              </a:rPr>
              <a:t>Cosign signer</a:t>
            </a:r>
          </a:p>
          <a:p>
            <a:pPr algn="ctr">
              <a:spcBef>
                <a:spcPts val="100"/>
              </a:spcBef>
              <a:spcAft>
                <a:spcPts val="0"/>
              </a:spcAft>
            </a:pPr>
            <a:r>
              <a:rPr sz="900" b="0" i="0">
                <a:solidFill>
                  <a:srgbClr val="F6D5D8"/>
                </a:solidFill>
                <a:latin typeface="Arial"/>
              </a:rPr>
              <a:t>private key in ~/.trustdeploy/keys</a:t>
            </a:r>
          </a:p>
        </p:txBody>
      </p:sp>
      <p:cxnSp>
        <p:nvCxnSpPr>
          <p:cNvPr id="129" name="Connector 128"/>
          <p:cNvCxnSpPr/>
          <p:nvPr/>
        </p:nvCxnSpPr>
        <p:spPr>
          <a:xfrm>
            <a:off x="4430353" y="1883312"/>
            <a:ext cx="281500" cy="0"/>
          </a:xfrm>
          <a:prstGeom prst="line">
            <a:avLst/>
          </a:prstGeom>
          <a:ln w="19050">
            <a:solidFill>
              <a:srgbClr val="A42530"/>
            </a:solidFill>
            <a:tailEnd type="triangle" w="med" len="med"/>
          </a:ln>
        </p:spPr>
      </p:cxnSp>
      <p:sp>
        <p:nvSpPr>
          <p:cNvPr id="130" name="Rounded Rectangle 129"/>
          <p:cNvSpPr/>
          <p:nvPr/>
        </p:nvSpPr>
        <p:spPr>
          <a:xfrm>
            <a:off x="6793353" y="1623312"/>
            <a:ext cx="1800000" cy="520000"/>
          </a:xfrm>
          <a:prstGeom prst="roundRect">
            <a:avLst>
              <a:gd name="adj" fmla="val 14000"/>
            </a:avLst>
          </a:prstGeom>
          <a:solidFill>
            <a:srgbClr val="F5F5F5"/>
          </a:solidFill>
          <a:ln w="9525">
            <a:solidFill>
              <a:srgbClr val="D9D9D9"/>
            </a:solidFill>
          </a:ln>
          <a:effectLst/>
        </p:spPr>
        <p:txBody>
          <a:bodyPr rtlCol="0" anchor="ctr" wrap="square" lIns="45700" tIns="27425" rIns="45700" bIns="27425"/>
          <a:lstStyle/>
          <a:p>
            <a:pPr algn="ctr">
              <a:spcBef>
                <a:spcPts val="0"/>
              </a:spcBef>
              <a:spcAft>
                <a:spcPts val="0"/>
              </a:spcAft>
            </a:pPr>
            <a:r>
              <a:rPr sz="1000" b="1" i="0">
                <a:solidFill>
                  <a:srgbClr val="111111"/>
                </a:solidFill>
                <a:latin typeface="Arial"/>
              </a:rPr>
              <a:t>Signature in registry</a:t>
            </a:r>
          </a:p>
          <a:p>
            <a:pPr algn="ctr">
              <a:spcBef>
                <a:spcPts val="100"/>
              </a:spcBef>
              <a:spcAft>
                <a:spcPts val="0"/>
              </a:spcAft>
            </a:pPr>
            <a:r>
              <a:rPr sz="900" b="0" i="0">
                <a:solidFill>
                  <a:srgbClr val="5A5A5A"/>
                </a:solidFill>
                <a:latin typeface="Arial"/>
              </a:rPr>
              <a:t>OCI referrer / Sigstore bundle</a:t>
            </a:r>
          </a:p>
        </p:txBody>
      </p:sp>
      <p:cxnSp>
        <p:nvCxnSpPr>
          <p:cNvPr id="131" name="Connector 130"/>
          <p:cNvCxnSpPr/>
          <p:nvPr/>
        </p:nvCxnSpPr>
        <p:spPr>
          <a:xfrm>
            <a:off x="6511853" y="1883312"/>
            <a:ext cx="281500" cy="0"/>
          </a:xfrm>
          <a:prstGeom prst="line">
            <a:avLst/>
          </a:prstGeom>
          <a:ln w="19050">
            <a:solidFill>
              <a:srgbClr val="A42530"/>
            </a:solidFill>
            <a:tailEnd type="triangle" w="med" len="med"/>
          </a:ln>
        </p:spPr>
      </p:cxnSp>
      <p:sp>
        <p:nvSpPr>
          <p:cNvPr id="132" name="Rounded Rectangle 131"/>
          <p:cNvSpPr/>
          <p:nvPr/>
        </p:nvSpPr>
        <p:spPr>
          <a:xfrm>
            <a:off x="428853" y="2343312"/>
            <a:ext cx="8284500" cy="1640000"/>
          </a:xfrm>
          <a:prstGeom prst="roundRect">
            <a:avLst>
              <a:gd name="adj" fmla="val 5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3" name="TextBox 132"/>
          <p:cNvSpPr txBox="1"/>
          <p:nvPr/>
        </p:nvSpPr>
        <p:spPr>
          <a:xfrm>
            <a:off x="548853" y="2383312"/>
            <a:ext cx="4000000" cy="170000"/>
          </a:xfrm>
          <a:prstGeom prst="rect">
            <a:avLst/>
          </a:prstGeom>
          <a:noFill/>
        </p:spPr>
        <p:txBody>
          <a:bodyPr wrap="square" anchor="t" lIns="0" tIns="0" rIns="0" bIns="0"/>
          <a:lstStyle/>
          <a:p>
            <a:pPr algn="l">
              <a:spcBef>
                <a:spcPts val="0"/>
              </a:spcBef>
              <a:spcAft>
                <a:spcPts val="0"/>
              </a:spcAft>
            </a:pPr>
            <a:r>
              <a:rPr sz="900" b="1" i="0">
                <a:solidFill>
                  <a:srgbClr val="A42530"/>
                </a:solidFill>
                <a:latin typeface="Arial"/>
              </a:rPr>
              <a:t>DEPLOY PATH  (VERIFICATION GATE)</a:t>
            </a:r>
          </a:p>
        </p:txBody>
      </p:sp>
      <p:sp>
        <p:nvSpPr>
          <p:cNvPr id="134" name="Rounded Rectangle 133"/>
          <p:cNvSpPr/>
          <p:nvPr/>
        </p:nvSpPr>
        <p:spPr>
          <a:xfrm>
            <a:off x="548853" y="2613312"/>
            <a:ext cx="1800000" cy="560000"/>
          </a:xfrm>
          <a:prstGeom prst="roundRect">
            <a:avLst>
              <a:gd name="adj" fmla="val 14000"/>
            </a:avLst>
          </a:prstGeom>
          <a:solidFill>
            <a:srgbClr val="F5F5F5"/>
          </a:solidFill>
          <a:ln w="9525">
            <a:solidFill>
              <a:srgbClr val="D9D9D9"/>
            </a:solidFill>
          </a:ln>
          <a:effectLst/>
        </p:spPr>
        <p:txBody>
          <a:bodyPr rtlCol="0" anchor="ctr" wrap="square" lIns="45700" tIns="27425" rIns="45700" bIns="27425"/>
          <a:lstStyle/>
          <a:p>
            <a:pPr algn="ctr">
              <a:spcBef>
                <a:spcPts val="0"/>
              </a:spcBef>
              <a:spcAft>
                <a:spcPts val="0"/>
              </a:spcAft>
            </a:pPr>
            <a:r>
              <a:rPr sz="1000" b="1" i="0">
                <a:solidFill>
                  <a:srgbClr val="111111"/>
                </a:solidFill>
                <a:latin typeface="Arial"/>
              </a:rPr>
              <a:t>Trusted key + policy</a:t>
            </a:r>
          </a:p>
          <a:p>
            <a:pPr algn="ctr">
              <a:spcBef>
                <a:spcPts val="100"/>
              </a:spcBef>
              <a:spcAft>
                <a:spcPts val="0"/>
              </a:spcAft>
            </a:pPr>
            <a:r>
              <a:rPr sz="900" b="0" i="0">
                <a:solidFill>
                  <a:srgbClr val="5A5A5A"/>
                </a:solidFill>
                <a:latin typeface="Arial"/>
              </a:rPr>
              <a:t>trusted/cosign.pub, policy.json</a:t>
            </a:r>
          </a:p>
        </p:txBody>
      </p:sp>
      <p:sp>
        <p:nvSpPr>
          <p:cNvPr id="135" name="Rounded Rectangle 134"/>
          <p:cNvSpPr/>
          <p:nvPr/>
        </p:nvSpPr>
        <p:spPr>
          <a:xfrm>
            <a:off x="2630353" y="2613312"/>
            <a:ext cx="1800000" cy="560000"/>
          </a:xfrm>
          <a:prstGeom prst="roundRect">
            <a:avLst>
              <a:gd name="adj" fmla="val 14000"/>
            </a:avLst>
          </a:prstGeom>
          <a:solidFill>
            <a:srgbClr val="A42530"/>
          </a:solidFill>
          <a:ln>
            <a:noFill/>
          </a:ln>
          <a:effectLst/>
        </p:spPr>
        <p:txBody>
          <a:bodyPr rtlCol="0" anchor="ctr" wrap="square" lIns="45700" tIns="27425" rIns="45700" bIns="27425"/>
          <a:lstStyle/>
          <a:p>
            <a:pPr algn="ctr">
              <a:spcBef>
                <a:spcPts val="0"/>
              </a:spcBef>
              <a:spcAft>
                <a:spcPts val="0"/>
              </a:spcAft>
            </a:pPr>
            <a:r>
              <a:rPr sz="1000" b="1" i="0">
                <a:solidFill>
                  <a:srgbClr val="FFFFFF"/>
                </a:solidFill>
                <a:latin typeface="Arial"/>
              </a:rPr>
              <a:t>Verification engine</a:t>
            </a:r>
          </a:p>
          <a:p>
            <a:pPr algn="ctr">
              <a:spcBef>
                <a:spcPts val="100"/>
              </a:spcBef>
              <a:spcAft>
                <a:spcPts val="0"/>
              </a:spcAft>
            </a:pPr>
            <a:r>
              <a:rPr sz="900" b="0" i="0">
                <a:solidFill>
                  <a:srgbClr val="F6D5D8"/>
                </a:solidFill>
                <a:latin typeface="Arial"/>
              </a:rPr>
              <a:t>verifier.py: cosign verify + digest check</a:t>
            </a:r>
          </a:p>
        </p:txBody>
      </p:sp>
      <p:cxnSp>
        <p:nvCxnSpPr>
          <p:cNvPr id="136" name="Connector 135"/>
          <p:cNvCxnSpPr/>
          <p:nvPr/>
        </p:nvCxnSpPr>
        <p:spPr>
          <a:xfrm>
            <a:off x="2348853" y="2893312"/>
            <a:ext cx="281500" cy="0"/>
          </a:xfrm>
          <a:prstGeom prst="line">
            <a:avLst/>
          </a:prstGeom>
          <a:ln w="19050">
            <a:solidFill>
              <a:srgbClr val="A42530"/>
            </a:solidFill>
            <a:tailEnd type="triangle" w="med" len="med"/>
          </a:ln>
        </p:spPr>
      </p:cxnSp>
      <p:sp>
        <p:nvSpPr>
          <p:cNvPr id="137" name="Rounded Rectangle 136"/>
          <p:cNvSpPr/>
          <p:nvPr/>
        </p:nvSpPr>
        <p:spPr>
          <a:xfrm>
            <a:off x="4711853" y="2613312"/>
            <a:ext cx="1800000" cy="560000"/>
          </a:xfrm>
          <a:prstGeom prst="roundRect">
            <a:avLst>
              <a:gd name="adj" fmla="val 14000"/>
            </a:avLst>
          </a:prstGeom>
          <a:solidFill>
            <a:srgbClr val="A42530"/>
          </a:solidFill>
          <a:ln>
            <a:noFill/>
          </a:ln>
          <a:effectLst/>
        </p:spPr>
        <p:txBody>
          <a:bodyPr rtlCol="0" anchor="ctr" wrap="square" lIns="45700" tIns="27425" rIns="45700" bIns="27425"/>
          <a:lstStyle/>
          <a:p>
            <a:pPr algn="ctr">
              <a:spcBef>
                <a:spcPts val="0"/>
              </a:spcBef>
              <a:spcAft>
                <a:spcPts val="0"/>
              </a:spcAft>
            </a:pPr>
            <a:r>
              <a:rPr sz="1000" b="1" i="0">
                <a:solidFill>
                  <a:srgbClr val="FFFFFF"/>
                </a:solidFill>
                <a:latin typeface="Arial"/>
              </a:rPr>
              <a:t>Policy gate</a:t>
            </a:r>
          </a:p>
          <a:p>
            <a:pPr algn="ctr">
              <a:spcBef>
                <a:spcPts val="100"/>
              </a:spcBef>
              <a:spcAft>
                <a:spcPts val="0"/>
              </a:spcAft>
            </a:pPr>
            <a:r>
              <a:rPr sz="900" b="0" i="0">
                <a:solidFill>
                  <a:srgbClr val="F6D5D8"/>
                </a:solidFill>
                <a:latin typeface="Arial"/>
              </a:rPr>
              <a:t>policy.py: ACCEPT only if verified</a:t>
            </a:r>
          </a:p>
        </p:txBody>
      </p:sp>
      <p:cxnSp>
        <p:nvCxnSpPr>
          <p:cNvPr id="138" name="Connector 137"/>
          <p:cNvCxnSpPr/>
          <p:nvPr/>
        </p:nvCxnSpPr>
        <p:spPr>
          <a:xfrm>
            <a:off x="4430353" y="2893312"/>
            <a:ext cx="281500" cy="0"/>
          </a:xfrm>
          <a:prstGeom prst="line">
            <a:avLst/>
          </a:prstGeom>
          <a:ln w="19050">
            <a:solidFill>
              <a:srgbClr val="A42530"/>
            </a:solidFill>
            <a:tailEnd type="triangle" w="med" len="med"/>
          </a:ln>
        </p:spPr>
      </p:cxnSp>
      <p:sp>
        <p:nvSpPr>
          <p:cNvPr id="139" name="Rounded Rectangle 138"/>
          <p:cNvSpPr/>
          <p:nvPr/>
        </p:nvSpPr>
        <p:spPr>
          <a:xfrm>
            <a:off x="6793353" y="2613312"/>
            <a:ext cx="1800000" cy="560000"/>
          </a:xfrm>
          <a:prstGeom prst="roundRect">
            <a:avLst>
              <a:gd name="adj" fmla="val 14000"/>
            </a:avLst>
          </a:prstGeom>
          <a:solidFill>
            <a:srgbClr val="2B2F36"/>
          </a:solidFill>
          <a:ln>
            <a:noFill/>
          </a:ln>
          <a:effectLst/>
        </p:spPr>
        <p:txBody>
          <a:bodyPr rtlCol="0" anchor="ctr" wrap="square" lIns="45700" tIns="27425" rIns="45700" bIns="27425"/>
          <a:lstStyle/>
          <a:p>
            <a:pPr algn="ctr">
              <a:spcBef>
                <a:spcPts val="0"/>
              </a:spcBef>
              <a:spcAft>
                <a:spcPts val="0"/>
              </a:spcAft>
            </a:pPr>
            <a:r>
              <a:rPr sz="1000" b="1" i="0">
                <a:solidFill>
                  <a:srgbClr val="FFFFFF"/>
                </a:solidFill>
                <a:latin typeface="Arial"/>
              </a:rPr>
              <a:t>Deploy</a:t>
            </a:r>
          </a:p>
          <a:p>
            <a:pPr algn="ctr">
              <a:spcBef>
                <a:spcPts val="100"/>
              </a:spcBef>
              <a:spcAft>
                <a:spcPts val="0"/>
              </a:spcAft>
            </a:pPr>
            <a:r>
              <a:rPr sz="900" b="0" i="0">
                <a:solidFill>
                  <a:srgbClr val="D0D3D8"/>
                </a:solidFill>
                <a:latin typeface="Arial"/>
              </a:rPr>
              <a:t>exact verified digest, never the tag</a:t>
            </a:r>
          </a:p>
        </p:txBody>
      </p:sp>
      <p:cxnSp>
        <p:nvCxnSpPr>
          <p:cNvPr id="140" name="Connector 139"/>
          <p:cNvCxnSpPr/>
          <p:nvPr/>
        </p:nvCxnSpPr>
        <p:spPr>
          <a:xfrm>
            <a:off x="6511853" y="2893312"/>
            <a:ext cx="281500" cy="0"/>
          </a:xfrm>
          <a:prstGeom prst="line">
            <a:avLst/>
          </a:prstGeom>
          <a:ln w="19050">
            <a:solidFill>
              <a:srgbClr val="2B2F36"/>
            </a:solidFill>
            <a:tailEnd type="triangle" w="med" len="med"/>
          </a:ln>
        </p:spPr>
      </p:cxnSp>
      <p:cxnSp>
        <p:nvCxnSpPr>
          <p:cNvPr id="141" name="Connector 140"/>
          <p:cNvCxnSpPr/>
          <p:nvPr/>
        </p:nvCxnSpPr>
        <p:spPr>
          <a:xfrm flipH="1">
            <a:off x="3830353" y="2143312"/>
            <a:ext cx="3863000" cy="470000"/>
          </a:xfrm>
          <a:prstGeom prst="line">
            <a:avLst/>
          </a:prstGeom>
          <a:ln w="12700">
            <a:solidFill>
              <a:srgbClr val="5A5A5A"/>
            </a:solidFill>
            <a:tailEnd type="triangle" w="med" len="med"/>
          </a:ln>
        </p:spPr>
      </p:cxnSp>
      <p:sp>
        <p:nvSpPr>
          <p:cNvPr id="142" name="Rounded Rectangle 141"/>
          <p:cNvSpPr/>
          <p:nvPr/>
        </p:nvSpPr>
        <p:spPr>
          <a:xfrm>
            <a:off x="4711853" y="3393312"/>
            <a:ext cx="3881500" cy="450000"/>
          </a:xfrm>
          <a:prstGeom prst="roundRect">
            <a:avLst>
              <a:gd name="adj" fmla="val 14000"/>
            </a:avLst>
          </a:prstGeom>
          <a:solidFill>
            <a:srgbClr val="2B2F36"/>
          </a:solidFill>
          <a:ln>
            <a:noFill/>
          </a:ln>
          <a:effectLst/>
        </p:spPr>
        <p:txBody>
          <a:bodyPr rtlCol="0" anchor="ctr" wrap="square" lIns="45700" tIns="27425" rIns="45700" bIns="27425"/>
          <a:lstStyle/>
          <a:p>
            <a:pPr algn="ctr">
              <a:spcBef>
                <a:spcPts val="0"/>
              </a:spcBef>
              <a:spcAft>
                <a:spcPts val="0"/>
              </a:spcAft>
            </a:pPr>
            <a:r>
              <a:rPr sz="1000" b="1" i="0">
                <a:solidFill>
                  <a:srgbClr val="FFFFFF"/>
                </a:solidFill>
                <a:latin typeface="Arial"/>
              </a:rPr>
              <a:t>Audit logger + report</a:t>
            </a:r>
          </a:p>
          <a:p>
            <a:pPr algn="ctr">
              <a:spcBef>
                <a:spcPts val="100"/>
              </a:spcBef>
              <a:spcAft>
                <a:spcPts val="0"/>
              </a:spcAft>
            </a:pPr>
            <a:r>
              <a:rPr sz="900" b="0" i="0">
                <a:solidFill>
                  <a:srgbClr val="D0D3D8"/>
                </a:solidFill>
                <a:latin typeface="Arial"/>
              </a:rPr>
              <a:t>JSONL: timestamp, image, digest, decision, reason, key fingerprint → HTML, CSV, JSON</a:t>
            </a:r>
          </a:p>
        </p:txBody>
      </p:sp>
      <p:cxnSp>
        <p:nvCxnSpPr>
          <p:cNvPr id="143" name="Connector 142"/>
          <p:cNvCxnSpPr/>
          <p:nvPr/>
        </p:nvCxnSpPr>
        <p:spPr>
          <a:xfrm>
            <a:off x="5611853" y="3173312"/>
            <a:ext cx="0" cy="220000"/>
          </a:xfrm>
          <a:prstGeom prst="line">
            <a:avLst/>
          </a:prstGeom>
          <a:ln w="19050">
            <a:solidFill>
              <a:srgbClr val="2B2F36"/>
            </a:solidFill>
            <a:tailEnd type="triangle" w="med" len="med"/>
          </a:ln>
        </p:spPr>
      </p:cxnSp>
      <p:sp>
        <p:nvSpPr>
          <p:cNvPr id="144" name="Rectangle 143"/>
          <p:cNvSpPr/>
          <p:nvPr/>
        </p:nvSpPr>
        <p:spPr>
          <a:xfrm>
            <a:off x="548853" y="3408312"/>
            <a:ext cx="201300" cy="118800"/>
          </a:xfrm>
          <a:prstGeom prst="rect">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45" name="TextBox 144"/>
          <p:cNvSpPr txBox="1"/>
          <p:nvPr/>
        </p:nvSpPr>
        <p:spPr>
          <a:xfrm>
            <a:off x="828853" y="3393312"/>
            <a:ext cx="1600000" cy="150000"/>
          </a:xfrm>
          <a:prstGeom prst="rect">
            <a:avLst/>
          </a:prstGeom>
          <a:noFill/>
        </p:spPr>
        <p:txBody>
          <a:bodyPr wrap="square" anchor="ctr" lIns="0" tIns="0" rIns="0" bIns="0"/>
          <a:lstStyle/>
          <a:p>
            <a:pPr algn="l">
              <a:spcBef>
                <a:spcPts val="0"/>
              </a:spcBef>
              <a:spcAft>
                <a:spcPts val="0"/>
              </a:spcAft>
            </a:pPr>
            <a:r>
              <a:rPr sz="900" b="0" i="0">
                <a:solidFill>
                  <a:srgbClr val="2B2F36"/>
                </a:solidFill>
                <a:latin typeface="Arial"/>
              </a:rPr>
              <a:t>Data / component</a:t>
            </a:r>
          </a:p>
        </p:txBody>
      </p:sp>
      <p:sp>
        <p:nvSpPr>
          <p:cNvPr id="146" name="Rectangle 145"/>
          <p:cNvSpPr/>
          <p:nvPr/>
        </p:nvSpPr>
        <p:spPr>
          <a:xfrm>
            <a:off x="548853" y="3558312"/>
            <a:ext cx="201300" cy="118800"/>
          </a:xfrm>
          <a:prstGeom prst="rect">
            <a:avLst/>
          </a:prstGeom>
          <a:solidFill>
            <a:srgbClr val="A42530"/>
          </a:solidFill>
          <a:ln>
            <a:no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47" name="TextBox 146"/>
          <p:cNvSpPr txBox="1"/>
          <p:nvPr/>
        </p:nvSpPr>
        <p:spPr>
          <a:xfrm>
            <a:off x="828853" y="3543312"/>
            <a:ext cx="1600000" cy="150000"/>
          </a:xfrm>
          <a:prstGeom prst="rect">
            <a:avLst/>
          </a:prstGeom>
          <a:noFill/>
        </p:spPr>
        <p:txBody>
          <a:bodyPr wrap="square" anchor="ctr" lIns="0" tIns="0" rIns="0" bIns="0"/>
          <a:lstStyle/>
          <a:p>
            <a:pPr algn="l">
              <a:spcBef>
                <a:spcPts val="0"/>
              </a:spcBef>
              <a:spcAft>
                <a:spcPts val="0"/>
              </a:spcAft>
            </a:pPr>
            <a:r>
              <a:rPr sz="900" b="0" i="0">
                <a:solidFill>
                  <a:srgbClr val="2B2F36"/>
                </a:solidFill>
                <a:latin typeface="Arial"/>
              </a:rPr>
              <a:t>TrustDeploy logic</a:t>
            </a:r>
          </a:p>
        </p:txBody>
      </p:sp>
      <p:sp>
        <p:nvSpPr>
          <p:cNvPr id="148" name="Rectangle 147"/>
          <p:cNvSpPr/>
          <p:nvPr/>
        </p:nvSpPr>
        <p:spPr>
          <a:xfrm>
            <a:off x="548853" y="3708312"/>
            <a:ext cx="201300" cy="118800"/>
          </a:xfrm>
          <a:prstGeom prst="rect">
            <a:avLst/>
          </a:prstGeom>
          <a:solidFill>
            <a:srgbClr val="2B2F36"/>
          </a:solidFill>
          <a:ln>
            <a:no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49" name="TextBox 148"/>
          <p:cNvSpPr txBox="1"/>
          <p:nvPr/>
        </p:nvSpPr>
        <p:spPr>
          <a:xfrm>
            <a:off x="828853" y="3693312"/>
            <a:ext cx="1600000" cy="150000"/>
          </a:xfrm>
          <a:prstGeom prst="rect">
            <a:avLst/>
          </a:prstGeom>
          <a:noFill/>
        </p:spPr>
        <p:txBody>
          <a:bodyPr wrap="square" anchor="ctr" lIns="0" tIns="0" rIns="0" bIns="0"/>
          <a:lstStyle/>
          <a:p>
            <a:pPr algn="l">
              <a:spcBef>
                <a:spcPts val="0"/>
              </a:spcBef>
              <a:spcAft>
                <a:spcPts val="0"/>
              </a:spcAft>
            </a:pPr>
            <a:r>
              <a:rPr sz="900" b="0" i="0">
                <a:solidFill>
                  <a:srgbClr val="2B2F36"/>
                </a:solidFill>
                <a:latin typeface="Arial"/>
              </a:rPr>
              <a:t>Decision output</a:t>
            </a:r>
          </a:p>
        </p:txBody>
      </p:sp>
      <p:sp>
        <p:nvSpPr>
          <p:cNvPr id="150" name="Rounded Rectangle 149"/>
          <p:cNvSpPr/>
          <p:nvPr/>
        </p:nvSpPr>
        <p:spPr>
          <a:xfrm>
            <a:off x="428853" y="4073312"/>
            <a:ext cx="8284500" cy="330000"/>
          </a:xfrm>
          <a:prstGeom prst="roundRect">
            <a:avLst>
              <a:gd name="adj" fmla="val 19000"/>
            </a:avLst>
          </a:prstGeom>
          <a:solidFill>
            <a:srgbClr val="FBECED"/>
          </a:solidFill>
          <a:ln w="12700">
            <a:solidFill>
              <a:srgbClr val="A42530"/>
            </a:solidFill>
          </a:ln>
          <a:effectLst/>
        </p:spPr>
        <p:txBody>
          <a:bodyPr rtlCol="0" anchor="ctr" wrap="square" lIns="109725" tIns="18275" rIns="91425" bIns="18275"/>
          <a:lstStyle/>
          <a:p>
            <a:pPr algn="l">
              <a:spcBef>
                <a:spcPts val="0"/>
              </a:spcBef>
              <a:spcAft>
                <a:spcPts val="0"/>
              </a:spcAft>
            </a:pPr>
            <a:r>
              <a:rPr sz="1000" b="1" i="0">
                <a:solidFill>
                  <a:srgbClr val="A42530"/>
                </a:solidFill>
                <a:latin typeface="Arial"/>
              </a:rPr>
              <a:t>Key isolation: </a:t>
            </a:r>
            <a:r>
              <a:rPr sz="1000" b="0" i="0">
                <a:solidFill>
                  <a:srgbClr val="2B2F36"/>
                </a:solidFill>
                <a:latin typeface="Arial"/>
              </a:rPr>
              <a:t>the encrypted private key stays in ~/.trustdeploy/keys, outside the repo and the image; the gate trusts only the public key.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14"/>
          <p:cNvPicPr preferRelativeResize="0"/>
          <p:nvPr/>
        </p:nvPicPr>
        <p:blipFill rotWithShape="1">
          <a:blip r:embed="rId2">
            <a:alphaModFix/>
          </a:blip>
          <a:srcRect b="0" l="0" r="10" t="0"/>
          <a:stretch/>
        </p:blipFill>
        <p:spPr>
          <a:xfrm>
            <a:off x="145399" y="106185"/>
            <a:ext cx="1737300" cy="531600"/>
          </a:xfrm>
          <a:prstGeom prst="rect">
            <a:avLst/>
          </a:prstGeom>
          <a:noFill/>
          <a:ln>
            <a:noFill/>
          </a:ln>
        </p:spPr>
      </p:pic>
      <p:pic>
        <p:nvPicPr>
          <p:cNvPr id="115" name="Google Shape;115;p14"/>
          <p:cNvPicPr preferRelativeResize="0"/>
          <p:nvPr/>
        </p:nvPicPr>
        <p:blipFill rotWithShape="1">
          <a:blip r:embed="rId3">
            <a:alphaModFix/>
          </a:blip>
          <a:srcRect b="720" l="0" r="10" t="710"/>
          <a:stretch/>
        </p:blipFill>
        <p:spPr>
          <a:xfrm>
            <a:off x="8343443" y="169593"/>
            <a:ext cx="546300" cy="404700"/>
          </a:xfrm>
          <a:prstGeom prst="rect">
            <a:avLst/>
          </a:prstGeom>
          <a:noFill/>
          <a:ln>
            <a:noFill/>
          </a:ln>
        </p:spPr>
      </p:pic>
      <p:grpSp>
        <p:nvGrpSpPr>
          <p:cNvPr id="116" name="Google Shape;116;p14"/>
          <p:cNvGrpSpPr/>
          <p:nvPr/>
        </p:nvGrpSpPr>
        <p:grpSpPr>
          <a:xfrm>
            <a:off x="0" y="4560570"/>
            <a:ext cx="9144010" cy="592800"/>
            <a:chOff x="0" y="4560570"/>
            <a:chExt cx="9144010" cy="592800"/>
          </a:xfrm>
        </p:grpSpPr>
        <p:sp>
          <p:nvSpPr>
            <p:cNvPr id="117" name="Google Shape;117;p14"/>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14"/>
          <p:cNvSpPr txBox="1"/>
          <p:nvPr/>
        </p:nvSpPr>
        <p:spPr>
          <a:xfrm>
            <a:off x="428853" y="676656"/>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VERIFICATION ENGINE</a:t>
            </a:r>
            <a:endParaRPr/>
          </a:p>
          <a:p>
            <a:pPr indent="0" lvl="0" marL="0" marR="0" rtl="0" algn="l">
              <a:lnSpc>
                <a:spcPct val="100000"/>
              </a:lnSpc>
              <a:spcBef>
                <a:spcPts val="300"/>
              </a:spcBef>
              <a:spcAft>
                <a:spcPts val="0"/>
              </a:spcAft>
              <a:buClr>
                <a:srgbClr val="000000"/>
              </a:buClr>
              <a:buSzPts val="2400"/>
              <a:buFont typeface="Arial"/>
              <a:buNone/>
            </a:pPr>
            <a:r>
              <a:rPr b="1" i="0" lang="en-US" sz="2400" u="none" cap="none" strike="noStrike">
                <a:solidFill>
                  <a:srgbClr val="111111"/>
                </a:solidFill>
                <a:latin typeface="Arial"/>
                <a:ea typeface="Arial"/>
                <a:cs typeface="Arial"/>
                <a:sym typeface="Arial"/>
              </a:rPr>
              <a:t>How one ACCEPT / REJECT decision is made</a:t>
            </a:r>
            <a:endParaRPr/>
          </a:p>
        </p:txBody>
      </p:sp>
      <p:sp>
        <p:nvSpPr>
          <p:cNvPr id="121" name="Google Shape;121;p14"/>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122" name="Google Shape;122;p14"/>
          <p:cNvSpPr txBox="1"/>
          <p:nvPr/>
        </p:nvSpPr>
        <p:spPr>
          <a:xfrm>
            <a:off x="7324287"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5</a:t>
            </a:r>
            <a:endParaRPr/>
          </a:p>
        </p:txBody>
      </p:sp>
      <p:sp>
        <p:nvSpPr>
          <p:cNvPr id="123" name="Oval 122"/>
          <p:cNvSpPr/>
          <p:nvPr/>
        </p:nvSpPr>
        <p:spPr>
          <a:xfrm>
            <a:off x="428853" y="1443312"/>
            <a:ext cx="280000" cy="28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1000" b="1" i="0">
                <a:solidFill>
                  <a:srgbClr val="FFFFFF"/>
                </a:solidFill>
                <a:latin typeface="Arial"/>
              </a:rPr>
              <a:t>1</a:t>
            </a:r>
          </a:p>
        </p:txBody>
      </p:sp>
      <p:sp>
        <p:nvSpPr>
          <p:cNvPr id="124" name="TextBox 123"/>
          <p:cNvSpPr txBox="1"/>
          <p:nvPr/>
        </p:nvSpPr>
        <p:spPr>
          <a:xfrm>
            <a:off x="828853" y="1383312"/>
            <a:ext cx="4800000" cy="420000"/>
          </a:xfrm>
          <a:prstGeom prst="rect">
            <a:avLst/>
          </a:prstGeom>
          <a:noFill/>
        </p:spPr>
        <p:txBody>
          <a:bodyPr wrap="square" anchor="ctr" lIns="0" tIns="0" rIns="0" bIns="0"/>
          <a:lstStyle/>
          <a:p>
            <a:pPr algn="l">
              <a:spcBef>
                <a:spcPts val="0"/>
              </a:spcBef>
              <a:spcAft>
                <a:spcPts val="0"/>
              </a:spcAft>
            </a:pPr>
            <a:r>
              <a:rPr sz="1100" b="1" i="0">
                <a:solidFill>
                  <a:srgbClr val="111111"/>
                </a:solidFill>
                <a:latin typeface="Arial"/>
              </a:rPr>
              <a:t>Registry allowed?</a:t>
            </a:r>
            <a:r>
              <a:rPr sz="1000" b="0" i="0">
                <a:solidFill>
                  <a:srgbClr val="5A5A5A"/>
                </a:solidFill>
                <a:latin typeface="Arial"/>
              </a:rPr>
              <a:t>   Image must come from a registry in policy.json</a:t>
            </a:r>
          </a:p>
        </p:txBody>
      </p:sp>
      <p:cxnSp>
        <p:nvCxnSpPr>
          <p:cNvPr id="125" name="Connector 124"/>
          <p:cNvCxnSpPr/>
          <p:nvPr/>
        </p:nvCxnSpPr>
        <p:spPr>
          <a:xfrm>
            <a:off x="568853" y="1723312"/>
            <a:ext cx="0" cy="175000"/>
          </a:xfrm>
          <a:prstGeom prst="line">
            <a:avLst/>
          </a:prstGeom>
          <a:ln w="12700">
            <a:solidFill>
              <a:srgbClr val="D9D9D9"/>
            </a:solidFill>
          </a:ln>
        </p:spPr>
      </p:cxnSp>
      <p:sp>
        <p:nvSpPr>
          <p:cNvPr id="126" name="Oval 125"/>
          <p:cNvSpPr/>
          <p:nvPr/>
        </p:nvSpPr>
        <p:spPr>
          <a:xfrm>
            <a:off x="428853" y="1898312"/>
            <a:ext cx="280000" cy="28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1000" b="1" i="0">
                <a:solidFill>
                  <a:srgbClr val="FFFFFF"/>
                </a:solidFill>
                <a:latin typeface="Arial"/>
              </a:rPr>
              <a:t>2</a:t>
            </a:r>
          </a:p>
        </p:txBody>
      </p:sp>
      <p:sp>
        <p:nvSpPr>
          <p:cNvPr id="127" name="TextBox 126"/>
          <p:cNvSpPr txBox="1"/>
          <p:nvPr/>
        </p:nvSpPr>
        <p:spPr>
          <a:xfrm>
            <a:off x="828853" y="1838312"/>
            <a:ext cx="4800000" cy="420000"/>
          </a:xfrm>
          <a:prstGeom prst="rect">
            <a:avLst/>
          </a:prstGeom>
          <a:noFill/>
        </p:spPr>
        <p:txBody>
          <a:bodyPr wrap="square" anchor="ctr" lIns="0" tIns="0" rIns="0" bIns="0"/>
          <a:lstStyle/>
          <a:p>
            <a:pPr algn="l">
              <a:spcBef>
                <a:spcPts val="0"/>
              </a:spcBef>
              <a:spcAft>
                <a:spcPts val="0"/>
              </a:spcAft>
            </a:pPr>
            <a:r>
              <a:rPr sz="1100" b="1" i="0">
                <a:solidFill>
                  <a:srgbClr val="111111"/>
                </a:solidFill>
                <a:latin typeface="Arial"/>
              </a:rPr>
              <a:t>Resolve tag → digest</a:t>
            </a:r>
            <a:r>
              <a:rPr sz="1000" b="0" i="0">
                <a:solidFill>
                  <a:srgbClr val="5A5A5A"/>
                </a:solidFill>
                <a:latin typeface="Arial"/>
              </a:rPr>
              <a:t>   :1.0.0 becomes sha256:… before any check</a:t>
            </a:r>
          </a:p>
        </p:txBody>
      </p:sp>
      <p:cxnSp>
        <p:nvCxnSpPr>
          <p:cNvPr id="128" name="Connector 127"/>
          <p:cNvCxnSpPr/>
          <p:nvPr/>
        </p:nvCxnSpPr>
        <p:spPr>
          <a:xfrm>
            <a:off x="568853" y="2178312"/>
            <a:ext cx="0" cy="175000"/>
          </a:xfrm>
          <a:prstGeom prst="line">
            <a:avLst/>
          </a:prstGeom>
          <a:ln w="12700">
            <a:solidFill>
              <a:srgbClr val="D9D9D9"/>
            </a:solidFill>
          </a:ln>
        </p:spPr>
      </p:cxnSp>
      <p:sp>
        <p:nvSpPr>
          <p:cNvPr id="129" name="Oval 128"/>
          <p:cNvSpPr/>
          <p:nvPr/>
        </p:nvSpPr>
        <p:spPr>
          <a:xfrm>
            <a:off x="428853" y="2353312"/>
            <a:ext cx="280000" cy="28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1000" b="1" i="0">
                <a:solidFill>
                  <a:srgbClr val="FFFFFF"/>
                </a:solidFill>
                <a:latin typeface="Arial"/>
              </a:rPr>
              <a:t>3</a:t>
            </a:r>
          </a:p>
        </p:txBody>
      </p:sp>
      <p:sp>
        <p:nvSpPr>
          <p:cNvPr id="130" name="TextBox 129"/>
          <p:cNvSpPr txBox="1"/>
          <p:nvPr/>
        </p:nvSpPr>
        <p:spPr>
          <a:xfrm>
            <a:off x="828853" y="2293312"/>
            <a:ext cx="4800000" cy="420000"/>
          </a:xfrm>
          <a:prstGeom prst="rect">
            <a:avLst/>
          </a:prstGeom>
          <a:noFill/>
        </p:spPr>
        <p:txBody>
          <a:bodyPr wrap="square" anchor="ctr" lIns="0" tIns="0" rIns="0" bIns="0"/>
          <a:lstStyle/>
          <a:p>
            <a:pPr algn="l">
              <a:spcBef>
                <a:spcPts val="0"/>
              </a:spcBef>
              <a:spcAft>
                <a:spcPts val="0"/>
              </a:spcAft>
            </a:pPr>
            <a:r>
              <a:rPr sz="1100" b="1" i="0">
                <a:solidFill>
                  <a:srgbClr val="111111"/>
                </a:solidFill>
                <a:latin typeface="Arial"/>
              </a:rPr>
              <a:t>cosign verify</a:t>
            </a:r>
            <a:r>
              <a:rPr sz="1000" b="0" i="0">
                <a:solidFill>
                  <a:srgbClr val="5A5A5A"/>
                </a:solidFill>
                <a:latin typeface="Arial"/>
              </a:rPr>
              <a:t>   Signature checked against trusted/cosign.pub, with a timeout</a:t>
            </a:r>
          </a:p>
        </p:txBody>
      </p:sp>
      <p:cxnSp>
        <p:nvCxnSpPr>
          <p:cNvPr id="131" name="Connector 130"/>
          <p:cNvCxnSpPr/>
          <p:nvPr/>
        </p:nvCxnSpPr>
        <p:spPr>
          <a:xfrm>
            <a:off x="568853" y="2633312"/>
            <a:ext cx="0" cy="175000"/>
          </a:xfrm>
          <a:prstGeom prst="line">
            <a:avLst/>
          </a:prstGeom>
          <a:ln w="12700">
            <a:solidFill>
              <a:srgbClr val="D9D9D9"/>
            </a:solidFill>
          </a:ln>
        </p:spPr>
      </p:cxnSp>
      <p:sp>
        <p:nvSpPr>
          <p:cNvPr id="132" name="Oval 131"/>
          <p:cNvSpPr/>
          <p:nvPr/>
        </p:nvSpPr>
        <p:spPr>
          <a:xfrm>
            <a:off x="428853" y="2808312"/>
            <a:ext cx="280000" cy="28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1000" b="1" i="0">
                <a:solidFill>
                  <a:srgbClr val="FFFFFF"/>
                </a:solidFill>
                <a:latin typeface="Arial"/>
              </a:rPr>
              <a:t>4</a:t>
            </a:r>
          </a:p>
        </p:txBody>
      </p:sp>
      <p:sp>
        <p:nvSpPr>
          <p:cNvPr id="133" name="TextBox 132"/>
          <p:cNvSpPr txBox="1"/>
          <p:nvPr/>
        </p:nvSpPr>
        <p:spPr>
          <a:xfrm>
            <a:off x="828853" y="2748312"/>
            <a:ext cx="4800000" cy="420000"/>
          </a:xfrm>
          <a:prstGeom prst="rect">
            <a:avLst/>
          </a:prstGeom>
          <a:noFill/>
        </p:spPr>
        <p:txBody>
          <a:bodyPr wrap="square" anchor="ctr" lIns="0" tIns="0" rIns="0" bIns="0"/>
          <a:lstStyle/>
          <a:p>
            <a:pPr algn="l">
              <a:spcBef>
                <a:spcPts val="0"/>
              </a:spcBef>
              <a:spcAft>
                <a:spcPts val="0"/>
              </a:spcAft>
            </a:pPr>
            <a:r>
              <a:rPr sz="1100" b="1" i="0">
                <a:solidFill>
                  <a:srgbClr val="111111"/>
                </a:solidFill>
                <a:latin typeface="Arial"/>
              </a:rPr>
              <a:t>Digest double-check</a:t>
            </a:r>
            <a:r>
              <a:rPr sz="1000" b="0" i="0">
                <a:solidFill>
                  <a:srgbClr val="5A5A5A"/>
                </a:solidFill>
                <a:latin typeface="Arial"/>
              </a:rPr>
              <a:t>   Signed payload digest must equal the resolved digest</a:t>
            </a:r>
          </a:p>
        </p:txBody>
      </p:sp>
      <p:cxnSp>
        <p:nvCxnSpPr>
          <p:cNvPr id="134" name="Connector 133"/>
          <p:cNvCxnSpPr/>
          <p:nvPr/>
        </p:nvCxnSpPr>
        <p:spPr>
          <a:xfrm>
            <a:off x="568853" y="3088312"/>
            <a:ext cx="0" cy="175000"/>
          </a:xfrm>
          <a:prstGeom prst="line">
            <a:avLst/>
          </a:prstGeom>
          <a:ln w="12700">
            <a:solidFill>
              <a:srgbClr val="D9D9D9"/>
            </a:solidFill>
          </a:ln>
        </p:spPr>
      </p:cxnSp>
      <p:sp>
        <p:nvSpPr>
          <p:cNvPr id="135" name="Oval 134"/>
          <p:cNvSpPr/>
          <p:nvPr/>
        </p:nvSpPr>
        <p:spPr>
          <a:xfrm>
            <a:off x="428853" y="3263312"/>
            <a:ext cx="280000" cy="28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1000" b="1" i="0">
                <a:solidFill>
                  <a:srgbClr val="FFFFFF"/>
                </a:solidFill>
                <a:latin typeface="Arial"/>
              </a:rPr>
              <a:t>5</a:t>
            </a:r>
          </a:p>
        </p:txBody>
      </p:sp>
      <p:sp>
        <p:nvSpPr>
          <p:cNvPr id="136" name="TextBox 135"/>
          <p:cNvSpPr txBox="1"/>
          <p:nvPr/>
        </p:nvSpPr>
        <p:spPr>
          <a:xfrm>
            <a:off x="828853" y="3203312"/>
            <a:ext cx="4800000" cy="420000"/>
          </a:xfrm>
          <a:prstGeom prst="rect">
            <a:avLst/>
          </a:prstGeom>
          <a:noFill/>
        </p:spPr>
        <p:txBody>
          <a:bodyPr wrap="square" anchor="ctr" lIns="0" tIns="0" rIns="0" bIns="0"/>
          <a:lstStyle/>
          <a:p>
            <a:pPr algn="l">
              <a:spcBef>
                <a:spcPts val="0"/>
              </a:spcBef>
              <a:spcAft>
                <a:spcPts val="0"/>
              </a:spcAft>
            </a:pPr>
            <a:r>
              <a:rPr sz="1100" b="1" i="0">
                <a:solidFill>
                  <a:srgbClr val="111111"/>
                </a:solidFill>
                <a:latin typeface="Arial"/>
              </a:rPr>
              <a:t>Policy gate</a:t>
            </a:r>
            <a:r>
              <a:rPr sz="1000" b="0" i="0">
                <a:solidFill>
                  <a:srgbClr val="5A5A5A"/>
                </a:solidFill>
                <a:latin typeface="Arial"/>
              </a:rPr>
              <a:t>   ACCEPT only if verified is True</a:t>
            </a:r>
          </a:p>
        </p:txBody>
      </p:sp>
      <p:cxnSp>
        <p:nvCxnSpPr>
          <p:cNvPr id="137" name="Connector 136"/>
          <p:cNvCxnSpPr/>
          <p:nvPr/>
        </p:nvCxnSpPr>
        <p:spPr>
          <a:xfrm>
            <a:off x="568853" y="3543312"/>
            <a:ext cx="0" cy="175000"/>
          </a:xfrm>
          <a:prstGeom prst="line">
            <a:avLst/>
          </a:prstGeom>
          <a:ln w="12700">
            <a:solidFill>
              <a:srgbClr val="D9D9D9"/>
            </a:solidFill>
          </a:ln>
        </p:spPr>
      </p:cxnSp>
      <p:sp>
        <p:nvSpPr>
          <p:cNvPr id="138" name="Oval 137"/>
          <p:cNvSpPr/>
          <p:nvPr/>
        </p:nvSpPr>
        <p:spPr>
          <a:xfrm>
            <a:off x="428853" y="3718312"/>
            <a:ext cx="280000" cy="28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1000" b="1" i="0">
                <a:solidFill>
                  <a:srgbClr val="FFFFFF"/>
                </a:solidFill>
                <a:latin typeface="Arial"/>
              </a:rPr>
              <a:t>6</a:t>
            </a:r>
          </a:p>
        </p:txBody>
      </p:sp>
      <p:sp>
        <p:nvSpPr>
          <p:cNvPr id="139" name="TextBox 138"/>
          <p:cNvSpPr txBox="1"/>
          <p:nvPr/>
        </p:nvSpPr>
        <p:spPr>
          <a:xfrm>
            <a:off x="828853" y="3658312"/>
            <a:ext cx="4800000" cy="420000"/>
          </a:xfrm>
          <a:prstGeom prst="rect">
            <a:avLst/>
          </a:prstGeom>
          <a:noFill/>
        </p:spPr>
        <p:txBody>
          <a:bodyPr wrap="square" anchor="ctr" lIns="0" tIns="0" rIns="0" bIns="0"/>
          <a:lstStyle/>
          <a:p>
            <a:pPr algn="l">
              <a:spcBef>
                <a:spcPts val="0"/>
              </a:spcBef>
              <a:spcAft>
                <a:spcPts val="0"/>
              </a:spcAft>
            </a:pPr>
            <a:r>
              <a:rPr sz="1100" b="1" i="0">
                <a:solidFill>
                  <a:srgbClr val="111111"/>
                </a:solidFill>
                <a:latin typeface="Arial"/>
              </a:rPr>
              <a:t>Record and deploy</a:t>
            </a:r>
            <a:r>
              <a:rPr sz="1000" b="0" i="0">
                <a:solidFill>
                  <a:srgbClr val="5A5A5A"/>
                </a:solidFill>
                <a:latin typeface="Arial"/>
              </a:rPr>
              <a:t>   Audit entry written; deploy image@sha256 digest</a:t>
            </a:r>
          </a:p>
        </p:txBody>
      </p:sp>
      <p:sp>
        <p:nvSpPr>
          <p:cNvPr id="140" name="Rounded Rectangle 139"/>
          <p:cNvSpPr/>
          <p:nvPr/>
        </p:nvSpPr>
        <p:spPr>
          <a:xfrm>
            <a:off x="5878853" y="1353312"/>
            <a:ext cx="2834500" cy="2700000"/>
          </a:xfrm>
          <a:prstGeom prst="roundRect">
            <a:avLst>
              <a:gd name="adj" fmla="val 4000"/>
            </a:avLst>
          </a:prstGeom>
          <a:solidFill>
            <a:srgbClr val="FBECED"/>
          </a:solidFill>
          <a:ln>
            <a:no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41" name="TextBox 140"/>
          <p:cNvSpPr txBox="1"/>
          <p:nvPr/>
        </p:nvSpPr>
        <p:spPr>
          <a:xfrm>
            <a:off x="6018853" y="1463312"/>
            <a:ext cx="2554500" cy="250000"/>
          </a:xfrm>
          <a:prstGeom prst="rect">
            <a:avLst/>
          </a:prstGeom>
          <a:noFill/>
        </p:spPr>
        <p:txBody>
          <a:bodyPr wrap="square" anchor="t" lIns="0" tIns="0" rIns="0" bIns="0"/>
          <a:lstStyle/>
          <a:p>
            <a:pPr algn="l">
              <a:spcBef>
                <a:spcPts val="0"/>
              </a:spcBef>
              <a:spcAft>
                <a:spcPts val="0"/>
              </a:spcAft>
            </a:pPr>
            <a:r>
              <a:rPr sz="1200" b="1" i="0">
                <a:solidFill>
                  <a:srgbClr val="A42530"/>
                </a:solidFill>
                <a:latin typeface="Arial"/>
              </a:rPr>
              <a:t>Fail closed by design</a:t>
            </a:r>
          </a:p>
        </p:txBody>
      </p:sp>
      <p:sp>
        <p:nvSpPr>
          <p:cNvPr id="142" name="TextBox 141"/>
          <p:cNvSpPr txBox="1"/>
          <p:nvPr/>
        </p:nvSpPr>
        <p:spPr>
          <a:xfrm>
            <a:off x="6018853" y="1773312"/>
            <a:ext cx="2554500" cy="380000"/>
          </a:xfrm>
          <a:prstGeom prst="rect">
            <a:avLst/>
          </a:prstGeom>
          <a:noFill/>
        </p:spPr>
        <p:txBody>
          <a:bodyPr wrap="square" anchor="t" lIns="0" tIns="0" rIns="0" bIns="0"/>
          <a:lstStyle/>
          <a:p>
            <a:pPr algn="l">
              <a:spcBef>
                <a:spcPts val="0"/>
              </a:spcBef>
              <a:spcAft>
                <a:spcPts val="0"/>
              </a:spcAft>
            </a:pPr>
            <a:r>
              <a:rPr sz="1000" b="1" i="0">
                <a:solidFill>
                  <a:srgbClr val="111111"/>
                </a:solidFill>
                <a:latin typeface="Arial"/>
              </a:rPr>
              <a:t>Cosign missing or crashes</a:t>
            </a:r>
          </a:p>
          <a:p>
            <a:pPr algn="l">
              <a:spcBef>
                <a:spcPts val="100"/>
              </a:spcBef>
              <a:spcAft>
                <a:spcPts val="0"/>
              </a:spcAft>
            </a:pPr>
            <a:r>
              <a:rPr sz="800" b="0" i="0">
                <a:solidFill>
                  <a:srgbClr val="A42530"/>
                </a:solidFill>
                <a:latin typeface="Courier New"/>
              </a:rPr>
              <a:t>REJECT · VERIFICATION_TOOL_ERROR</a:t>
            </a:r>
          </a:p>
        </p:txBody>
      </p:sp>
      <p:sp>
        <p:nvSpPr>
          <p:cNvPr id="143" name="TextBox 142"/>
          <p:cNvSpPr txBox="1"/>
          <p:nvPr/>
        </p:nvSpPr>
        <p:spPr>
          <a:xfrm>
            <a:off x="6018853" y="2148312"/>
            <a:ext cx="2554500" cy="380000"/>
          </a:xfrm>
          <a:prstGeom prst="rect">
            <a:avLst/>
          </a:prstGeom>
          <a:noFill/>
        </p:spPr>
        <p:txBody>
          <a:bodyPr wrap="square" anchor="t" lIns="0" tIns="0" rIns="0" bIns="0"/>
          <a:lstStyle/>
          <a:p>
            <a:pPr algn="l">
              <a:spcBef>
                <a:spcPts val="0"/>
              </a:spcBef>
              <a:spcAft>
                <a:spcPts val="0"/>
              </a:spcAft>
            </a:pPr>
            <a:r>
              <a:rPr sz="1000" b="1" i="0">
                <a:solidFill>
                  <a:srgbClr val="111111"/>
                </a:solidFill>
                <a:latin typeface="Arial"/>
              </a:rPr>
              <a:t>Registry unreachable</a:t>
            </a:r>
          </a:p>
          <a:p>
            <a:pPr algn="l">
              <a:spcBef>
                <a:spcPts val="100"/>
              </a:spcBef>
              <a:spcAft>
                <a:spcPts val="0"/>
              </a:spcAft>
            </a:pPr>
            <a:r>
              <a:rPr sz="800" b="0" i="0">
                <a:solidFill>
                  <a:srgbClr val="A42530"/>
                </a:solidFill>
                <a:latin typeface="Courier New"/>
              </a:rPr>
              <a:t>REJECT · IMAGE_RESOLUTION_FAILED</a:t>
            </a:r>
          </a:p>
        </p:txBody>
      </p:sp>
      <p:sp>
        <p:nvSpPr>
          <p:cNvPr id="144" name="TextBox 143"/>
          <p:cNvSpPr txBox="1"/>
          <p:nvPr/>
        </p:nvSpPr>
        <p:spPr>
          <a:xfrm>
            <a:off x="6018853" y="2523312"/>
            <a:ext cx="2554500" cy="380000"/>
          </a:xfrm>
          <a:prstGeom prst="rect">
            <a:avLst/>
          </a:prstGeom>
          <a:noFill/>
        </p:spPr>
        <p:txBody>
          <a:bodyPr wrap="square" anchor="t" lIns="0" tIns="0" rIns="0" bIns="0"/>
          <a:lstStyle/>
          <a:p>
            <a:pPr algn="l">
              <a:spcBef>
                <a:spcPts val="0"/>
              </a:spcBef>
              <a:spcAft>
                <a:spcPts val="0"/>
              </a:spcAft>
            </a:pPr>
            <a:r>
              <a:rPr sz="1000" b="1" i="0">
                <a:solidFill>
                  <a:srgbClr val="111111"/>
                </a:solidFill>
                <a:latin typeface="Arial"/>
              </a:rPr>
              <a:t>No signature attached</a:t>
            </a:r>
          </a:p>
          <a:p>
            <a:pPr algn="l">
              <a:spcBef>
                <a:spcPts val="100"/>
              </a:spcBef>
              <a:spcAft>
                <a:spcPts val="0"/>
              </a:spcAft>
            </a:pPr>
            <a:r>
              <a:rPr sz="800" b="0" i="0">
                <a:solidFill>
                  <a:srgbClr val="A42530"/>
                </a:solidFill>
                <a:latin typeface="Courier New"/>
              </a:rPr>
              <a:t>REJECT · NO_SIGNATURE</a:t>
            </a:r>
          </a:p>
        </p:txBody>
      </p:sp>
      <p:sp>
        <p:nvSpPr>
          <p:cNvPr id="145" name="TextBox 144"/>
          <p:cNvSpPr txBox="1"/>
          <p:nvPr/>
        </p:nvSpPr>
        <p:spPr>
          <a:xfrm>
            <a:off x="6018853" y="2898312"/>
            <a:ext cx="2554500" cy="380000"/>
          </a:xfrm>
          <a:prstGeom prst="rect">
            <a:avLst/>
          </a:prstGeom>
          <a:noFill/>
        </p:spPr>
        <p:txBody>
          <a:bodyPr wrap="square" anchor="t" lIns="0" tIns="0" rIns="0" bIns="0"/>
          <a:lstStyle/>
          <a:p>
            <a:pPr algn="l">
              <a:spcBef>
                <a:spcPts val="0"/>
              </a:spcBef>
              <a:spcAft>
                <a:spcPts val="0"/>
              </a:spcAft>
            </a:pPr>
            <a:r>
              <a:rPr sz="1000" b="1" i="0">
                <a:solidFill>
                  <a:srgbClr val="111111"/>
                </a:solidFill>
                <a:latin typeface="Arial"/>
              </a:rPr>
              <a:t>Signed by another key</a:t>
            </a:r>
          </a:p>
          <a:p>
            <a:pPr algn="l">
              <a:spcBef>
                <a:spcPts val="100"/>
              </a:spcBef>
              <a:spcAft>
                <a:spcPts val="0"/>
              </a:spcAft>
            </a:pPr>
            <a:r>
              <a:rPr sz="800" b="0" i="0">
                <a:solidFill>
                  <a:srgbClr val="A42530"/>
                </a:solidFill>
                <a:latin typeface="Courier New"/>
              </a:rPr>
              <a:t>REJECT · UNTRUSTED_SIGNER</a:t>
            </a:r>
          </a:p>
        </p:txBody>
      </p:sp>
      <p:sp>
        <p:nvSpPr>
          <p:cNvPr id="146" name="TextBox 145"/>
          <p:cNvSpPr txBox="1"/>
          <p:nvPr/>
        </p:nvSpPr>
        <p:spPr>
          <a:xfrm>
            <a:off x="6018853" y="3273312"/>
            <a:ext cx="2554500" cy="380000"/>
          </a:xfrm>
          <a:prstGeom prst="rect">
            <a:avLst/>
          </a:prstGeom>
          <a:noFill/>
        </p:spPr>
        <p:txBody>
          <a:bodyPr wrap="square" anchor="t" lIns="0" tIns="0" rIns="0" bIns="0"/>
          <a:lstStyle/>
          <a:p>
            <a:pPr algn="l">
              <a:spcBef>
                <a:spcPts val="0"/>
              </a:spcBef>
              <a:spcAft>
                <a:spcPts val="0"/>
              </a:spcAft>
            </a:pPr>
            <a:r>
              <a:rPr sz="1000" b="1" i="0">
                <a:solidFill>
                  <a:srgbClr val="111111"/>
                </a:solidFill>
                <a:latin typeface="Arial"/>
              </a:rPr>
              <a:t>Signature for another digest</a:t>
            </a:r>
          </a:p>
          <a:p>
            <a:pPr algn="l">
              <a:spcBef>
                <a:spcPts val="100"/>
              </a:spcBef>
              <a:spcAft>
                <a:spcPts val="0"/>
              </a:spcAft>
            </a:pPr>
            <a:r>
              <a:rPr sz="800" b="0" i="0">
                <a:solidFill>
                  <a:srgbClr val="A42530"/>
                </a:solidFill>
                <a:latin typeface="Courier New"/>
              </a:rPr>
              <a:t>REJECT · SIGNATURE_IMAGE_MISMATCH</a:t>
            </a:r>
          </a:p>
        </p:txBody>
      </p:sp>
      <p:sp>
        <p:nvSpPr>
          <p:cNvPr id="147" name="TextBox 146"/>
          <p:cNvSpPr txBox="1"/>
          <p:nvPr/>
        </p:nvSpPr>
        <p:spPr>
          <a:xfrm>
            <a:off x="6018853" y="3648312"/>
            <a:ext cx="2554500" cy="380000"/>
          </a:xfrm>
          <a:prstGeom prst="rect">
            <a:avLst/>
          </a:prstGeom>
          <a:noFill/>
        </p:spPr>
        <p:txBody>
          <a:bodyPr wrap="square" anchor="t" lIns="0" tIns="0" rIns="0" bIns="0"/>
          <a:lstStyle/>
          <a:p>
            <a:pPr algn="l">
              <a:spcBef>
                <a:spcPts val="0"/>
              </a:spcBef>
              <a:spcAft>
                <a:spcPts val="0"/>
              </a:spcAft>
            </a:pPr>
            <a:r>
              <a:rPr sz="1000" b="1" i="0">
                <a:solidFill>
                  <a:srgbClr val="111111"/>
                </a:solidFill>
                <a:latin typeface="Arial"/>
              </a:rPr>
              <a:t>Registry not on allow-list</a:t>
            </a:r>
          </a:p>
          <a:p>
            <a:pPr algn="l">
              <a:spcBef>
                <a:spcPts val="100"/>
              </a:spcBef>
              <a:spcAft>
                <a:spcPts val="0"/>
              </a:spcAft>
            </a:pPr>
            <a:r>
              <a:rPr sz="800" b="0" i="0">
                <a:solidFill>
                  <a:srgbClr val="A42530"/>
                </a:solidFill>
                <a:latin typeface="Courier New"/>
              </a:rPr>
              <a:t>REJECT · REGISTRY_NOT_ALLOWED</a:t>
            </a:r>
          </a:p>
        </p:txBody>
      </p:sp>
      <p:sp>
        <p:nvSpPr>
          <p:cNvPr id="148" name="Rounded Rectangle 147"/>
          <p:cNvSpPr/>
          <p:nvPr/>
        </p:nvSpPr>
        <p:spPr>
          <a:xfrm>
            <a:off x="428853" y="4153312"/>
            <a:ext cx="8284500" cy="310000"/>
          </a:xfrm>
          <a:prstGeom prst="roundRect">
            <a:avLst>
              <a:gd name="adj" fmla="val 19000"/>
            </a:avLst>
          </a:prstGeom>
          <a:solidFill>
            <a:srgbClr val="FBECED"/>
          </a:solidFill>
          <a:ln w="12700">
            <a:solidFill>
              <a:srgbClr val="A42530"/>
            </a:solidFill>
          </a:ln>
          <a:effectLst/>
        </p:spPr>
        <p:txBody>
          <a:bodyPr rtlCol="0" anchor="ctr" wrap="square" lIns="109725" tIns="18275" rIns="91425" bIns="18275"/>
          <a:lstStyle/>
          <a:p>
            <a:pPr algn="l">
              <a:spcBef>
                <a:spcPts val="0"/>
              </a:spcBef>
              <a:spcAft>
                <a:spcPts val="0"/>
              </a:spcAft>
            </a:pPr>
            <a:r>
              <a:rPr sz="1000" b="1" i="0">
                <a:solidFill>
                  <a:srgbClr val="A42530"/>
                </a:solidFill>
                <a:latin typeface="Arial"/>
              </a:rPr>
              <a:t>Default answer is REJECT: </a:t>
            </a:r>
            <a:r>
              <a:rPr sz="1000" b="0" i="0">
                <a:solidFill>
                  <a:srgbClr val="2B2F36"/>
                </a:solidFill>
                <a:latin typeface="Arial"/>
              </a:rPr>
              <a:t>ACCEPT is returned only when every step succeeds and verified is True.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14"/>
          <p:cNvPicPr preferRelativeResize="0"/>
          <p:nvPr/>
        </p:nvPicPr>
        <p:blipFill rotWithShape="1">
          <a:blip r:embed="rId2">
            <a:alphaModFix/>
          </a:blip>
          <a:srcRect b="0" l="0" r="10" t="0"/>
          <a:stretch/>
        </p:blipFill>
        <p:spPr>
          <a:xfrm>
            <a:off x="145399" y="106185"/>
            <a:ext cx="1737300" cy="531600"/>
          </a:xfrm>
          <a:prstGeom prst="rect">
            <a:avLst/>
          </a:prstGeom>
          <a:noFill/>
          <a:ln>
            <a:noFill/>
          </a:ln>
        </p:spPr>
      </p:pic>
      <p:pic>
        <p:nvPicPr>
          <p:cNvPr id="115" name="Google Shape;115;p14"/>
          <p:cNvPicPr preferRelativeResize="0"/>
          <p:nvPr/>
        </p:nvPicPr>
        <p:blipFill rotWithShape="1">
          <a:blip r:embed="rId3">
            <a:alphaModFix/>
          </a:blip>
          <a:srcRect b="720" l="0" r="10" t="710"/>
          <a:stretch/>
        </p:blipFill>
        <p:spPr>
          <a:xfrm>
            <a:off x="8343443" y="169593"/>
            <a:ext cx="546300" cy="404700"/>
          </a:xfrm>
          <a:prstGeom prst="rect">
            <a:avLst/>
          </a:prstGeom>
          <a:noFill/>
          <a:ln>
            <a:noFill/>
          </a:ln>
        </p:spPr>
      </p:pic>
      <p:grpSp>
        <p:nvGrpSpPr>
          <p:cNvPr id="116" name="Google Shape;116;p14"/>
          <p:cNvGrpSpPr/>
          <p:nvPr/>
        </p:nvGrpSpPr>
        <p:grpSpPr>
          <a:xfrm>
            <a:off x="0" y="4560570"/>
            <a:ext cx="9144010" cy="592800"/>
            <a:chOff x="0" y="4560570"/>
            <a:chExt cx="9144010" cy="592800"/>
          </a:xfrm>
        </p:grpSpPr>
        <p:sp>
          <p:nvSpPr>
            <p:cNvPr id="117" name="Google Shape;117;p14"/>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14"/>
          <p:cNvSpPr txBox="1"/>
          <p:nvPr/>
        </p:nvSpPr>
        <p:spPr>
          <a:xfrm>
            <a:off x="428853" y="676656"/>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DECISION OUTCOMES</a:t>
            </a:r>
            <a:endParaRPr/>
          </a:p>
          <a:p>
            <a:pPr indent="0" lvl="0" marL="0" marR="0" rtl="0" algn="l">
              <a:lnSpc>
                <a:spcPct val="100000"/>
              </a:lnSpc>
              <a:spcBef>
                <a:spcPts val="300"/>
              </a:spcBef>
              <a:spcAft>
                <a:spcPts val="0"/>
              </a:spcAft>
              <a:buClr>
                <a:srgbClr val="000000"/>
              </a:buClr>
              <a:buSzPts val="2400"/>
              <a:buFont typeface="Arial"/>
              <a:buNone/>
            </a:pPr>
            <a:r>
              <a:rPr b="1" i="0" lang="en-US" sz="2400" u="none" cap="none" strike="noStrike">
                <a:solidFill>
                  <a:srgbClr val="111111"/>
                </a:solidFill>
                <a:latin typeface="Arial"/>
                <a:ea typeface="Arial"/>
                <a:cs typeface="Arial"/>
                <a:sym typeface="Arial"/>
              </a:rPr>
              <a:t>Seven reason codes explain every decision</a:t>
            </a:r>
            <a:endParaRPr/>
          </a:p>
        </p:txBody>
      </p:sp>
      <p:sp>
        <p:nvSpPr>
          <p:cNvPr id="121" name="Google Shape;121;p14"/>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122" name="Google Shape;122;p14"/>
          <p:cNvSpPr txBox="1"/>
          <p:nvPr/>
        </p:nvSpPr>
        <p:spPr>
          <a:xfrm>
            <a:off x="7324287"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6</a:t>
            </a:r>
            <a:endParaRPr/>
          </a:p>
        </p:txBody>
      </p:sp>
      <p:sp>
        <p:nvSpPr>
          <p:cNvPr id="123" name="TextBox 122"/>
          <p:cNvSpPr txBox="1"/>
          <p:nvPr/>
        </p:nvSpPr>
        <p:spPr>
          <a:xfrm>
            <a:off x="488853" y="1353312"/>
            <a:ext cx="2000000" cy="170000"/>
          </a:xfrm>
          <a:prstGeom prst="rect">
            <a:avLst/>
          </a:prstGeom>
          <a:noFill/>
        </p:spPr>
        <p:txBody>
          <a:bodyPr wrap="square" anchor="t" lIns="0" tIns="0" rIns="0" bIns="0"/>
          <a:lstStyle/>
          <a:p>
            <a:pPr algn="l">
              <a:spcBef>
                <a:spcPts val="0"/>
              </a:spcBef>
              <a:spcAft>
                <a:spcPts val="0"/>
              </a:spcAft>
            </a:pPr>
            <a:r>
              <a:rPr sz="800" b="1" i="0">
                <a:solidFill>
                  <a:srgbClr val="5A5A5A"/>
                </a:solidFill>
                <a:latin typeface="Arial"/>
              </a:rPr>
              <a:t>REASON CODE</a:t>
            </a:r>
          </a:p>
        </p:txBody>
      </p:sp>
      <p:sp>
        <p:nvSpPr>
          <p:cNvPr id="124" name="TextBox 123"/>
          <p:cNvSpPr txBox="1"/>
          <p:nvPr/>
        </p:nvSpPr>
        <p:spPr>
          <a:xfrm>
            <a:off x="3338853" y="1353312"/>
            <a:ext cx="2000000" cy="170000"/>
          </a:xfrm>
          <a:prstGeom prst="rect">
            <a:avLst/>
          </a:prstGeom>
          <a:noFill/>
        </p:spPr>
        <p:txBody>
          <a:bodyPr wrap="square" anchor="t" lIns="0" tIns="0" rIns="0" bIns="0"/>
          <a:lstStyle/>
          <a:p>
            <a:pPr algn="l">
              <a:spcBef>
                <a:spcPts val="0"/>
              </a:spcBef>
              <a:spcAft>
                <a:spcPts val="0"/>
              </a:spcAft>
            </a:pPr>
            <a:r>
              <a:rPr sz="800" b="1" i="0">
                <a:solidFill>
                  <a:srgbClr val="5A5A5A"/>
                </a:solidFill>
                <a:latin typeface="Arial"/>
              </a:rPr>
              <a:t>MEANING</a:t>
            </a:r>
          </a:p>
        </p:txBody>
      </p:sp>
      <p:sp>
        <p:nvSpPr>
          <p:cNvPr id="125" name="TextBox 124"/>
          <p:cNvSpPr txBox="1"/>
          <p:nvPr/>
        </p:nvSpPr>
        <p:spPr>
          <a:xfrm>
            <a:off x="7713353" y="1353312"/>
            <a:ext cx="2000000" cy="170000"/>
          </a:xfrm>
          <a:prstGeom prst="rect">
            <a:avLst/>
          </a:prstGeom>
          <a:noFill/>
        </p:spPr>
        <p:txBody>
          <a:bodyPr wrap="square" anchor="t" lIns="0" tIns="0" rIns="0" bIns="0"/>
          <a:lstStyle/>
          <a:p>
            <a:pPr algn="l">
              <a:spcBef>
                <a:spcPts val="0"/>
              </a:spcBef>
              <a:spcAft>
                <a:spcPts val="0"/>
              </a:spcAft>
            </a:pPr>
            <a:r>
              <a:rPr sz="800" b="1" i="0">
                <a:solidFill>
                  <a:srgbClr val="5A5A5A"/>
                </a:solidFill>
                <a:latin typeface="Arial"/>
              </a:rPr>
              <a:t>DECISION</a:t>
            </a:r>
          </a:p>
        </p:txBody>
      </p:sp>
      <p:sp>
        <p:nvSpPr>
          <p:cNvPr id="126" name="Rounded Rectangle 125"/>
          <p:cNvSpPr/>
          <p:nvPr/>
        </p:nvSpPr>
        <p:spPr>
          <a:xfrm>
            <a:off x="428853" y="1583312"/>
            <a:ext cx="8284500" cy="345000"/>
          </a:xfrm>
          <a:prstGeom prst="roundRect">
            <a:avLst>
              <a:gd name="adj" fmla="val 15000"/>
            </a:avLst>
          </a:prstGeom>
          <a:solidFill>
            <a:srgbClr val="FBECED"/>
          </a:solidFill>
          <a:ln w="9525">
            <a:solidFill>
              <a:srgbClr val="A42530"/>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27" name="TextBox 126"/>
          <p:cNvSpPr txBox="1"/>
          <p:nvPr/>
        </p:nvSpPr>
        <p:spPr>
          <a:xfrm>
            <a:off x="538853" y="1583312"/>
            <a:ext cx="2750000" cy="345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Courier New"/>
              </a:rPr>
              <a:t>SIGNATURE_VERIFIED</a:t>
            </a:r>
          </a:p>
        </p:txBody>
      </p:sp>
      <p:sp>
        <p:nvSpPr>
          <p:cNvPr id="128" name="TextBox 127"/>
          <p:cNvSpPr txBox="1"/>
          <p:nvPr/>
        </p:nvSpPr>
        <p:spPr>
          <a:xfrm>
            <a:off x="3278853" y="1583312"/>
            <a:ext cx="4300000" cy="345000"/>
          </a:xfrm>
          <a:prstGeom prst="rect">
            <a:avLst/>
          </a:prstGeom>
          <a:noFill/>
        </p:spPr>
        <p:txBody>
          <a:bodyPr wrap="square" anchor="ctr" lIns="0" tIns="0" rIns="0" bIns="0"/>
          <a:lstStyle/>
          <a:p>
            <a:pPr algn="l">
              <a:spcBef>
                <a:spcPts val="0"/>
              </a:spcBef>
              <a:spcAft>
                <a:spcPts val="0"/>
              </a:spcAft>
            </a:pPr>
            <a:r>
              <a:rPr sz="1000" b="0" i="0">
                <a:solidFill>
                  <a:srgbClr val="2B2F36"/>
                </a:solidFill>
                <a:latin typeface="Arial"/>
              </a:rPr>
              <a:t>Valid signature from the trusted key for the resolved digest</a:t>
            </a:r>
          </a:p>
        </p:txBody>
      </p:sp>
      <p:sp>
        <p:nvSpPr>
          <p:cNvPr id="129" name="Rounded Rectangle 128"/>
          <p:cNvSpPr/>
          <p:nvPr/>
        </p:nvSpPr>
        <p:spPr>
          <a:xfrm>
            <a:off x="7713353" y="1638312"/>
            <a:ext cx="920000" cy="235000"/>
          </a:xfrm>
          <a:prstGeom prst="roundRect">
            <a:avLst>
              <a:gd name="adj" fmla="val 30000"/>
            </a:avLst>
          </a:prstGeom>
          <a:solidFill>
            <a:srgbClr val="2B2F36"/>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ACCEPT</a:t>
            </a:r>
          </a:p>
        </p:txBody>
      </p:sp>
      <p:sp>
        <p:nvSpPr>
          <p:cNvPr id="130" name="Rounded Rectangle 129"/>
          <p:cNvSpPr/>
          <p:nvPr/>
        </p:nvSpPr>
        <p:spPr>
          <a:xfrm>
            <a:off x="428853" y="1968312"/>
            <a:ext cx="8284500" cy="345000"/>
          </a:xfrm>
          <a:prstGeom prst="roundRect">
            <a:avLst>
              <a:gd name="adj" fmla="val 15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1" name="TextBox 130"/>
          <p:cNvSpPr txBox="1"/>
          <p:nvPr/>
        </p:nvSpPr>
        <p:spPr>
          <a:xfrm>
            <a:off x="538853" y="1968312"/>
            <a:ext cx="2750000" cy="345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Courier New"/>
              </a:rPr>
              <a:t>NO_SIGNATURE</a:t>
            </a:r>
          </a:p>
        </p:txBody>
      </p:sp>
      <p:sp>
        <p:nvSpPr>
          <p:cNvPr id="132" name="TextBox 131"/>
          <p:cNvSpPr txBox="1"/>
          <p:nvPr/>
        </p:nvSpPr>
        <p:spPr>
          <a:xfrm>
            <a:off x="3278853" y="1968312"/>
            <a:ext cx="4300000" cy="345000"/>
          </a:xfrm>
          <a:prstGeom prst="rect">
            <a:avLst/>
          </a:prstGeom>
          <a:noFill/>
        </p:spPr>
        <p:txBody>
          <a:bodyPr wrap="square" anchor="ctr" lIns="0" tIns="0" rIns="0" bIns="0"/>
          <a:lstStyle/>
          <a:p>
            <a:pPr algn="l">
              <a:spcBef>
                <a:spcPts val="0"/>
              </a:spcBef>
              <a:spcAft>
                <a:spcPts val="0"/>
              </a:spcAft>
            </a:pPr>
            <a:r>
              <a:rPr sz="1000" b="0" i="0">
                <a:solidFill>
                  <a:srgbClr val="2B2F36"/>
                </a:solidFill>
                <a:latin typeface="Arial"/>
              </a:rPr>
              <a:t>No Cosign signature is attached to the image</a:t>
            </a:r>
          </a:p>
        </p:txBody>
      </p:sp>
      <p:sp>
        <p:nvSpPr>
          <p:cNvPr id="133" name="Rounded Rectangle 132"/>
          <p:cNvSpPr/>
          <p:nvPr/>
        </p:nvSpPr>
        <p:spPr>
          <a:xfrm>
            <a:off x="7713353" y="2023312"/>
            <a:ext cx="920000" cy="235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REJECT</a:t>
            </a:r>
          </a:p>
        </p:txBody>
      </p:sp>
      <p:sp>
        <p:nvSpPr>
          <p:cNvPr id="134" name="Rounded Rectangle 133"/>
          <p:cNvSpPr/>
          <p:nvPr/>
        </p:nvSpPr>
        <p:spPr>
          <a:xfrm>
            <a:off x="428853" y="2353312"/>
            <a:ext cx="8284500" cy="345000"/>
          </a:xfrm>
          <a:prstGeom prst="roundRect">
            <a:avLst>
              <a:gd name="adj" fmla="val 15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5" name="TextBox 134"/>
          <p:cNvSpPr txBox="1"/>
          <p:nvPr/>
        </p:nvSpPr>
        <p:spPr>
          <a:xfrm>
            <a:off x="538853" y="2353312"/>
            <a:ext cx="2750000" cy="345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Courier New"/>
              </a:rPr>
              <a:t>UNTRUSTED_SIGNER</a:t>
            </a:r>
          </a:p>
        </p:txBody>
      </p:sp>
      <p:sp>
        <p:nvSpPr>
          <p:cNvPr id="136" name="TextBox 135"/>
          <p:cNvSpPr txBox="1"/>
          <p:nvPr/>
        </p:nvSpPr>
        <p:spPr>
          <a:xfrm>
            <a:off x="3278853" y="2353312"/>
            <a:ext cx="4300000" cy="345000"/>
          </a:xfrm>
          <a:prstGeom prst="rect">
            <a:avLst/>
          </a:prstGeom>
          <a:noFill/>
        </p:spPr>
        <p:txBody>
          <a:bodyPr wrap="square" anchor="ctr" lIns="0" tIns="0" rIns="0" bIns="0"/>
          <a:lstStyle/>
          <a:p>
            <a:pPr algn="l">
              <a:spcBef>
                <a:spcPts val="0"/>
              </a:spcBef>
              <a:spcAft>
                <a:spcPts val="0"/>
              </a:spcAft>
            </a:pPr>
            <a:r>
              <a:rPr sz="1000" b="0" i="0">
                <a:solidFill>
                  <a:srgbClr val="2B2F36"/>
                </a:solidFill>
                <a:latin typeface="Arial"/>
              </a:rPr>
              <a:t>A signature exists, but not from a trusted key</a:t>
            </a:r>
          </a:p>
        </p:txBody>
      </p:sp>
      <p:sp>
        <p:nvSpPr>
          <p:cNvPr id="137" name="Rounded Rectangle 136"/>
          <p:cNvSpPr/>
          <p:nvPr/>
        </p:nvSpPr>
        <p:spPr>
          <a:xfrm>
            <a:off x="7713353" y="2408312"/>
            <a:ext cx="920000" cy="235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REJECT</a:t>
            </a:r>
          </a:p>
        </p:txBody>
      </p:sp>
      <p:sp>
        <p:nvSpPr>
          <p:cNvPr id="138" name="Rounded Rectangle 137"/>
          <p:cNvSpPr/>
          <p:nvPr/>
        </p:nvSpPr>
        <p:spPr>
          <a:xfrm>
            <a:off x="428853" y="2738312"/>
            <a:ext cx="8284500" cy="345000"/>
          </a:xfrm>
          <a:prstGeom prst="roundRect">
            <a:avLst>
              <a:gd name="adj" fmla="val 15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9" name="TextBox 138"/>
          <p:cNvSpPr txBox="1"/>
          <p:nvPr/>
        </p:nvSpPr>
        <p:spPr>
          <a:xfrm>
            <a:off x="538853" y="2738312"/>
            <a:ext cx="2750000" cy="345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Courier New"/>
              </a:rPr>
              <a:t>SIGNATURE_IMAGE_MISMATCH</a:t>
            </a:r>
          </a:p>
        </p:txBody>
      </p:sp>
      <p:sp>
        <p:nvSpPr>
          <p:cNvPr id="140" name="TextBox 139"/>
          <p:cNvSpPr txBox="1"/>
          <p:nvPr/>
        </p:nvSpPr>
        <p:spPr>
          <a:xfrm>
            <a:off x="3278853" y="2738312"/>
            <a:ext cx="4300000" cy="345000"/>
          </a:xfrm>
          <a:prstGeom prst="rect">
            <a:avLst/>
          </a:prstGeom>
          <a:noFill/>
        </p:spPr>
        <p:txBody>
          <a:bodyPr wrap="square" anchor="ctr" lIns="0" tIns="0" rIns="0" bIns="0"/>
          <a:lstStyle/>
          <a:p>
            <a:pPr algn="l">
              <a:spcBef>
                <a:spcPts val="0"/>
              </a:spcBef>
              <a:spcAft>
                <a:spcPts val="0"/>
              </a:spcAft>
            </a:pPr>
            <a:r>
              <a:rPr sz="1000" b="0" i="0">
                <a:solidFill>
                  <a:srgbClr val="2B2F36"/>
                </a:solidFill>
                <a:latin typeface="Arial"/>
              </a:rPr>
              <a:t>Signed payload names a different digest than the image being deployed</a:t>
            </a:r>
          </a:p>
        </p:txBody>
      </p:sp>
      <p:sp>
        <p:nvSpPr>
          <p:cNvPr id="141" name="Rounded Rectangle 140"/>
          <p:cNvSpPr/>
          <p:nvPr/>
        </p:nvSpPr>
        <p:spPr>
          <a:xfrm>
            <a:off x="7713353" y="2793312"/>
            <a:ext cx="920000" cy="235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REJECT</a:t>
            </a:r>
          </a:p>
        </p:txBody>
      </p:sp>
      <p:sp>
        <p:nvSpPr>
          <p:cNvPr id="142" name="Rounded Rectangle 141"/>
          <p:cNvSpPr/>
          <p:nvPr/>
        </p:nvSpPr>
        <p:spPr>
          <a:xfrm>
            <a:off x="428853" y="3123312"/>
            <a:ext cx="8284500" cy="345000"/>
          </a:xfrm>
          <a:prstGeom prst="roundRect">
            <a:avLst>
              <a:gd name="adj" fmla="val 15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43" name="TextBox 142"/>
          <p:cNvSpPr txBox="1"/>
          <p:nvPr/>
        </p:nvSpPr>
        <p:spPr>
          <a:xfrm>
            <a:off x="538853" y="3123312"/>
            <a:ext cx="2750000" cy="345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Courier New"/>
              </a:rPr>
              <a:t>IMAGE_RESOLUTION_FAILED</a:t>
            </a:r>
          </a:p>
        </p:txBody>
      </p:sp>
      <p:sp>
        <p:nvSpPr>
          <p:cNvPr id="144" name="TextBox 143"/>
          <p:cNvSpPr txBox="1"/>
          <p:nvPr/>
        </p:nvSpPr>
        <p:spPr>
          <a:xfrm>
            <a:off x="3278853" y="3123312"/>
            <a:ext cx="4300000" cy="345000"/>
          </a:xfrm>
          <a:prstGeom prst="rect">
            <a:avLst/>
          </a:prstGeom>
          <a:noFill/>
        </p:spPr>
        <p:txBody>
          <a:bodyPr wrap="square" anchor="ctr" lIns="0" tIns="0" rIns="0" bIns="0"/>
          <a:lstStyle/>
          <a:p>
            <a:pPr algn="l">
              <a:spcBef>
                <a:spcPts val="0"/>
              </a:spcBef>
              <a:spcAft>
                <a:spcPts val="0"/>
              </a:spcAft>
            </a:pPr>
            <a:r>
              <a:rPr sz="1000" b="0" i="0">
                <a:solidFill>
                  <a:srgbClr val="2B2F36"/>
                </a:solidFill>
                <a:latin typeface="Arial"/>
              </a:rPr>
              <a:t>Tag could not be resolved to a digest (missing image or registry down)</a:t>
            </a:r>
          </a:p>
        </p:txBody>
      </p:sp>
      <p:sp>
        <p:nvSpPr>
          <p:cNvPr id="145" name="Rounded Rectangle 144"/>
          <p:cNvSpPr/>
          <p:nvPr/>
        </p:nvSpPr>
        <p:spPr>
          <a:xfrm>
            <a:off x="7713353" y="3178312"/>
            <a:ext cx="920000" cy="235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REJECT</a:t>
            </a:r>
          </a:p>
        </p:txBody>
      </p:sp>
      <p:sp>
        <p:nvSpPr>
          <p:cNvPr id="146" name="Rounded Rectangle 145"/>
          <p:cNvSpPr/>
          <p:nvPr/>
        </p:nvSpPr>
        <p:spPr>
          <a:xfrm>
            <a:off x="428853" y="3508312"/>
            <a:ext cx="8284500" cy="345000"/>
          </a:xfrm>
          <a:prstGeom prst="roundRect">
            <a:avLst>
              <a:gd name="adj" fmla="val 15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47" name="TextBox 146"/>
          <p:cNvSpPr txBox="1"/>
          <p:nvPr/>
        </p:nvSpPr>
        <p:spPr>
          <a:xfrm>
            <a:off x="538853" y="3508312"/>
            <a:ext cx="2750000" cy="345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Courier New"/>
              </a:rPr>
              <a:t>VERIFICATION_TOOL_ERROR</a:t>
            </a:r>
          </a:p>
        </p:txBody>
      </p:sp>
      <p:sp>
        <p:nvSpPr>
          <p:cNvPr id="148" name="TextBox 147"/>
          <p:cNvSpPr txBox="1"/>
          <p:nvPr/>
        </p:nvSpPr>
        <p:spPr>
          <a:xfrm>
            <a:off x="3278853" y="3508312"/>
            <a:ext cx="4300000" cy="345000"/>
          </a:xfrm>
          <a:prstGeom prst="rect">
            <a:avLst/>
          </a:prstGeom>
          <a:noFill/>
        </p:spPr>
        <p:txBody>
          <a:bodyPr wrap="square" anchor="ctr" lIns="0" tIns="0" rIns="0" bIns="0"/>
          <a:lstStyle/>
          <a:p>
            <a:pPr algn="l">
              <a:spcBef>
                <a:spcPts val="0"/>
              </a:spcBef>
              <a:spcAft>
                <a:spcPts val="0"/>
              </a:spcAft>
            </a:pPr>
            <a:r>
              <a:rPr sz="1000" b="0" i="0">
                <a:solidFill>
                  <a:srgbClr val="2B2F36"/>
                </a:solidFill>
                <a:latin typeface="Arial"/>
              </a:rPr>
              <a:t>Cosign failed, timed out or returned an unexpected result</a:t>
            </a:r>
          </a:p>
        </p:txBody>
      </p:sp>
      <p:sp>
        <p:nvSpPr>
          <p:cNvPr id="149" name="Rounded Rectangle 148"/>
          <p:cNvSpPr/>
          <p:nvPr/>
        </p:nvSpPr>
        <p:spPr>
          <a:xfrm>
            <a:off x="7713353" y="3563312"/>
            <a:ext cx="920000" cy="235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REJECT</a:t>
            </a:r>
          </a:p>
        </p:txBody>
      </p:sp>
      <p:sp>
        <p:nvSpPr>
          <p:cNvPr id="150" name="Rounded Rectangle 149"/>
          <p:cNvSpPr/>
          <p:nvPr/>
        </p:nvSpPr>
        <p:spPr>
          <a:xfrm>
            <a:off x="428853" y="3893312"/>
            <a:ext cx="8284500" cy="345000"/>
          </a:xfrm>
          <a:prstGeom prst="roundRect">
            <a:avLst>
              <a:gd name="adj" fmla="val 15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51" name="TextBox 150"/>
          <p:cNvSpPr txBox="1"/>
          <p:nvPr/>
        </p:nvSpPr>
        <p:spPr>
          <a:xfrm>
            <a:off x="538853" y="3893312"/>
            <a:ext cx="2750000" cy="345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Courier New"/>
              </a:rPr>
              <a:t>REGISTRY_NOT_ALLOWED</a:t>
            </a:r>
          </a:p>
        </p:txBody>
      </p:sp>
      <p:sp>
        <p:nvSpPr>
          <p:cNvPr id="152" name="TextBox 151"/>
          <p:cNvSpPr txBox="1"/>
          <p:nvPr/>
        </p:nvSpPr>
        <p:spPr>
          <a:xfrm>
            <a:off x="3278853" y="3893312"/>
            <a:ext cx="4300000" cy="345000"/>
          </a:xfrm>
          <a:prstGeom prst="rect">
            <a:avLst/>
          </a:prstGeom>
          <a:noFill/>
        </p:spPr>
        <p:txBody>
          <a:bodyPr wrap="square" anchor="ctr" lIns="0" tIns="0" rIns="0" bIns="0"/>
          <a:lstStyle/>
          <a:p>
            <a:pPr algn="l">
              <a:spcBef>
                <a:spcPts val="0"/>
              </a:spcBef>
              <a:spcAft>
                <a:spcPts val="0"/>
              </a:spcAft>
            </a:pPr>
            <a:r>
              <a:rPr sz="1000" b="0" i="0">
                <a:solidFill>
                  <a:srgbClr val="2B2F36"/>
                </a:solidFill>
                <a:latin typeface="Arial"/>
              </a:rPr>
              <a:t>Image is from a registry outside the policy allow-list</a:t>
            </a:r>
          </a:p>
        </p:txBody>
      </p:sp>
      <p:sp>
        <p:nvSpPr>
          <p:cNvPr id="153" name="Rounded Rectangle 152"/>
          <p:cNvSpPr/>
          <p:nvPr/>
        </p:nvSpPr>
        <p:spPr>
          <a:xfrm>
            <a:off x="7713353" y="3948312"/>
            <a:ext cx="920000" cy="235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REJECT</a:t>
            </a:r>
          </a:p>
        </p:txBody>
      </p:sp>
      <p:sp>
        <p:nvSpPr>
          <p:cNvPr id="154" name="Rounded Rectangle 153"/>
          <p:cNvSpPr/>
          <p:nvPr/>
        </p:nvSpPr>
        <p:spPr>
          <a:xfrm>
            <a:off x="428853" y="4338312"/>
            <a:ext cx="8284500" cy="310000"/>
          </a:xfrm>
          <a:prstGeom prst="roundRect">
            <a:avLst>
              <a:gd name="adj" fmla="val 19000"/>
            </a:avLst>
          </a:prstGeom>
          <a:solidFill>
            <a:srgbClr val="FBECED"/>
          </a:solidFill>
          <a:ln w="12700">
            <a:solidFill>
              <a:srgbClr val="A42530"/>
            </a:solidFill>
          </a:ln>
          <a:effectLst/>
        </p:spPr>
        <p:txBody>
          <a:bodyPr rtlCol="0" anchor="ctr" wrap="square" lIns="109725" tIns="18275" rIns="91425" bIns="18275"/>
          <a:lstStyle/>
          <a:p>
            <a:pPr algn="l">
              <a:spcBef>
                <a:spcPts val="0"/>
              </a:spcBef>
              <a:spcAft>
                <a:spcPts val="0"/>
              </a:spcAft>
            </a:pPr>
            <a:r>
              <a:rPr sz="1000" b="1" i="0">
                <a:solidFill>
                  <a:srgbClr val="A42530"/>
                </a:solidFill>
                <a:latin typeface="Arial"/>
              </a:rPr>
              <a:t>Traceable: </a:t>
            </a:r>
            <a:r>
              <a:rPr sz="1000" b="0" i="0">
                <a:solidFill>
                  <a:srgbClr val="2B2F36"/>
                </a:solidFill>
                <a:latin typeface="Arial"/>
              </a:rPr>
              <a:t>every code is written to the audit log together with the image digest and key fingerprint.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14"/>
          <p:cNvPicPr preferRelativeResize="0"/>
          <p:nvPr/>
        </p:nvPicPr>
        <p:blipFill rotWithShape="1">
          <a:blip r:embed="rId2">
            <a:alphaModFix/>
          </a:blip>
          <a:srcRect b="0" l="0" r="10" t="0"/>
          <a:stretch/>
        </p:blipFill>
        <p:spPr>
          <a:xfrm>
            <a:off x="145399" y="106185"/>
            <a:ext cx="1737300" cy="531600"/>
          </a:xfrm>
          <a:prstGeom prst="rect">
            <a:avLst/>
          </a:prstGeom>
          <a:noFill/>
          <a:ln>
            <a:noFill/>
          </a:ln>
        </p:spPr>
      </p:pic>
      <p:pic>
        <p:nvPicPr>
          <p:cNvPr id="115" name="Google Shape;115;p14"/>
          <p:cNvPicPr preferRelativeResize="0"/>
          <p:nvPr/>
        </p:nvPicPr>
        <p:blipFill rotWithShape="1">
          <a:blip r:embed="rId3">
            <a:alphaModFix/>
          </a:blip>
          <a:srcRect b="720" l="0" r="10" t="710"/>
          <a:stretch/>
        </p:blipFill>
        <p:spPr>
          <a:xfrm>
            <a:off x="8343443" y="169593"/>
            <a:ext cx="546300" cy="404700"/>
          </a:xfrm>
          <a:prstGeom prst="rect">
            <a:avLst/>
          </a:prstGeom>
          <a:noFill/>
          <a:ln>
            <a:noFill/>
          </a:ln>
        </p:spPr>
      </p:pic>
      <p:grpSp>
        <p:nvGrpSpPr>
          <p:cNvPr id="116" name="Google Shape;116;p14"/>
          <p:cNvGrpSpPr/>
          <p:nvPr/>
        </p:nvGrpSpPr>
        <p:grpSpPr>
          <a:xfrm>
            <a:off x="0" y="4560570"/>
            <a:ext cx="9144010" cy="592800"/>
            <a:chOff x="0" y="4560570"/>
            <a:chExt cx="9144010" cy="592800"/>
          </a:xfrm>
        </p:grpSpPr>
        <p:sp>
          <p:nvSpPr>
            <p:cNvPr id="117" name="Google Shape;117;p14"/>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14"/>
          <p:cNvSpPr txBox="1"/>
          <p:nvPr/>
        </p:nvSpPr>
        <p:spPr>
          <a:xfrm>
            <a:off x="428853" y="676656"/>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TECHNOLOGY STACK</a:t>
            </a:r>
            <a:endParaRPr/>
          </a:p>
          <a:p>
            <a:pPr indent="0" lvl="0" marL="0" marR="0" rtl="0" algn="l">
              <a:lnSpc>
                <a:spcPct val="100000"/>
              </a:lnSpc>
              <a:spcBef>
                <a:spcPts val="300"/>
              </a:spcBef>
              <a:spcAft>
                <a:spcPts val="0"/>
              </a:spcAft>
              <a:buClr>
                <a:srgbClr val="000000"/>
              </a:buClr>
              <a:buSzPts val="2400"/>
              <a:buFont typeface="Arial"/>
              <a:buNone/>
            </a:pPr>
            <a:r>
              <a:rPr b="1" i="0" lang="en-US" sz="2400" u="none" cap="none" strike="noStrike">
                <a:solidFill>
                  <a:srgbClr val="111111"/>
                </a:solidFill>
                <a:latin typeface="Arial"/>
                <a:ea typeface="Arial"/>
                <a:cs typeface="Arial"/>
                <a:sym typeface="Arial"/>
              </a:rPr>
              <a:t>Local-first tooling with zero cloud cost</a:t>
            </a:r>
            <a:endParaRPr/>
          </a:p>
        </p:txBody>
      </p:sp>
      <p:sp>
        <p:nvSpPr>
          <p:cNvPr id="121" name="Google Shape;121;p14"/>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122" name="Google Shape;122;p14"/>
          <p:cNvSpPr txBox="1"/>
          <p:nvPr/>
        </p:nvSpPr>
        <p:spPr>
          <a:xfrm>
            <a:off x="7324287"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7</a:t>
            </a:r>
            <a:endParaRPr/>
          </a:p>
        </p:txBody>
      </p:sp>
      <p:sp>
        <p:nvSpPr>
          <p:cNvPr id="123" name="Rounded Rectangle 122"/>
          <p:cNvSpPr/>
          <p:nvPr/>
        </p:nvSpPr>
        <p:spPr>
          <a:xfrm>
            <a:off x="428853" y="1353312"/>
            <a:ext cx="2194500" cy="2700000"/>
          </a:xfrm>
          <a:prstGeom prst="roundRect">
            <a:avLst>
              <a:gd name="adj" fmla="val 4000"/>
            </a:avLst>
          </a:prstGeom>
          <a:solidFill>
            <a:srgbClr val="A42530"/>
          </a:solidFill>
          <a:ln>
            <a:noFill/>
          </a:ln>
          <a:effectLst/>
        </p:spPr>
        <p:txBody>
          <a:bodyPr rtlCol="0" anchor="ctr" wrap="square" lIns="109725" tIns="45700" rIns="109725" bIns="45700"/>
          <a:lstStyle/>
          <a:p>
            <a:pPr algn="ctr">
              <a:spcBef>
                <a:spcPts val="0"/>
              </a:spcBef>
              <a:spcAft>
                <a:spcPts val="0"/>
              </a:spcAft>
            </a:pPr>
            <a:r>
              <a:rPr sz="5400" b="1" i="0">
                <a:solidFill>
                  <a:srgbClr val="FFFFFF"/>
                </a:solidFill>
                <a:latin typeface="Arial"/>
              </a:rPr>
              <a:t>0</a:t>
            </a:r>
          </a:p>
          <a:p>
            <a:pPr algn="ctr">
              <a:spcBef>
                <a:spcPts val="0"/>
              </a:spcBef>
              <a:spcAft>
                <a:spcPts val="0"/>
              </a:spcAft>
            </a:pPr>
            <a:r>
              <a:rPr sz="1200" b="1" i="0">
                <a:solidFill>
                  <a:srgbClr val="FFFFFF"/>
                </a:solidFill>
                <a:latin typeface="Arial"/>
              </a:rPr>
              <a:t>cloud cost</a:t>
            </a:r>
          </a:p>
          <a:p>
            <a:pPr algn="ctr">
              <a:spcBef>
                <a:spcPts val="600"/>
              </a:spcBef>
              <a:spcAft>
                <a:spcPts val="0"/>
              </a:spcAft>
            </a:pPr>
            <a:r>
              <a:rPr sz="900" b="0" i="0">
                <a:solidFill>
                  <a:srgbClr val="F6D5D8"/>
                </a:solidFill>
                <a:latin typeface="Arial"/>
              </a:rPr>
              <a:t>Docker, registry, Cosign and the gate all run locally</a:t>
            </a:r>
          </a:p>
        </p:txBody>
      </p:sp>
      <p:sp>
        <p:nvSpPr>
          <p:cNvPr id="124" name="Rounded Rectangle 123"/>
          <p:cNvSpPr/>
          <p:nvPr/>
        </p:nvSpPr>
        <p:spPr>
          <a:xfrm>
            <a:off x="2773353" y="1353312"/>
            <a:ext cx="2895000" cy="826666"/>
          </a:xfrm>
          <a:prstGeom prst="roundRect">
            <a:avLst>
              <a:gd name="adj" fmla="val 7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25" name="TextBox 124"/>
          <p:cNvSpPr txBox="1"/>
          <p:nvPr/>
        </p:nvSpPr>
        <p:spPr>
          <a:xfrm>
            <a:off x="2903353" y="1443312"/>
            <a:ext cx="2635000" cy="676666"/>
          </a:xfrm>
          <a:prstGeom prst="rect">
            <a:avLst/>
          </a:prstGeom>
          <a:noFill/>
        </p:spPr>
        <p:txBody>
          <a:bodyPr wrap="square" anchor="t" lIns="0" tIns="0" rIns="0" bIns="0"/>
          <a:lstStyle/>
          <a:p>
            <a:pPr algn="l">
              <a:spcBef>
                <a:spcPts val="0"/>
              </a:spcBef>
              <a:spcAft>
                <a:spcPts val="0"/>
              </a:spcAft>
            </a:pPr>
            <a:r>
              <a:rPr sz="1100" b="1" i="0">
                <a:solidFill>
                  <a:srgbClr val="111111"/>
                </a:solidFill>
                <a:latin typeface="Arial"/>
              </a:rPr>
              <a:t>Docker 29.8</a:t>
            </a:r>
            <a:r>
              <a:rPr sz="700" b="1" i="0">
                <a:solidFill>
                  <a:srgbClr val="A42530"/>
                </a:solidFill>
                <a:latin typeface="Arial"/>
              </a:rPr>
              <a:t>   CORE</a:t>
            </a:r>
          </a:p>
          <a:p>
            <a:pPr algn="l">
              <a:spcBef>
                <a:spcPts val="300"/>
              </a:spcBef>
              <a:spcAft>
                <a:spcPts val="0"/>
              </a:spcAft>
            </a:pPr>
            <a:r>
              <a:rPr sz="900" b="0" i="0">
                <a:solidFill>
                  <a:srgbClr val="5A5A5A"/>
                </a:solidFill>
                <a:latin typeface="Arial"/>
              </a:rPr>
              <a:t>Builds the sample-app image and runs the local registry</a:t>
            </a:r>
          </a:p>
        </p:txBody>
      </p:sp>
      <p:sp>
        <p:nvSpPr>
          <p:cNvPr id="126" name="Rounded Rectangle 125"/>
          <p:cNvSpPr/>
          <p:nvPr/>
        </p:nvSpPr>
        <p:spPr>
          <a:xfrm>
            <a:off x="5818353" y="1353312"/>
            <a:ext cx="2895000" cy="826666"/>
          </a:xfrm>
          <a:prstGeom prst="roundRect">
            <a:avLst>
              <a:gd name="adj" fmla="val 7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27" name="TextBox 126"/>
          <p:cNvSpPr txBox="1"/>
          <p:nvPr/>
        </p:nvSpPr>
        <p:spPr>
          <a:xfrm>
            <a:off x="5948353" y="1443312"/>
            <a:ext cx="2635000" cy="676666"/>
          </a:xfrm>
          <a:prstGeom prst="rect">
            <a:avLst/>
          </a:prstGeom>
          <a:noFill/>
        </p:spPr>
        <p:txBody>
          <a:bodyPr wrap="square" anchor="t" lIns="0" tIns="0" rIns="0" bIns="0"/>
          <a:lstStyle/>
          <a:p>
            <a:pPr algn="l">
              <a:spcBef>
                <a:spcPts val="0"/>
              </a:spcBef>
              <a:spcAft>
                <a:spcPts val="0"/>
              </a:spcAft>
            </a:pPr>
            <a:r>
              <a:rPr sz="1100" b="1" i="0">
                <a:solidFill>
                  <a:srgbClr val="111111"/>
                </a:solidFill>
                <a:latin typeface="Arial"/>
              </a:rPr>
              <a:t>Cosign v3.1.3</a:t>
            </a:r>
            <a:r>
              <a:rPr sz="700" b="1" i="0">
                <a:solidFill>
                  <a:srgbClr val="A42530"/>
                </a:solidFill>
                <a:latin typeface="Arial"/>
              </a:rPr>
              <a:t>   CORE</a:t>
            </a:r>
          </a:p>
          <a:p>
            <a:pPr algn="l">
              <a:spcBef>
                <a:spcPts val="300"/>
              </a:spcBef>
              <a:spcAft>
                <a:spcPts val="0"/>
              </a:spcAft>
            </a:pPr>
            <a:r>
              <a:rPr sz="900" b="0" i="0">
                <a:solidFill>
                  <a:srgbClr val="5A5A5A"/>
                </a:solidFill>
                <a:latin typeface="Arial"/>
              </a:rPr>
              <a:t>Sigstore signing and verification; signature stored as OCI referrer / bundle</a:t>
            </a:r>
          </a:p>
        </p:txBody>
      </p:sp>
      <p:sp>
        <p:nvSpPr>
          <p:cNvPr id="128" name="Rounded Rectangle 127"/>
          <p:cNvSpPr/>
          <p:nvPr/>
        </p:nvSpPr>
        <p:spPr>
          <a:xfrm>
            <a:off x="2773353" y="2289978"/>
            <a:ext cx="2895000" cy="826666"/>
          </a:xfrm>
          <a:prstGeom prst="roundRect">
            <a:avLst>
              <a:gd name="adj" fmla="val 7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29" name="TextBox 128"/>
          <p:cNvSpPr txBox="1"/>
          <p:nvPr/>
        </p:nvSpPr>
        <p:spPr>
          <a:xfrm>
            <a:off x="2903353" y="2379978"/>
            <a:ext cx="2635000" cy="676666"/>
          </a:xfrm>
          <a:prstGeom prst="rect">
            <a:avLst/>
          </a:prstGeom>
          <a:noFill/>
        </p:spPr>
        <p:txBody>
          <a:bodyPr wrap="square" anchor="t" lIns="0" tIns="0" rIns="0" bIns="0"/>
          <a:lstStyle/>
          <a:p>
            <a:pPr algn="l">
              <a:spcBef>
                <a:spcPts val="0"/>
              </a:spcBef>
              <a:spcAft>
                <a:spcPts val="0"/>
              </a:spcAft>
            </a:pPr>
            <a:r>
              <a:rPr sz="1100" b="1" i="0">
                <a:solidFill>
                  <a:srgbClr val="111111"/>
                </a:solidFill>
                <a:latin typeface="Arial"/>
              </a:rPr>
              <a:t>Python 3 (stdlib only)</a:t>
            </a:r>
            <a:r>
              <a:rPr sz="700" b="1" i="0">
                <a:solidFill>
                  <a:srgbClr val="A42530"/>
                </a:solidFill>
                <a:latin typeface="Arial"/>
              </a:rPr>
              <a:t>   CORE</a:t>
            </a:r>
          </a:p>
          <a:p>
            <a:pPr algn="l">
              <a:spcBef>
                <a:spcPts val="300"/>
              </a:spcBef>
              <a:spcAft>
                <a:spcPts val="0"/>
              </a:spcAft>
            </a:pPr>
            <a:r>
              <a:rPr sz="900" b="0" i="0">
                <a:solidFill>
                  <a:srgbClr val="5A5A5A"/>
                </a:solidFill>
                <a:latin typeface="Arial"/>
              </a:rPr>
              <a:t>verifier, policy, audit and report modules; no third-party packages</a:t>
            </a:r>
          </a:p>
        </p:txBody>
      </p:sp>
      <p:sp>
        <p:nvSpPr>
          <p:cNvPr id="130" name="Rounded Rectangle 129"/>
          <p:cNvSpPr/>
          <p:nvPr/>
        </p:nvSpPr>
        <p:spPr>
          <a:xfrm>
            <a:off x="5818353" y="2289978"/>
            <a:ext cx="2895000" cy="826666"/>
          </a:xfrm>
          <a:prstGeom prst="roundRect">
            <a:avLst>
              <a:gd name="adj" fmla="val 7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1" name="TextBox 130"/>
          <p:cNvSpPr txBox="1"/>
          <p:nvPr/>
        </p:nvSpPr>
        <p:spPr>
          <a:xfrm>
            <a:off x="5948353" y="2379978"/>
            <a:ext cx="2635000" cy="676666"/>
          </a:xfrm>
          <a:prstGeom prst="rect">
            <a:avLst/>
          </a:prstGeom>
          <a:noFill/>
        </p:spPr>
        <p:txBody>
          <a:bodyPr wrap="square" anchor="t" lIns="0" tIns="0" rIns="0" bIns="0"/>
          <a:lstStyle/>
          <a:p>
            <a:pPr algn="l">
              <a:spcBef>
                <a:spcPts val="0"/>
              </a:spcBef>
              <a:spcAft>
                <a:spcPts val="0"/>
              </a:spcAft>
            </a:pPr>
            <a:r>
              <a:rPr sz="1100" b="1" i="0">
                <a:solidFill>
                  <a:srgbClr val="111111"/>
                </a:solidFill>
                <a:latin typeface="Arial"/>
              </a:rPr>
              <a:t>registry:2</a:t>
            </a:r>
            <a:r>
              <a:rPr sz="700" b="1" i="0">
                <a:solidFill>
                  <a:srgbClr val="A42530"/>
                </a:solidFill>
                <a:latin typeface="Arial"/>
              </a:rPr>
              <a:t>   CORE</a:t>
            </a:r>
          </a:p>
          <a:p>
            <a:pPr algn="l">
              <a:spcBef>
                <a:spcPts val="300"/>
              </a:spcBef>
              <a:spcAft>
                <a:spcPts val="0"/>
              </a:spcAft>
            </a:pPr>
            <a:r>
              <a:rPr sz="900" b="0" i="0">
                <a:solidFill>
                  <a:srgbClr val="5A5A5A"/>
                </a:solidFill>
                <a:latin typeface="Arial"/>
              </a:rPr>
              <a:t>Local OCI registry at localhost:5001 for images and signatures</a:t>
            </a:r>
          </a:p>
        </p:txBody>
      </p:sp>
      <p:sp>
        <p:nvSpPr>
          <p:cNvPr id="132" name="Rounded Rectangle 131"/>
          <p:cNvSpPr/>
          <p:nvPr/>
        </p:nvSpPr>
        <p:spPr>
          <a:xfrm>
            <a:off x="2773353" y="3226644"/>
            <a:ext cx="2895000" cy="826666"/>
          </a:xfrm>
          <a:prstGeom prst="roundRect">
            <a:avLst>
              <a:gd name="adj" fmla="val 7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3" name="TextBox 132"/>
          <p:cNvSpPr txBox="1"/>
          <p:nvPr/>
        </p:nvSpPr>
        <p:spPr>
          <a:xfrm>
            <a:off x="2903353" y="3316644"/>
            <a:ext cx="2635000" cy="676666"/>
          </a:xfrm>
          <a:prstGeom prst="rect">
            <a:avLst/>
          </a:prstGeom>
          <a:noFill/>
        </p:spPr>
        <p:txBody>
          <a:bodyPr wrap="square" anchor="t" lIns="0" tIns="0" rIns="0" bIns="0"/>
          <a:lstStyle/>
          <a:p>
            <a:pPr algn="l">
              <a:spcBef>
                <a:spcPts val="0"/>
              </a:spcBef>
              <a:spcAft>
                <a:spcPts val="0"/>
              </a:spcAft>
            </a:pPr>
            <a:r>
              <a:rPr sz="1100" b="1" i="0">
                <a:solidFill>
                  <a:srgbClr val="111111"/>
                </a:solidFill>
                <a:latin typeface="Arial"/>
              </a:rPr>
              <a:t>kind + Policy Controller</a:t>
            </a:r>
            <a:r>
              <a:rPr sz="700" b="1" i="0">
                <a:solidFill>
                  <a:srgbClr val="2B2F36"/>
                </a:solidFill>
                <a:latin typeface="Arial"/>
              </a:rPr>
              <a:t>   K8S</a:t>
            </a:r>
          </a:p>
          <a:p>
            <a:pPr algn="l">
              <a:spcBef>
                <a:spcPts val="300"/>
              </a:spcBef>
              <a:spcAft>
                <a:spcPts val="0"/>
              </a:spcAft>
            </a:pPr>
            <a:r>
              <a:rPr sz="900" b="0" i="0">
                <a:solidFill>
                  <a:srgbClr val="5A5A5A"/>
                </a:solidFill>
                <a:latin typeface="Arial"/>
              </a:rPr>
              <a:t>Kubernetes admission: only images signed by our key are admitted</a:t>
            </a:r>
          </a:p>
        </p:txBody>
      </p:sp>
      <p:sp>
        <p:nvSpPr>
          <p:cNvPr id="134" name="Rounded Rectangle 133"/>
          <p:cNvSpPr/>
          <p:nvPr/>
        </p:nvSpPr>
        <p:spPr>
          <a:xfrm>
            <a:off x="5818353" y="3226644"/>
            <a:ext cx="2895000" cy="826666"/>
          </a:xfrm>
          <a:prstGeom prst="roundRect">
            <a:avLst>
              <a:gd name="adj" fmla="val 7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5" name="TextBox 134"/>
          <p:cNvSpPr txBox="1"/>
          <p:nvPr/>
        </p:nvSpPr>
        <p:spPr>
          <a:xfrm>
            <a:off x="5948353" y="3316644"/>
            <a:ext cx="2635000" cy="676666"/>
          </a:xfrm>
          <a:prstGeom prst="rect">
            <a:avLst/>
          </a:prstGeom>
          <a:noFill/>
        </p:spPr>
        <p:txBody>
          <a:bodyPr wrap="square" anchor="t" lIns="0" tIns="0" rIns="0" bIns="0"/>
          <a:lstStyle/>
          <a:p>
            <a:pPr algn="l">
              <a:spcBef>
                <a:spcPts val="0"/>
              </a:spcBef>
              <a:spcAft>
                <a:spcPts val="0"/>
              </a:spcAft>
            </a:pPr>
            <a:r>
              <a:rPr sz="1100" b="1" i="0">
                <a:solidFill>
                  <a:srgbClr val="111111"/>
                </a:solidFill>
                <a:latin typeface="Arial"/>
              </a:rPr>
              <a:t>AWS ECR</a:t>
            </a:r>
            <a:r>
              <a:rPr sz="700" b="1" i="0">
                <a:solidFill>
                  <a:srgbClr val="5A5A5A"/>
                </a:solidFill>
                <a:latin typeface="Arial"/>
              </a:rPr>
              <a:t>   OPTIONAL</a:t>
            </a:r>
          </a:p>
          <a:p>
            <a:pPr algn="l">
              <a:spcBef>
                <a:spcPts val="300"/>
              </a:spcBef>
              <a:spcAft>
                <a:spcPts val="0"/>
              </a:spcAft>
            </a:pPr>
            <a:r>
              <a:rPr sz="900" b="0" i="0">
                <a:solidFill>
                  <a:srgbClr val="5A5A5A"/>
                </a:solidFill>
                <a:latin typeface="Arial"/>
              </a:rPr>
              <a:t>Same signing and verification flow against a cloud registry</a:t>
            </a:r>
          </a:p>
        </p:txBody>
      </p:sp>
      <p:sp>
        <p:nvSpPr>
          <p:cNvPr id="136" name="Rounded Rectangle 135"/>
          <p:cNvSpPr/>
          <p:nvPr/>
        </p:nvSpPr>
        <p:spPr>
          <a:xfrm>
            <a:off x="428853" y="4153312"/>
            <a:ext cx="8284500" cy="310000"/>
          </a:xfrm>
          <a:prstGeom prst="roundRect">
            <a:avLst>
              <a:gd name="adj" fmla="val 19000"/>
            </a:avLst>
          </a:prstGeom>
          <a:solidFill>
            <a:srgbClr val="FBECED"/>
          </a:solidFill>
          <a:ln w="12700">
            <a:solidFill>
              <a:srgbClr val="A42530"/>
            </a:solidFill>
          </a:ln>
          <a:effectLst/>
        </p:spPr>
        <p:txBody>
          <a:bodyPr rtlCol="0" anchor="ctr" wrap="square" lIns="109725" tIns="18275" rIns="91425" bIns="18275"/>
          <a:lstStyle/>
          <a:p>
            <a:pPr algn="l">
              <a:spcBef>
                <a:spcPts val="0"/>
              </a:spcBef>
              <a:spcAft>
                <a:spcPts val="0"/>
              </a:spcAft>
            </a:pPr>
            <a:r>
              <a:rPr sz="1000" b="1" i="0">
                <a:solidFill>
                  <a:srgbClr val="A42530"/>
                </a:solidFill>
                <a:latin typeface="Arial"/>
              </a:rPr>
              <a:t>Local-first: </a:t>
            </a:r>
            <a:r>
              <a:rPr sz="1000" b="0" i="0">
                <a:solidFill>
                  <a:srgbClr val="2B2F36"/>
                </a:solidFill>
                <a:latin typeface="Arial"/>
              </a:rPr>
              <a:t>the full sign → verify → deploy loop runs offline; cloud services are optional add-ons.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14"/>
          <p:cNvPicPr preferRelativeResize="0"/>
          <p:nvPr/>
        </p:nvPicPr>
        <p:blipFill rotWithShape="1">
          <a:blip r:embed="rId2">
            <a:alphaModFix/>
          </a:blip>
          <a:srcRect b="0" l="0" r="10" t="0"/>
          <a:stretch/>
        </p:blipFill>
        <p:spPr>
          <a:xfrm>
            <a:off x="145399" y="106185"/>
            <a:ext cx="1737300" cy="531600"/>
          </a:xfrm>
          <a:prstGeom prst="rect">
            <a:avLst/>
          </a:prstGeom>
          <a:noFill/>
          <a:ln>
            <a:noFill/>
          </a:ln>
        </p:spPr>
      </p:pic>
      <p:pic>
        <p:nvPicPr>
          <p:cNvPr id="115" name="Google Shape;115;p14"/>
          <p:cNvPicPr preferRelativeResize="0"/>
          <p:nvPr/>
        </p:nvPicPr>
        <p:blipFill rotWithShape="1">
          <a:blip r:embed="rId3">
            <a:alphaModFix/>
          </a:blip>
          <a:srcRect b="720" l="0" r="10" t="710"/>
          <a:stretch/>
        </p:blipFill>
        <p:spPr>
          <a:xfrm>
            <a:off x="8343443" y="169593"/>
            <a:ext cx="546300" cy="404700"/>
          </a:xfrm>
          <a:prstGeom prst="rect">
            <a:avLst/>
          </a:prstGeom>
          <a:noFill/>
          <a:ln>
            <a:noFill/>
          </a:ln>
        </p:spPr>
      </p:pic>
      <p:grpSp>
        <p:nvGrpSpPr>
          <p:cNvPr id="116" name="Google Shape;116;p14"/>
          <p:cNvGrpSpPr/>
          <p:nvPr/>
        </p:nvGrpSpPr>
        <p:grpSpPr>
          <a:xfrm>
            <a:off x="0" y="4560570"/>
            <a:ext cx="9144010" cy="592800"/>
            <a:chOff x="0" y="4560570"/>
            <a:chExt cx="9144010" cy="592800"/>
          </a:xfrm>
        </p:grpSpPr>
        <p:sp>
          <p:nvSpPr>
            <p:cNvPr id="117" name="Google Shape;117;p14"/>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14"/>
          <p:cNvSpPr txBox="1"/>
          <p:nvPr/>
        </p:nvSpPr>
        <p:spPr>
          <a:xfrm>
            <a:off x="428853" y="676656"/>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KEY MANAGEMENT AND AUDIT</a:t>
            </a:r>
            <a:endParaRPr/>
          </a:p>
          <a:p>
            <a:pPr indent="0" lvl="0" marL="0" marR="0" rtl="0" algn="l">
              <a:lnSpc>
                <a:spcPct val="100000"/>
              </a:lnSpc>
              <a:spcBef>
                <a:spcPts val="300"/>
              </a:spcBef>
              <a:spcAft>
                <a:spcPts val="0"/>
              </a:spcAft>
              <a:buClr>
                <a:srgbClr val="000000"/>
              </a:buClr>
              <a:buSzPts val="2400"/>
              <a:buFont typeface="Arial"/>
              <a:buNone/>
            </a:pPr>
            <a:r>
              <a:rPr b="1" i="0" lang="en-US" sz="2400" u="none" cap="none" strike="noStrike">
                <a:solidFill>
                  <a:srgbClr val="111111"/>
                </a:solidFill>
                <a:latin typeface="Arial"/>
                <a:ea typeface="Arial"/>
                <a:cs typeface="Arial"/>
                <a:sym typeface="Arial"/>
              </a:rPr>
              <a:t>Protect the signer, record every decision</a:t>
            </a:r>
            <a:endParaRPr/>
          </a:p>
        </p:txBody>
      </p:sp>
      <p:sp>
        <p:nvSpPr>
          <p:cNvPr id="121" name="Google Shape;121;p14"/>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122" name="Google Shape;122;p14"/>
          <p:cNvSpPr txBox="1"/>
          <p:nvPr/>
        </p:nvSpPr>
        <p:spPr>
          <a:xfrm>
            <a:off x="7324287"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8</a:t>
            </a:r>
            <a:endParaRPr/>
          </a:p>
        </p:txBody>
      </p:sp>
      <p:sp>
        <p:nvSpPr>
          <p:cNvPr id="123" name="Rounded Rectangle 122"/>
          <p:cNvSpPr/>
          <p:nvPr/>
        </p:nvSpPr>
        <p:spPr>
          <a:xfrm>
            <a:off x="428853" y="1353312"/>
            <a:ext cx="4050000" cy="2700000"/>
          </a:xfrm>
          <a:prstGeom prst="roundRect">
            <a:avLst>
              <a:gd name="adj" fmla="val 4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24" name="TextBox 123"/>
          <p:cNvSpPr txBox="1"/>
          <p:nvPr/>
        </p:nvSpPr>
        <p:spPr>
          <a:xfrm>
            <a:off x="568853" y="1453312"/>
            <a:ext cx="3770000" cy="250000"/>
          </a:xfrm>
          <a:prstGeom prst="rect">
            <a:avLst/>
          </a:prstGeom>
          <a:noFill/>
        </p:spPr>
        <p:txBody>
          <a:bodyPr wrap="square" anchor="t" lIns="0" tIns="0" rIns="0" bIns="0"/>
          <a:lstStyle/>
          <a:p>
            <a:pPr algn="l">
              <a:spcBef>
                <a:spcPts val="0"/>
              </a:spcBef>
              <a:spcAft>
                <a:spcPts val="0"/>
              </a:spcAft>
            </a:pPr>
            <a:r>
              <a:rPr sz="1200" b="1" i="0">
                <a:solidFill>
                  <a:srgbClr val="A42530"/>
                </a:solidFill>
                <a:latin typeface="Arial"/>
              </a:rPr>
              <a:t>Signing keys and policy</a:t>
            </a:r>
          </a:p>
        </p:txBody>
      </p:sp>
      <p:sp>
        <p:nvSpPr>
          <p:cNvPr id="125" name="Oval 124"/>
          <p:cNvSpPr/>
          <p:nvPr/>
        </p:nvSpPr>
        <p:spPr>
          <a:xfrm>
            <a:off x="568853" y="1863312"/>
            <a:ext cx="260000" cy="26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1</a:t>
            </a:r>
          </a:p>
        </p:txBody>
      </p:sp>
      <p:sp>
        <p:nvSpPr>
          <p:cNvPr id="126" name="TextBox 125"/>
          <p:cNvSpPr txBox="1"/>
          <p:nvPr/>
        </p:nvSpPr>
        <p:spPr>
          <a:xfrm>
            <a:off x="948853" y="1803312"/>
            <a:ext cx="3390000" cy="560000"/>
          </a:xfrm>
          <a:prstGeom prst="rect">
            <a:avLst/>
          </a:prstGeom>
          <a:noFill/>
        </p:spPr>
        <p:txBody>
          <a:bodyPr wrap="square" anchor="t" lIns="0" tIns="0" rIns="0" bIns="0"/>
          <a:lstStyle/>
          <a:p>
            <a:pPr algn="l">
              <a:spcBef>
                <a:spcPts val="0"/>
              </a:spcBef>
              <a:spcAft>
                <a:spcPts val="0"/>
              </a:spcAft>
            </a:pPr>
            <a:r>
              <a:rPr sz="1100" b="1" i="0">
                <a:solidFill>
                  <a:srgbClr val="111111"/>
                </a:solidFill>
                <a:latin typeface="Arial"/>
              </a:rPr>
              <a:t>Private key</a:t>
            </a:r>
          </a:p>
          <a:p>
            <a:pPr algn="l">
              <a:spcBef>
                <a:spcPts val="200"/>
              </a:spcBef>
              <a:spcAft>
                <a:spcPts val="0"/>
              </a:spcAft>
            </a:pPr>
            <a:r>
              <a:rPr sz="1000" b="0" i="0">
                <a:solidFill>
                  <a:srgbClr val="5A5A5A"/>
                </a:solidFill>
                <a:latin typeface="Arial"/>
              </a:rPr>
              <a:t>Encrypted cosign.key in ~/.trustdeploy/keys, outside the repo and the image</a:t>
            </a:r>
          </a:p>
        </p:txBody>
      </p:sp>
      <p:sp>
        <p:nvSpPr>
          <p:cNvPr id="127" name="Oval 126"/>
          <p:cNvSpPr/>
          <p:nvPr/>
        </p:nvSpPr>
        <p:spPr>
          <a:xfrm>
            <a:off x="568853" y="2423312"/>
            <a:ext cx="260000" cy="26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2</a:t>
            </a:r>
          </a:p>
        </p:txBody>
      </p:sp>
      <p:sp>
        <p:nvSpPr>
          <p:cNvPr id="128" name="TextBox 127"/>
          <p:cNvSpPr txBox="1"/>
          <p:nvPr/>
        </p:nvSpPr>
        <p:spPr>
          <a:xfrm>
            <a:off x="948853" y="2363312"/>
            <a:ext cx="3390000" cy="560000"/>
          </a:xfrm>
          <a:prstGeom prst="rect">
            <a:avLst/>
          </a:prstGeom>
          <a:noFill/>
        </p:spPr>
        <p:txBody>
          <a:bodyPr wrap="square" anchor="t" lIns="0" tIns="0" rIns="0" bIns="0"/>
          <a:lstStyle/>
          <a:p>
            <a:pPr algn="l">
              <a:spcBef>
                <a:spcPts val="0"/>
              </a:spcBef>
              <a:spcAft>
                <a:spcPts val="0"/>
              </a:spcAft>
            </a:pPr>
            <a:r>
              <a:rPr sz="1100" b="1" i="0">
                <a:solidFill>
                  <a:srgbClr val="111111"/>
                </a:solidFill>
                <a:latin typeface="Arial"/>
              </a:rPr>
              <a:t>Public key</a:t>
            </a:r>
          </a:p>
          <a:p>
            <a:pPr algn="l">
              <a:spcBef>
                <a:spcPts val="200"/>
              </a:spcBef>
              <a:spcAft>
                <a:spcPts val="0"/>
              </a:spcAft>
            </a:pPr>
            <a:r>
              <a:rPr sz="1000" b="0" i="0">
                <a:solidFill>
                  <a:srgbClr val="5A5A5A"/>
                </a:solidFill>
                <a:latin typeface="Arial"/>
              </a:rPr>
              <a:t>trusted/cosign.pub is the only trust anchor the gate uses</a:t>
            </a:r>
          </a:p>
        </p:txBody>
      </p:sp>
      <p:sp>
        <p:nvSpPr>
          <p:cNvPr id="129" name="Oval 128"/>
          <p:cNvSpPr/>
          <p:nvPr/>
        </p:nvSpPr>
        <p:spPr>
          <a:xfrm>
            <a:off x="568853" y="2983312"/>
            <a:ext cx="260000" cy="26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3</a:t>
            </a:r>
          </a:p>
        </p:txBody>
      </p:sp>
      <p:sp>
        <p:nvSpPr>
          <p:cNvPr id="130" name="TextBox 129"/>
          <p:cNvSpPr txBox="1"/>
          <p:nvPr/>
        </p:nvSpPr>
        <p:spPr>
          <a:xfrm>
            <a:off x="948853" y="2923312"/>
            <a:ext cx="3390000" cy="560000"/>
          </a:xfrm>
          <a:prstGeom prst="rect">
            <a:avLst/>
          </a:prstGeom>
          <a:noFill/>
        </p:spPr>
        <p:txBody>
          <a:bodyPr wrap="square" anchor="t" lIns="0" tIns="0" rIns="0" bIns="0"/>
          <a:lstStyle/>
          <a:p>
            <a:pPr algn="l">
              <a:spcBef>
                <a:spcPts val="0"/>
              </a:spcBef>
              <a:spcAft>
                <a:spcPts val="0"/>
              </a:spcAft>
            </a:pPr>
            <a:r>
              <a:rPr sz="1100" b="1" i="0">
                <a:solidFill>
                  <a:srgbClr val="111111"/>
                </a:solidFill>
                <a:latin typeface="Arial"/>
              </a:rPr>
              <a:t>Policy</a:t>
            </a:r>
          </a:p>
          <a:p>
            <a:pPr algn="l">
              <a:spcBef>
                <a:spcPts val="200"/>
              </a:spcBef>
              <a:spcAft>
                <a:spcPts val="0"/>
              </a:spcAft>
            </a:pPr>
            <a:r>
              <a:rPr sz="1000" b="0" i="0">
                <a:solidFill>
                  <a:srgbClr val="5A5A5A"/>
                </a:solidFill>
                <a:latin typeface="Arial"/>
              </a:rPr>
              <a:t>trusted/policy.json: trusted keys, allowed registries, timeout</a:t>
            </a:r>
          </a:p>
        </p:txBody>
      </p:sp>
      <p:sp>
        <p:nvSpPr>
          <p:cNvPr id="131" name="Oval 130"/>
          <p:cNvSpPr/>
          <p:nvPr/>
        </p:nvSpPr>
        <p:spPr>
          <a:xfrm>
            <a:off x="568853" y="3543312"/>
            <a:ext cx="260000" cy="26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4</a:t>
            </a:r>
          </a:p>
        </p:txBody>
      </p:sp>
      <p:sp>
        <p:nvSpPr>
          <p:cNvPr id="132" name="TextBox 131"/>
          <p:cNvSpPr txBox="1"/>
          <p:nvPr/>
        </p:nvSpPr>
        <p:spPr>
          <a:xfrm>
            <a:off x="948853" y="3483312"/>
            <a:ext cx="3390000" cy="560000"/>
          </a:xfrm>
          <a:prstGeom prst="rect">
            <a:avLst/>
          </a:prstGeom>
          <a:noFill/>
        </p:spPr>
        <p:txBody>
          <a:bodyPr wrap="square" anchor="t" lIns="0" tIns="0" rIns="0" bIns="0"/>
          <a:lstStyle/>
          <a:p>
            <a:pPr algn="l">
              <a:spcBef>
                <a:spcPts val="0"/>
              </a:spcBef>
              <a:spcAft>
                <a:spcPts val="0"/>
              </a:spcAft>
            </a:pPr>
            <a:r>
              <a:rPr sz="1100" b="1" i="0">
                <a:solidFill>
                  <a:srgbClr val="111111"/>
                </a:solidFill>
                <a:latin typeface="Arial"/>
              </a:rPr>
              <a:t>Fingerprint</a:t>
            </a:r>
          </a:p>
          <a:p>
            <a:pPr algn="l">
              <a:spcBef>
                <a:spcPts val="200"/>
              </a:spcBef>
              <a:spcAft>
                <a:spcPts val="0"/>
              </a:spcAft>
            </a:pPr>
            <a:r>
              <a:rPr sz="1000" b="0" i="0">
                <a:solidFill>
                  <a:srgbClr val="5A5A5A"/>
                </a:solidFill>
                <a:latin typeface="Arial"/>
              </a:rPr>
              <a:t>SHA-256 key fingerprint stored with every decision</a:t>
            </a:r>
          </a:p>
        </p:txBody>
      </p:sp>
      <p:sp>
        <p:nvSpPr>
          <p:cNvPr id="133" name="Rounded Rectangle 132"/>
          <p:cNvSpPr/>
          <p:nvPr/>
        </p:nvSpPr>
        <p:spPr>
          <a:xfrm>
            <a:off x="4658853" y="1353312"/>
            <a:ext cx="4054500" cy="2700000"/>
          </a:xfrm>
          <a:prstGeom prst="roundRect">
            <a:avLst>
              <a:gd name="adj" fmla="val 4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4" name="TextBox 133"/>
          <p:cNvSpPr txBox="1"/>
          <p:nvPr/>
        </p:nvSpPr>
        <p:spPr>
          <a:xfrm>
            <a:off x="4798853" y="1453312"/>
            <a:ext cx="3774500" cy="420000"/>
          </a:xfrm>
          <a:prstGeom prst="rect">
            <a:avLst/>
          </a:prstGeom>
          <a:noFill/>
        </p:spPr>
        <p:txBody>
          <a:bodyPr wrap="square" anchor="t" lIns="0" tIns="0" rIns="0" bIns="0"/>
          <a:lstStyle/>
          <a:p>
            <a:pPr algn="l">
              <a:spcBef>
                <a:spcPts val="0"/>
              </a:spcBef>
              <a:spcAft>
                <a:spcPts val="0"/>
              </a:spcAft>
            </a:pPr>
            <a:r>
              <a:rPr sz="1200" b="1" i="0">
                <a:solidFill>
                  <a:srgbClr val="A42530"/>
                </a:solidFill>
                <a:latin typeface="Arial"/>
              </a:rPr>
              <a:t>Audit record</a:t>
            </a:r>
          </a:p>
          <a:p>
            <a:pPr algn="l">
              <a:spcBef>
                <a:spcPts val="100"/>
              </a:spcBef>
              <a:spcAft>
                <a:spcPts val="0"/>
              </a:spcAft>
            </a:pPr>
            <a:r>
              <a:rPr sz="900" b="0" i="0">
                <a:solidFill>
                  <a:srgbClr val="5A5A5A"/>
                </a:solidFill>
                <a:latin typeface="Arial"/>
              </a:rPr>
              <a:t>one JSONL line per decision</a:t>
            </a:r>
          </a:p>
        </p:txBody>
      </p:sp>
      <p:sp>
        <p:nvSpPr>
          <p:cNvPr id="135" name="Rounded Rectangle 134"/>
          <p:cNvSpPr/>
          <p:nvPr/>
        </p:nvSpPr>
        <p:spPr>
          <a:xfrm>
            <a:off x="4798853" y="1913312"/>
            <a:ext cx="1837250" cy="260000"/>
          </a:xfrm>
          <a:prstGeom prst="roundRect">
            <a:avLst>
              <a:gd name="adj" fmla="val 30000"/>
            </a:avLst>
          </a:prstGeom>
          <a:solidFill>
            <a:srgbClr val="FFFFFF"/>
          </a:solidFill>
          <a:ln w="9525">
            <a:solidFill>
              <a:srgbClr val="D9D9D9"/>
            </a:solidFill>
          </a:ln>
          <a:effectLst/>
        </p:spPr>
        <p:txBody>
          <a:bodyPr rtlCol="0" anchor="ctr" wrap="square" lIns="0" tIns="0" rIns="0" bIns="0"/>
          <a:lstStyle/>
          <a:p>
            <a:pPr algn="ctr">
              <a:spcBef>
                <a:spcPts val="0"/>
              </a:spcBef>
              <a:spcAft>
                <a:spcPts val="0"/>
              </a:spcAft>
            </a:pPr>
            <a:r>
              <a:rPr sz="900" b="1" i="0">
                <a:solidFill>
                  <a:srgbClr val="2B2F36"/>
                </a:solidFill>
                <a:latin typeface="Courier New"/>
              </a:rPr>
              <a:t>timestamp</a:t>
            </a:r>
          </a:p>
        </p:txBody>
      </p:sp>
      <p:sp>
        <p:nvSpPr>
          <p:cNvPr id="136" name="Rounded Rectangle 135"/>
          <p:cNvSpPr/>
          <p:nvPr/>
        </p:nvSpPr>
        <p:spPr>
          <a:xfrm>
            <a:off x="6736103" y="1913312"/>
            <a:ext cx="1837250" cy="260000"/>
          </a:xfrm>
          <a:prstGeom prst="roundRect">
            <a:avLst>
              <a:gd name="adj" fmla="val 30000"/>
            </a:avLst>
          </a:prstGeom>
          <a:solidFill>
            <a:srgbClr val="FFFFFF"/>
          </a:solidFill>
          <a:ln w="9525">
            <a:solidFill>
              <a:srgbClr val="D9D9D9"/>
            </a:solidFill>
          </a:ln>
          <a:effectLst/>
        </p:spPr>
        <p:txBody>
          <a:bodyPr rtlCol="0" anchor="ctr" wrap="square" lIns="0" tIns="0" rIns="0" bIns="0"/>
          <a:lstStyle/>
          <a:p>
            <a:pPr algn="ctr">
              <a:spcBef>
                <a:spcPts val="0"/>
              </a:spcBef>
              <a:spcAft>
                <a:spcPts val="0"/>
              </a:spcAft>
            </a:pPr>
            <a:r>
              <a:rPr sz="900" b="1" i="0">
                <a:solidFill>
                  <a:srgbClr val="2B2F36"/>
                </a:solidFill>
                <a:latin typeface="Courier New"/>
              </a:rPr>
              <a:t>image</a:t>
            </a:r>
          </a:p>
        </p:txBody>
      </p:sp>
      <p:sp>
        <p:nvSpPr>
          <p:cNvPr id="137" name="Rounded Rectangle 136"/>
          <p:cNvSpPr/>
          <p:nvPr/>
        </p:nvSpPr>
        <p:spPr>
          <a:xfrm>
            <a:off x="4798853" y="2233312"/>
            <a:ext cx="1837250" cy="260000"/>
          </a:xfrm>
          <a:prstGeom prst="roundRect">
            <a:avLst>
              <a:gd name="adj" fmla="val 30000"/>
            </a:avLst>
          </a:prstGeom>
          <a:solidFill>
            <a:srgbClr val="FFFFFF"/>
          </a:solidFill>
          <a:ln w="9525">
            <a:solidFill>
              <a:srgbClr val="D9D9D9"/>
            </a:solidFill>
          </a:ln>
          <a:effectLst/>
        </p:spPr>
        <p:txBody>
          <a:bodyPr rtlCol="0" anchor="ctr" wrap="square" lIns="0" tIns="0" rIns="0" bIns="0"/>
          <a:lstStyle/>
          <a:p>
            <a:pPr algn="ctr">
              <a:spcBef>
                <a:spcPts val="0"/>
              </a:spcBef>
              <a:spcAft>
                <a:spcPts val="0"/>
              </a:spcAft>
            </a:pPr>
            <a:r>
              <a:rPr sz="900" b="1" i="0">
                <a:solidFill>
                  <a:srgbClr val="2B2F36"/>
                </a:solidFill>
                <a:latin typeface="Courier New"/>
              </a:rPr>
              <a:t>digest</a:t>
            </a:r>
          </a:p>
        </p:txBody>
      </p:sp>
      <p:sp>
        <p:nvSpPr>
          <p:cNvPr id="138" name="Rounded Rectangle 137"/>
          <p:cNvSpPr/>
          <p:nvPr/>
        </p:nvSpPr>
        <p:spPr>
          <a:xfrm>
            <a:off x="6736103" y="2233312"/>
            <a:ext cx="1837250" cy="260000"/>
          </a:xfrm>
          <a:prstGeom prst="roundRect">
            <a:avLst>
              <a:gd name="adj" fmla="val 30000"/>
            </a:avLst>
          </a:prstGeom>
          <a:solidFill>
            <a:srgbClr val="FFFFFF"/>
          </a:solidFill>
          <a:ln w="9525">
            <a:solidFill>
              <a:srgbClr val="D9D9D9"/>
            </a:solidFill>
          </a:ln>
          <a:effectLst/>
        </p:spPr>
        <p:txBody>
          <a:bodyPr rtlCol="0" anchor="ctr" wrap="square" lIns="0" tIns="0" rIns="0" bIns="0"/>
          <a:lstStyle/>
          <a:p>
            <a:pPr algn="ctr">
              <a:spcBef>
                <a:spcPts val="0"/>
              </a:spcBef>
              <a:spcAft>
                <a:spcPts val="0"/>
              </a:spcAft>
            </a:pPr>
            <a:r>
              <a:rPr sz="900" b="1" i="0">
                <a:solidFill>
                  <a:srgbClr val="2B2F36"/>
                </a:solidFill>
                <a:latin typeface="Courier New"/>
              </a:rPr>
              <a:t>decision</a:t>
            </a:r>
          </a:p>
        </p:txBody>
      </p:sp>
      <p:sp>
        <p:nvSpPr>
          <p:cNvPr id="139" name="Rounded Rectangle 138"/>
          <p:cNvSpPr/>
          <p:nvPr/>
        </p:nvSpPr>
        <p:spPr>
          <a:xfrm>
            <a:off x="4798853" y="2553312"/>
            <a:ext cx="1837250" cy="260000"/>
          </a:xfrm>
          <a:prstGeom prst="roundRect">
            <a:avLst>
              <a:gd name="adj" fmla="val 30000"/>
            </a:avLst>
          </a:prstGeom>
          <a:solidFill>
            <a:srgbClr val="FFFFFF"/>
          </a:solidFill>
          <a:ln w="9525">
            <a:solidFill>
              <a:srgbClr val="D9D9D9"/>
            </a:solidFill>
          </a:ln>
          <a:effectLst/>
        </p:spPr>
        <p:txBody>
          <a:bodyPr rtlCol="0" anchor="ctr" wrap="square" lIns="0" tIns="0" rIns="0" bIns="0"/>
          <a:lstStyle/>
          <a:p>
            <a:pPr algn="ctr">
              <a:spcBef>
                <a:spcPts val="0"/>
              </a:spcBef>
              <a:spcAft>
                <a:spcPts val="0"/>
              </a:spcAft>
            </a:pPr>
            <a:r>
              <a:rPr sz="900" b="1" i="0">
                <a:solidFill>
                  <a:srgbClr val="2B2F36"/>
                </a:solidFill>
                <a:latin typeface="Courier New"/>
              </a:rPr>
              <a:t>reason code</a:t>
            </a:r>
          </a:p>
        </p:txBody>
      </p:sp>
      <p:sp>
        <p:nvSpPr>
          <p:cNvPr id="140" name="Rounded Rectangle 139"/>
          <p:cNvSpPr/>
          <p:nvPr/>
        </p:nvSpPr>
        <p:spPr>
          <a:xfrm>
            <a:off x="6736103" y="2553312"/>
            <a:ext cx="1837250" cy="260000"/>
          </a:xfrm>
          <a:prstGeom prst="roundRect">
            <a:avLst>
              <a:gd name="adj" fmla="val 30000"/>
            </a:avLst>
          </a:prstGeom>
          <a:solidFill>
            <a:srgbClr val="FFFFFF"/>
          </a:solidFill>
          <a:ln w="9525">
            <a:solidFill>
              <a:srgbClr val="D9D9D9"/>
            </a:solidFill>
          </a:ln>
          <a:effectLst/>
        </p:spPr>
        <p:txBody>
          <a:bodyPr rtlCol="0" anchor="ctr" wrap="square" lIns="0" tIns="0" rIns="0" bIns="0"/>
          <a:lstStyle/>
          <a:p>
            <a:pPr algn="ctr">
              <a:spcBef>
                <a:spcPts val="0"/>
              </a:spcBef>
              <a:spcAft>
                <a:spcPts val="0"/>
              </a:spcAft>
            </a:pPr>
            <a:r>
              <a:rPr sz="900" b="1" i="0">
                <a:solidFill>
                  <a:srgbClr val="2B2F36"/>
                </a:solidFill>
                <a:latin typeface="Courier New"/>
              </a:rPr>
              <a:t>key fingerprint</a:t>
            </a:r>
          </a:p>
        </p:txBody>
      </p:sp>
      <p:sp>
        <p:nvSpPr>
          <p:cNvPr id="141" name="Rounded Rectangle 140"/>
          <p:cNvSpPr/>
          <p:nvPr/>
        </p:nvSpPr>
        <p:spPr>
          <a:xfrm>
            <a:off x="4798853" y="2873312"/>
            <a:ext cx="1837250" cy="260000"/>
          </a:xfrm>
          <a:prstGeom prst="roundRect">
            <a:avLst>
              <a:gd name="adj" fmla="val 30000"/>
            </a:avLst>
          </a:prstGeom>
          <a:solidFill>
            <a:srgbClr val="FFFFFF"/>
          </a:solidFill>
          <a:ln w="9525">
            <a:solidFill>
              <a:srgbClr val="D9D9D9"/>
            </a:solidFill>
          </a:ln>
          <a:effectLst/>
        </p:spPr>
        <p:txBody>
          <a:bodyPr rtlCol="0" anchor="ctr" wrap="square" lIns="0" tIns="0" rIns="0" bIns="0"/>
          <a:lstStyle/>
          <a:p>
            <a:pPr algn="ctr">
              <a:spcBef>
                <a:spcPts val="0"/>
              </a:spcBef>
              <a:spcAft>
                <a:spcPts val="0"/>
              </a:spcAft>
            </a:pPr>
            <a:r>
              <a:rPr sz="900" b="1" i="0">
                <a:solidFill>
                  <a:srgbClr val="2B2F36"/>
                </a:solidFill>
                <a:latin typeface="Courier New"/>
              </a:rPr>
              <a:t>tool evidence</a:t>
            </a:r>
          </a:p>
        </p:txBody>
      </p:sp>
      <p:sp>
        <p:nvSpPr>
          <p:cNvPr id="142" name="Rounded Rectangle 141"/>
          <p:cNvSpPr/>
          <p:nvPr/>
        </p:nvSpPr>
        <p:spPr>
          <a:xfrm>
            <a:off x="6736103" y="2873312"/>
            <a:ext cx="1837250" cy="260000"/>
          </a:xfrm>
          <a:prstGeom prst="roundRect">
            <a:avLst>
              <a:gd name="adj" fmla="val 30000"/>
            </a:avLst>
          </a:prstGeom>
          <a:solidFill>
            <a:srgbClr val="FBECED"/>
          </a:solidFill>
          <a:ln w="9525">
            <a:solidFill>
              <a:srgbClr val="A42530"/>
            </a:solidFill>
          </a:ln>
          <a:effectLst/>
        </p:spPr>
        <p:txBody>
          <a:bodyPr rtlCol="0" anchor="ctr" wrap="square" lIns="0" tIns="0" rIns="0" bIns="0"/>
          <a:lstStyle/>
          <a:p>
            <a:pPr algn="ctr">
              <a:spcBef>
                <a:spcPts val="0"/>
              </a:spcBef>
              <a:spcAft>
                <a:spcPts val="0"/>
              </a:spcAft>
            </a:pPr>
            <a:r>
              <a:rPr sz="900" b="1" i="0">
                <a:solidFill>
                  <a:srgbClr val="A42530"/>
                </a:solidFill>
                <a:latin typeface="Arial"/>
              </a:rPr>
              <a:t>never key material</a:t>
            </a:r>
          </a:p>
        </p:txBody>
      </p:sp>
      <p:sp>
        <p:nvSpPr>
          <p:cNvPr id="143" name="Rounded Rectangle 142"/>
          <p:cNvSpPr/>
          <p:nvPr/>
        </p:nvSpPr>
        <p:spPr>
          <a:xfrm>
            <a:off x="4798853" y="3483312"/>
            <a:ext cx="1124833" cy="440000"/>
          </a:xfrm>
          <a:prstGeom prst="roundRect">
            <a:avLst>
              <a:gd name="adj" fmla="val 14000"/>
            </a:avLst>
          </a:prstGeom>
          <a:solidFill>
            <a:srgbClr val="2B2F36"/>
          </a:solidFill>
          <a:ln>
            <a:noFill/>
          </a:ln>
          <a:effectLst/>
        </p:spPr>
        <p:txBody>
          <a:bodyPr rtlCol="0" anchor="ctr" wrap="square" lIns="45700" tIns="27425" rIns="45700" bIns="27425"/>
          <a:lstStyle/>
          <a:p>
            <a:pPr algn="ctr">
              <a:spcBef>
                <a:spcPts val="0"/>
              </a:spcBef>
              <a:spcAft>
                <a:spcPts val="0"/>
              </a:spcAft>
            </a:pPr>
            <a:r>
              <a:rPr sz="1000" b="1" i="0">
                <a:solidFill>
                  <a:srgbClr val="FFFFFF"/>
                </a:solidFill>
                <a:latin typeface="Arial"/>
              </a:rPr>
              <a:t>HTML</a:t>
            </a:r>
          </a:p>
          <a:p>
            <a:pPr algn="ctr">
              <a:spcBef>
                <a:spcPts val="100"/>
              </a:spcBef>
              <a:spcAft>
                <a:spcPts val="0"/>
              </a:spcAft>
            </a:pPr>
            <a:r>
              <a:rPr sz="900" b="0" i="0">
                <a:solidFill>
                  <a:srgbClr val="D0D3D8"/>
                </a:solidFill>
                <a:latin typeface="Arial"/>
              </a:rPr>
              <a:t>dashboard</a:t>
            </a:r>
          </a:p>
        </p:txBody>
      </p:sp>
      <p:sp>
        <p:nvSpPr>
          <p:cNvPr id="144" name="Rounded Rectangle 143"/>
          <p:cNvSpPr/>
          <p:nvPr/>
        </p:nvSpPr>
        <p:spPr>
          <a:xfrm>
            <a:off x="6123686" y="3483312"/>
            <a:ext cx="1124833" cy="440000"/>
          </a:xfrm>
          <a:prstGeom prst="roundRect">
            <a:avLst>
              <a:gd name="adj" fmla="val 14000"/>
            </a:avLst>
          </a:prstGeom>
          <a:solidFill>
            <a:srgbClr val="2B2F36"/>
          </a:solidFill>
          <a:ln>
            <a:noFill/>
          </a:ln>
          <a:effectLst/>
        </p:spPr>
        <p:txBody>
          <a:bodyPr rtlCol="0" anchor="ctr" wrap="square" lIns="45700" tIns="27425" rIns="45700" bIns="27425"/>
          <a:lstStyle/>
          <a:p>
            <a:pPr algn="ctr">
              <a:spcBef>
                <a:spcPts val="0"/>
              </a:spcBef>
              <a:spcAft>
                <a:spcPts val="0"/>
              </a:spcAft>
            </a:pPr>
            <a:r>
              <a:rPr sz="1000" b="1" i="0">
                <a:solidFill>
                  <a:srgbClr val="FFFFFF"/>
                </a:solidFill>
                <a:latin typeface="Arial"/>
              </a:rPr>
              <a:t>CSV</a:t>
            </a:r>
          </a:p>
          <a:p>
            <a:pPr algn="ctr">
              <a:spcBef>
                <a:spcPts val="100"/>
              </a:spcBef>
              <a:spcAft>
                <a:spcPts val="0"/>
              </a:spcAft>
            </a:pPr>
            <a:r>
              <a:rPr sz="900" b="0" i="0">
                <a:solidFill>
                  <a:srgbClr val="D0D3D8"/>
                </a:solidFill>
                <a:latin typeface="Arial"/>
              </a:rPr>
              <a:t>spreadsheet</a:t>
            </a:r>
          </a:p>
        </p:txBody>
      </p:sp>
      <p:sp>
        <p:nvSpPr>
          <p:cNvPr id="145" name="Rounded Rectangle 144"/>
          <p:cNvSpPr/>
          <p:nvPr/>
        </p:nvSpPr>
        <p:spPr>
          <a:xfrm>
            <a:off x="7448519" y="3483312"/>
            <a:ext cx="1124833" cy="440000"/>
          </a:xfrm>
          <a:prstGeom prst="roundRect">
            <a:avLst>
              <a:gd name="adj" fmla="val 14000"/>
            </a:avLst>
          </a:prstGeom>
          <a:solidFill>
            <a:srgbClr val="2B2F36"/>
          </a:solidFill>
          <a:ln>
            <a:noFill/>
          </a:ln>
          <a:effectLst/>
        </p:spPr>
        <p:txBody>
          <a:bodyPr rtlCol="0" anchor="ctr" wrap="square" lIns="45700" tIns="27425" rIns="45700" bIns="27425"/>
          <a:lstStyle/>
          <a:p>
            <a:pPr algn="ctr">
              <a:spcBef>
                <a:spcPts val="0"/>
              </a:spcBef>
              <a:spcAft>
                <a:spcPts val="0"/>
              </a:spcAft>
            </a:pPr>
            <a:r>
              <a:rPr sz="1000" b="1" i="0">
                <a:solidFill>
                  <a:srgbClr val="FFFFFF"/>
                </a:solidFill>
                <a:latin typeface="Arial"/>
              </a:rPr>
              <a:t>JSON</a:t>
            </a:r>
          </a:p>
          <a:p>
            <a:pPr algn="ctr">
              <a:spcBef>
                <a:spcPts val="100"/>
              </a:spcBef>
              <a:spcAft>
                <a:spcPts val="0"/>
              </a:spcAft>
            </a:pPr>
            <a:r>
              <a:rPr sz="900" b="0" i="0">
                <a:solidFill>
                  <a:srgbClr val="D0D3D8"/>
                </a:solidFill>
                <a:latin typeface="Arial"/>
              </a:rPr>
              <a:t>machine-readable</a:t>
            </a:r>
          </a:p>
        </p:txBody>
      </p:sp>
      <p:sp>
        <p:nvSpPr>
          <p:cNvPr id="146" name="TextBox 145"/>
          <p:cNvSpPr txBox="1"/>
          <p:nvPr/>
        </p:nvSpPr>
        <p:spPr>
          <a:xfrm>
            <a:off x="4798853" y="3283312"/>
            <a:ext cx="3774500" cy="200000"/>
          </a:xfrm>
          <a:prstGeom prst="rect">
            <a:avLst/>
          </a:prstGeom>
          <a:noFill/>
        </p:spPr>
        <p:txBody>
          <a:bodyPr wrap="square" anchor="t" lIns="0" tIns="0" rIns="0" bIns="0"/>
          <a:lstStyle/>
          <a:p>
            <a:pPr algn="l">
              <a:spcBef>
                <a:spcPts val="0"/>
              </a:spcBef>
              <a:spcAft>
                <a:spcPts val="0"/>
              </a:spcAft>
            </a:pPr>
            <a:r>
              <a:rPr sz="900" b="1" i="0">
                <a:solidFill>
                  <a:srgbClr val="5A5A5A"/>
                </a:solidFill>
                <a:latin typeface="Arial"/>
              </a:rPr>
              <a:t>Exported reports</a:t>
            </a:r>
          </a:p>
        </p:txBody>
      </p:sp>
      <p:sp>
        <p:nvSpPr>
          <p:cNvPr id="147" name="Rounded Rectangle 146"/>
          <p:cNvSpPr/>
          <p:nvPr/>
        </p:nvSpPr>
        <p:spPr>
          <a:xfrm>
            <a:off x="428853" y="4153312"/>
            <a:ext cx="8284500" cy="310000"/>
          </a:xfrm>
          <a:prstGeom prst="roundRect">
            <a:avLst>
              <a:gd name="adj" fmla="val 19000"/>
            </a:avLst>
          </a:prstGeom>
          <a:solidFill>
            <a:srgbClr val="FBECED"/>
          </a:solidFill>
          <a:ln w="12700">
            <a:solidFill>
              <a:srgbClr val="A42530"/>
            </a:solidFill>
          </a:ln>
          <a:effectLst/>
        </p:spPr>
        <p:txBody>
          <a:bodyPr rtlCol="0" anchor="ctr" wrap="square" lIns="109725" tIns="18275" rIns="91425" bIns="18275"/>
          <a:lstStyle/>
          <a:p>
            <a:pPr algn="l">
              <a:spcBef>
                <a:spcPts val="0"/>
              </a:spcBef>
              <a:spcAft>
                <a:spcPts val="0"/>
              </a:spcAft>
            </a:pPr>
            <a:r>
              <a:rPr sz="1000" b="1" i="0">
                <a:solidFill>
                  <a:srgbClr val="A42530"/>
                </a:solidFill>
                <a:latin typeface="Arial"/>
              </a:rPr>
              <a:t>Why it matters: </a:t>
            </a:r>
            <a:r>
              <a:rPr sz="1000" b="0" i="0">
                <a:solidFill>
                  <a:srgbClr val="2B2F36"/>
                </a:solidFill>
                <a:latin typeface="Arial"/>
              </a:rPr>
              <a:t>a reviewer can trace exactly which digest was accepted or rejected, when, and under which key.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14"/>
          <p:cNvPicPr preferRelativeResize="0"/>
          <p:nvPr/>
        </p:nvPicPr>
        <p:blipFill rotWithShape="1">
          <a:blip r:embed="rId2">
            <a:alphaModFix/>
          </a:blip>
          <a:srcRect b="0" l="0" r="10" t="0"/>
          <a:stretch/>
        </p:blipFill>
        <p:spPr>
          <a:xfrm>
            <a:off x="145399" y="106185"/>
            <a:ext cx="1737300" cy="531600"/>
          </a:xfrm>
          <a:prstGeom prst="rect">
            <a:avLst/>
          </a:prstGeom>
          <a:noFill/>
          <a:ln>
            <a:noFill/>
          </a:ln>
        </p:spPr>
      </p:pic>
      <p:pic>
        <p:nvPicPr>
          <p:cNvPr id="115" name="Google Shape;115;p14"/>
          <p:cNvPicPr preferRelativeResize="0"/>
          <p:nvPr/>
        </p:nvPicPr>
        <p:blipFill rotWithShape="1">
          <a:blip r:embed="rId3">
            <a:alphaModFix/>
          </a:blip>
          <a:srcRect b="720" l="0" r="10" t="710"/>
          <a:stretch/>
        </p:blipFill>
        <p:spPr>
          <a:xfrm>
            <a:off x="8343443" y="169593"/>
            <a:ext cx="546300" cy="404700"/>
          </a:xfrm>
          <a:prstGeom prst="rect">
            <a:avLst/>
          </a:prstGeom>
          <a:noFill/>
          <a:ln>
            <a:noFill/>
          </a:ln>
        </p:spPr>
      </p:pic>
      <p:grpSp>
        <p:nvGrpSpPr>
          <p:cNvPr id="116" name="Google Shape;116;p14"/>
          <p:cNvGrpSpPr/>
          <p:nvPr/>
        </p:nvGrpSpPr>
        <p:grpSpPr>
          <a:xfrm>
            <a:off x="0" y="4560570"/>
            <a:ext cx="9144010" cy="592800"/>
            <a:chOff x="0" y="4560570"/>
            <a:chExt cx="9144010" cy="592800"/>
          </a:xfrm>
        </p:grpSpPr>
        <p:sp>
          <p:nvSpPr>
            <p:cNvPr id="117" name="Google Shape;117;p14"/>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14"/>
          <p:cNvSpPr txBox="1"/>
          <p:nvPr/>
        </p:nvSpPr>
        <p:spPr>
          <a:xfrm>
            <a:off x="428853" y="676656"/>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IMPLEMENTATION EVIDENCE</a:t>
            </a:r>
            <a:endParaRPr/>
          </a:p>
          <a:p>
            <a:pPr indent="0" lvl="0" marL="0" marR="0" rtl="0" algn="l">
              <a:lnSpc>
                <a:spcPct val="100000"/>
              </a:lnSpc>
              <a:spcBef>
                <a:spcPts val="300"/>
              </a:spcBef>
              <a:spcAft>
                <a:spcPts val="0"/>
              </a:spcAft>
              <a:buClr>
                <a:srgbClr val="000000"/>
              </a:buClr>
              <a:buSzPts val="2400"/>
              <a:buFont typeface="Arial"/>
              <a:buNone/>
            </a:pPr>
            <a:r>
              <a:rPr b="1" i="0" lang="en-US" sz="2400" u="none" cap="none" strike="noStrike">
                <a:solidFill>
                  <a:srgbClr val="111111"/>
                </a:solidFill>
                <a:latin typeface="Arial"/>
                <a:ea typeface="Arial"/>
                <a:cs typeface="Arial"/>
                <a:sym typeface="Arial"/>
              </a:rPr>
              <a:t>Toolchain, local registry and image build</a:t>
            </a:r>
            <a:endParaRPr/>
          </a:p>
        </p:txBody>
      </p:sp>
      <p:sp>
        <p:nvSpPr>
          <p:cNvPr id="121" name="Google Shape;121;p14"/>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122" name="Google Shape;122;p14"/>
          <p:cNvSpPr txBox="1"/>
          <p:nvPr/>
        </p:nvSpPr>
        <p:spPr>
          <a:xfrm>
            <a:off x="7324287"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9</a:t>
            </a:r>
            <a:endParaRPr/>
          </a:p>
        </p:txBody>
      </p:sp>
      <p:pic>
        <p:nvPicPr>
          <p:cNvPr id="123" name="Picture 122" descr="01-environment.png"/>
          <p:cNvPicPr>
            <a:picLocks noChangeAspect="1"/>
          </p:cNvPicPr>
          <p:nvPr/>
        </p:nvPicPr>
        <p:blipFill>
          <a:blip r:embed="rId5"/>
          <a:stretch>
            <a:fillRect/>
          </a:stretch>
        </p:blipFill>
        <p:spPr>
          <a:xfrm>
            <a:off x="428853" y="1353312"/>
            <a:ext cx="4289183" cy="2900000"/>
          </a:xfrm>
          <a:prstGeom prst="rect">
            <a:avLst/>
          </a:prstGeom>
          <a:ln w="9525">
            <a:solidFill>
              <a:srgbClr val="D9D9D9"/>
            </a:solidFill>
          </a:ln>
        </p:spPr>
      </p:pic>
      <p:sp>
        <p:nvSpPr>
          <p:cNvPr id="124" name="TextBox 123"/>
          <p:cNvSpPr txBox="1"/>
          <p:nvPr/>
        </p:nvSpPr>
        <p:spPr>
          <a:xfrm>
            <a:off x="428853" y="4303312"/>
            <a:ext cx="4289183" cy="180000"/>
          </a:xfrm>
          <a:prstGeom prst="rect">
            <a:avLst/>
          </a:prstGeom>
          <a:noFill/>
        </p:spPr>
        <p:txBody>
          <a:bodyPr wrap="square" anchor="t" lIns="0" tIns="0" rIns="0" bIns="0"/>
          <a:lstStyle/>
          <a:p>
            <a:pPr algn="l">
              <a:spcBef>
                <a:spcPts val="0"/>
              </a:spcBef>
              <a:spcAft>
                <a:spcPts val="0"/>
              </a:spcAft>
            </a:pPr>
            <a:r>
              <a:rPr sz="800" b="0" i="1">
                <a:solidFill>
                  <a:srgbClr val="5A5A5A"/>
                </a:solidFill>
                <a:latin typeface="Arial"/>
              </a:rPr>
              <a:t>Phase 1: toolchain versions, local registry, project layout</a:t>
            </a:r>
          </a:p>
        </p:txBody>
      </p:sp>
      <p:pic>
        <p:nvPicPr>
          <p:cNvPr id="125" name="Picture 124" descr="02-build-image.png"/>
          <p:cNvPicPr>
            <a:picLocks noChangeAspect="1"/>
          </p:cNvPicPr>
          <p:nvPr/>
        </p:nvPicPr>
        <p:blipFill>
          <a:blip r:embed="rId6"/>
          <a:stretch>
            <a:fillRect/>
          </a:stretch>
        </p:blipFill>
        <p:spPr>
          <a:xfrm>
            <a:off x="4938036" y="1353312"/>
            <a:ext cx="3775317" cy="1610016"/>
          </a:xfrm>
          <a:prstGeom prst="rect">
            <a:avLst/>
          </a:prstGeom>
          <a:ln w="9525">
            <a:solidFill>
              <a:srgbClr val="D9D9D9"/>
            </a:solidFill>
          </a:ln>
        </p:spPr>
      </p:pic>
      <p:sp>
        <p:nvSpPr>
          <p:cNvPr id="126" name="TextBox 125"/>
          <p:cNvSpPr txBox="1"/>
          <p:nvPr/>
        </p:nvSpPr>
        <p:spPr>
          <a:xfrm>
            <a:off x="4938036" y="3013328"/>
            <a:ext cx="3775317" cy="180000"/>
          </a:xfrm>
          <a:prstGeom prst="rect">
            <a:avLst/>
          </a:prstGeom>
          <a:noFill/>
        </p:spPr>
        <p:txBody>
          <a:bodyPr wrap="square" anchor="t" lIns="0" tIns="0" rIns="0" bIns="0"/>
          <a:lstStyle/>
          <a:p>
            <a:pPr algn="l">
              <a:spcBef>
                <a:spcPts val="0"/>
              </a:spcBef>
              <a:spcAft>
                <a:spcPts val="0"/>
              </a:spcAft>
            </a:pPr>
            <a:r>
              <a:rPr sz="800" b="0" i="1">
                <a:solidFill>
                  <a:srgbClr val="5A5A5A"/>
                </a:solidFill>
                <a:latin typeface="Arial"/>
              </a:rPr>
              <a:t>Phase 2: build, push and record the digest</a:t>
            </a:r>
          </a:p>
        </p:txBody>
      </p:sp>
      <p:sp>
        <p:nvSpPr>
          <p:cNvPr id="127" name="TextBox 126"/>
          <p:cNvSpPr txBox="1"/>
          <p:nvPr/>
        </p:nvSpPr>
        <p:spPr>
          <a:xfrm>
            <a:off x="4938036" y="3283328"/>
            <a:ext cx="3775317" cy="2000000"/>
          </a:xfrm>
          <a:prstGeom prst="rect">
            <a:avLst/>
          </a:prstGeom>
          <a:noFill/>
        </p:spPr>
        <p:txBody>
          <a:bodyPr wrap="square" anchor="t" lIns="0" tIns="0" rIns="0" bIns="0"/>
          <a:lstStyle/>
          <a:p>
            <a:pPr algn="l">
              <a:spcBef>
                <a:spcPts val="0"/>
              </a:spcBef>
              <a:spcAft>
                <a:spcPts val="0"/>
              </a:spcAft>
            </a:pPr>
            <a:r>
              <a:rPr sz="1000" b="1" i="0">
                <a:solidFill>
                  <a:srgbClr val="111111"/>
                </a:solidFill>
                <a:latin typeface="Arial"/>
              </a:rPr>
              <a:t>Registry: </a:t>
            </a:r>
            <a:r>
              <a:rPr sz="1000" b="0" i="0">
                <a:solidFill>
                  <a:srgbClr val="5A5A5A"/>
                </a:solidFill>
                <a:latin typeface="Arial"/>
              </a:rPr>
              <a:t>td-registry (registry:2) on 127.0.0.1:5001</a:t>
            </a:r>
          </a:p>
          <a:p>
            <a:pPr algn="l">
              <a:spcBef>
                <a:spcPts val="600"/>
              </a:spcBef>
              <a:spcAft>
                <a:spcPts val="0"/>
              </a:spcAft>
            </a:pPr>
            <a:r>
              <a:rPr sz="1000" b="1" i="0">
                <a:solidFill>
                  <a:srgbClr val="111111"/>
                </a:solidFill>
                <a:latin typeface="Arial"/>
              </a:rPr>
              <a:t>Approved image: </a:t>
            </a:r>
            <a:r>
              <a:rPr sz="1000" b="0" i="0">
                <a:solidFill>
                  <a:srgbClr val="5A5A5A"/>
                </a:solidFill>
                <a:latin typeface="Arial"/>
              </a:rPr>
              <a:t>sample-app:1.0.0, digest sha256:deffd203…</a:t>
            </a:r>
          </a:p>
          <a:p>
            <a:pPr algn="l">
              <a:spcBef>
                <a:spcPts val="600"/>
              </a:spcBef>
              <a:spcAft>
                <a:spcPts val="0"/>
              </a:spcAft>
            </a:pPr>
            <a:r>
              <a:rPr sz="1000" b="1" i="0">
                <a:solidFill>
                  <a:srgbClr val="111111"/>
                </a:solidFill>
                <a:latin typeface="Arial"/>
              </a:rPr>
              <a:t>Smoke test: </a:t>
            </a:r>
            <a:r>
              <a:rPr sz="1000" b="0" i="0">
                <a:solidFill>
                  <a:srgbClr val="5A5A5A"/>
                </a:solidFill>
                <a:latin typeface="Arial"/>
              </a:rPr>
              <a:t>service returns status “ok”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14"/>
          <p:cNvPicPr preferRelativeResize="0"/>
          <p:nvPr/>
        </p:nvPicPr>
        <p:blipFill rotWithShape="1">
          <a:blip r:embed="rId2">
            <a:alphaModFix/>
          </a:blip>
          <a:srcRect b="0" l="0" r="10" t="0"/>
          <a:stretch/>
        </p:blipFill>
        <p:spPr>
          <a:xfrm>
            <a:off x="145399" y="106185"/>
            <a:ext cx="1737300" cy="531600"/>
          </a:xfrm>
          <a:prstGeom prst="rect">
            <a:avLst/>
          </a:prstGeom>
          <a:noFill/>
          <a:ln>
            <a:noFill/>
          </a:ln>
        </p:spPr>
      </p:pic>
      <p:pic>
        <p:nvPicPr>
          <p:cNvPr id="115" name="Google Shape;115;p14"/>
          <p:cNvPicPr preferRelativeResize="0"/>
          <p:nvPr/>
        </p:nvPicPr>
        <p:blipFill rotWithShape="1">
          <a:blip r:embed="rId3">
            <a:alphaModFix/>
          </a:blip>
          <a:srcRect b="720" l="0" r="10" t="710"/>
          <a:stretch/>
        </p:blipFill>
        <p:spPr>
          <a:xfrm>
            <a:off x="8343443" y="169593"/>
            <a:ext cx="546300" cy="404700"/>
          </a:xfrm>
          <a:prstGeom prst="rect">
            <a:avLst/>
          </a:prstGeom>
          <a:noFill/>
          <a:ln>
            <a:noFill/>
          </a:ln>
        </p:spPr>
      </p:pic>
      <p:grpSp>
        <p:nvGrpSpPr>
          <p:cNvPr id="116" name="Google Shape;116;p14"/>
          <p:cNvGrpSpPr/>
          <p:nvPr/>
        </p:nvGrpSpPr>
        <p:grpSpPr>
          <a:xfrm>
            <a:off x="0" y="4560570"/>
            <a:ext cx="9144010" cy="592800"/>
            <a:chOff x="0" y="4560570"/>
            <a:chExt cx="9144010" cy="592800"/>
          </a:xfrm>
        </p:grpSpPr>
        <p:sp>
          <p:nvSpPr>
            <p:cNvPr id="117" name="Google Shape;117;p14"/>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14"/>
          <p:cNvSpPr txBox="1"/>
          <p:nvPr/>
        </p:nvSpPr>
        <p:spPr>
          <a:xfrm>
            <a:off x="428853" y="676656"/>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IMPLEMENTATION EVIDENCE</a:t>
            </a:r>
            <a:endParaRPr/>
          </a:p>
          <a:p>
            <a:pPr indent="0" lvl="0" marL="0" marR="0" rtl="0" algn="l">
              <a:lnSpc>
                <a:spcPct val="100000"/>
              </a:lnSpc>
              <a:spcBef>
                <a:spcPts val="300"/>
              </a:spcBef>
              <a:spcAft>
                <a:spcPts val="0"/>
              </a:spcAft>
              <a:buClr>
                <a:srgbClr val="000000"/>
              </a:buClr>
              <a:buSzPts val="2400"/>
              <a:buFont typeface="Arial"/>
              <a:buNone/>
            </a:pPr>
            <a:r>
              <a:rPr b="1" i="0" lang="en-US" sz="2400" u="none" cap="none" strike="noStrike">
                <a:solidFill>
                  <a:srgbClr val="111111"/>
                </a:solidFill>
                <a:latin typeface="Arial"/>
                <a:ea typeface="Arial"/>
                <a:cs typeface="Arial"/>
                <a:sym typeface="Arial"/>
              </a:rPr>
              <a:t>Key generation and signing the approved image</a:t>
            </a:r>
            <a:endParaRPr/>
          </a:p>
        </p:txBody>
      </p:sp>
      <p:sp>
        <p:nvSpPr>
          <p:cNvPr id="121" name="Google Shape;121;p14"/>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122" name="Google Shape;122;p14"/>
          <p:cNvSpPr txBox="1"/>
          <p:nvPr/>
        </p:nvSpPr>
        <p:spPr>
          <a:xfrm>
            <a:off x="7324287"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10</a:t>
            </a:r>
            <a:endParaRPr/>
          </a:p>
        </p:txBody>
      </p:sp>
      <p:pic>
        <p:nvPicPr>
          <p:cNvPr id="123" name="Picture 122" descr="03-key-generation.png"/>
          <p:cNvPicPr>
            <a:picLocks noChangeAspect="1"/>
          </p:cNvPicPr>
          <p:nvPr/>
        </p:nvPicPr>
        <p:blipFill>
          <a:blip r:embed="rId5"/>
          <a:stretch>
            <a:fillRect/>
          </a:stretch>
        </p:blipFill>
        <p:spPr>
          <a:xfrm>
            <a:off x="428853" y="1353312"/>
            <a:ext cx="3500000" cy="2033181"/>
          </a:xfrm>
          <a:prstGeom prst="rect">
            <a:avLst/>
          </a:prstGeom>
          <a:ln w="9525">
            <a:solidFill>
              <a:srgbClr val="D9D9D9"/>
            </a:solidFill>
          </a:ln>
        </p:spPr>
      </p:pic>
      <p:sp>
        <p:nvSpPr>
          <p:cNvPr id="124" name="TextBox 123"/>
          <p:cNvSpPr txBox="1"/>
          <p:nvPr/>
        </p:nvSpPr>
        <p:spPr>
          <a:xfrm>
            <a:off x="428853" y="3436493"/>
            <a:ext cx="3500000" cy="180000"/>
          </a:xfrm>
          <a:prstGeom prst="rect">
            <a:avLst/>
          </a:prstGeom>
          <a:noFill/>
        </p:spPr>
        <p:txBody>
          <a:bodyPr wrap="square" anchor="t" lIns="0" tIns="0" rIns="0" bIns="0"/>
          <a:lstStyle/>
          <a:p>
            <a:pPr algn="l">
              <a:spcBef>
                <a:spcPts val="0"/>
              </a:spcBef>
              <a:spcAft>
                <a:spcPts val="0"/>
              </a:spcAft>
            </a:pPr>
            <a:r>
              <a:rPr sz="800" b="0" i="1">
                <a:solidFill>
                  <a:srgbClr val="5A5A5A"/>
                </a:solidFill>
                <a:latin typeface="Arial"/>
              </a:rPr>
              <a:t>Phase 3: encrypted key pair; public key trusted</a:t>
            </a:r>
          </a:p>
        </p:txBody>
      </p:sp>
      <p:pic>
        <p:nvPicPr>
          <p:cNvPr id="125" name="Picture 124" descr="04-sign-image.png"/>
          <p:cNvPicPr>
            <a:picLocks noChangeAspect="1"/>
          </p:cNvPicPr>
          <p:nvPr/>
        </p:nvPicPr>
        <p:blipFill>
          <a:blip r:embed="rId6"/>
          <a:stretch>
            <a:fillRect/>
          </a:stretch>
        </p:blipFill>
        <p:spPr>
          <a:xfrm>
            <a:off x="4148853" y="1353312"/>
            <a:ext cx="4564500" cy="1519229"/>
          </a:xfrm>
          <a:prstGeom prst="rect">
            <a:avLst/>
          </a:prstGeom>
          <a:ln w="9525">
            <a:solidFill>
              <a:srgbClr val="D9D9D9"/>
            </a:solidFill>
          </a:ln>
        </p:spPr>
      </p:pic>
      <p:sp>
        <p:nvSpPr>
          <p:cNvPr id="126" name="TextBox 125"/>
          <p:cNvSpPr txBox="1"/>
          <p:nvPr/>
        </p:nvSpPr>
        <p:spPr>
          <a:xfrm>
            <a:off x="4148853" y="2922541"/>
            <a:ext cx="4564500" cy="180000"/>
          </a:xfrm>
          <a:prstGeom prst="rect">
            <a:avLst/>
          </a:prstGeom>
          <a:noFill/>
        </p:spPr>
        <p:txBody>
          <a:bodyPr wrap="square" anchor="t" lIns="0" tIns="0" rIns="0" bIns="0"/>
          <a:lstStyle/>
          <a:p>
            <a:pPr algn="l">
              <a:spcBef>
                <a:spcPts val="0"/>
              </a:spcBef>
              <a:spcAft>
                <a:spcPts val="0"/>
              </a:spcAft>
            </a:pPr>
            <a:r>
              <a:rPr sz="800" b="0" i="1">
                <a:solidFill>
                  <a:srgbClr val="5A5A5A"/>
                </a:solidFill>
                <a:latin typeface="Arial"/>
              </a:rPr>
              <a:t>Phase 3: digest-pinned signing, two signature formats</a:t>
            </a:r>
          </a:p>
        </p:txBody>
      </p:sp>
      <p:sp>
        <p:nvSpPr>
          <p:cNvPr id="127" name="TextBox 126"/>
          <p:cNvSpPr txBox="1"/>
          <p:nvPr/>
        </p:nvSpPr>
        <p:spPr>
          <a:xfrm>
            <a:off x="4148853" y="3192541"/>
            <a:ext cx="4564500" cy="2000000"/>
          </a:xfrm>
          <a:prstGeom prst="rect">
            <a:avLst/>
          </a:prstGeom>
          <a:noFill/>
        </p:spPr>
        <p:txBody>
          <a:bodyPr wrap="square" anchor="t" lIns="0" tIns="0" rIns="0" bIns="0"/>
          <a:lstStyle/>
          <a:p>
            <a:pPr algn="l">
              <a:spcBef>
                <a:spcPts val="0"/>
              </a:spcBef>
              <a:spcAft>
                <a:spcPts val="0"/>
              </a:spcAft>
            </a:pPr>
            <a:r>
              <a:rPr sz="1000" b="1" i="0">
                <a:solidFill>
                  <a:srgbClr val="111111"/>
                </a:solidFill>
                <a:latin typeface="Arial"/>
              </a:rPr>
              <a:t>Leak check: </a:t>
            </a:r>
            <a:r>
              <a:rPr sz="1000" b="0" i="0">
                <a:solidFill>
                  <a:srgbClr val="5A5A5A"/>
                </a:solidFill>
                <a:latin typeface="Arial"/>
              </a:rPr>
              <a:t>0 *.key files in the project tree, 0 inside the image</a:t>
            </a:r>
          </a:p>
          <a:p>
            <a:pPr algn="l">
              <a:spcBef>
                <a:spcPts val="600"/>
              </a:spcBef>
              <a:spcAft>
                <a:spcPts val="0"/>
              </a:spcAft>
            </a:pPr>
            <a:r>
              <a:rPr sz="1000" b="1" i="0">
                <a:solidFill>
                  <a:srgbClr val="111111"/>
                </a:solidFill>
                <a:latin typeface="Arial"/>
              </a:rPr>
              <a:t>Trusted key fingerprint: </a:t>
            </a:r>
            <a:r>
              <a:rPr sz="1000" b="0" i="0">
                <a:solidFill>
                  <a:srgbClr val="5A5A5A"/>
                </a:solidFill>
                <a:latin typeface="Arial"/>
              </a:rPr>
              <a:t>e40f4da2c7a6c386</a:t>
            </a:r>
          </a:p>
          <a:p>
            <a:pPr algn="l">
              <a:spcBef>
                <a:spcPts val="600"/>
              </a:spcBef>
              <a:spcAft>
                <a:spcPts val="0"/>
              </a:spcAft>
            </a:pPr>
            <a:r>
              <a:rPr sz="1000" b="1" i="0">
                <a:solidFill>
                  <a:srgbClr val="111111"/>
                </a:solidFill>
                <a:latin typeface="Arial"/>
              </a:rPr>
              <a:t>Signed: </a:t>
            </a:r>
            <a:r>
              <a:rPr sz="1000" b="0" i="0">
                <a:solidFill>
                  <a:srgbClr val="5A5A5A"/>
                </a:solidFill>
                <a:latin typeface="Arial"/>
              </a:rPr>
              <a:t>sample-app@sha256:deffd203… as Sigstore bundle (OCI referrer) and legacy .sig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14"/>
          <p:cNvPicPr preferRelativeResize="0"/>
          <p:nvPr/>
        </p:nvPicPr>
        <p:blipFill rotWithShape="1">
          <a:blip r:embed="rId2">
            <a:alphaModFix/>
          </a:blip>
          <a:srcRect b="0" l="0" r="10" t="0"/>
          <a:stretch/>
        </p:blipFill>
        <p:spPr>
          <a:xfrm>
            <a:off x="145399" y="106185"/>
            <a:ext cx="1737300" cy="531600"/>
          </a:xfrm>
          <a:prstGeom prst="rect">
            <a:avLst/>
          </a:prstGeom>
          <a:noFill/>
          <a:ln>
            <a:noFill/>
          </a:ln>
        </p:spPr>
      </p:pic>
      <p:pic>
        <p:nvPicPr>
          <p:cNvPr id="115" name="Google Shape;115;p14"/>
          <p:cNvPicPr preferRelativeResize="0"/>
          <p:nvPr/>
        </p:nvPicPr>
        <p:blipFill rotWithShape="1">
          <a:blip r:embed="rId3">
            <a:alphaModFix/>
          </a:blip>
          <a:srcRect b="720" l="0" r="10" t="710"/>
          <a:stretch/>
        </p:blipFill>
        <p:spPr>
          <a:xfrm>
            <a:off x="8343443" y="169593"/>
            <a:ext cx="546300" cy="404700"/>
          </a:xfrm>
          <a:prstGeom prst="rect">
            <a:avLst/>
          </a:prstGeom>
          <a:noFill/>
          <a:ln>
            <a:noFill/>
          </a:ln>
        </p:spPr>
      </p:pic>
      <p:grpSp>
        <p:nvGrpSpPr>
          <p:cNvPr id="116" name="Google Shape;116;p14"/>
          <p:cNvGrpSpPr/>
          <p:nvPr/>
        </p:nvGrpSpPr>
        <p:grpSpPr>
          <a:xfrm>
            <a:off x="0" y="4560570"/>
            <a:ext cx="9144010" cy="592800"/>
            <a:chOff x="0" y="4560570"/>
            <a:chExt cx="9144010" cy="592800"/>
          </a:xfrm>
        </p:grpSpPr>
        <p:sp>
          <p:nvSpPr>
            <p:cNvPr id="117" name="Google Shape;117;p14"/>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14"/>
          <p:cNvSpPr txBox="1"/>
          <p:nvPr/>
        </p:nvSpPr>
        <p:spPr>
          <a:xfrm>
            <a:off x="428853" y="676656"/>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IMPLEMENTATION EVIDENCE</a:t>
            </a:r>
            <a:endParaRPr/>
          </a:p>
          <a:p>
            <a:pPr indent="0" lvl="0" marL="0" marR="0" rtl="0" algn="l">
              <a:lnSpc>
                <a:spcPct val="100000"/>
              </a:lnSpc>
              <a:spcBef>
                <a:spcPts val="300"/>
              </a:spcBef>
              <a:spcAft>
                <a:spcPts val="0"/>
              </a:spcAft>
              <a:buClr>
                <a:srgbClr val="000000"/>
              </a:buClr>
              <a:buSzPts val="2400"/>
              <a:buFont typeface="Arial"/>
              <a:buNone/>
            </a:pPr>
            <a:r>
              <a:rPr b="1" i="0" lang="en-US" sz="2400" u="none" cap="none" strike="noStrike">
                <a:solidFill>
                  <a:srgbClr val="111111"/>
                </a:solidFill>
                <a:latin typeface="Arial"/>
                <a:ea typeface="Arial"/>
                <a:cs typeface="Arial"/>
                <a:sym typeface="Arial"/>
              </a:rPr>
              <a:t>TC01: a correctly signed image is accepted</a:t>
            </a:r>
            <a:endParaRPr/>
          </a:p>
        </p:txBody>
      </p:sp>
      <p:sp>
        <p:nvSpPr>
          <p:cNvPr id="121" name="Google Shape;121;p14"/>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122" name="Google Shape;122;p14"/>
          <p:cNvSpPr txBox="1"/>
          <p:nvPr/>
        </p:nvSpPr>
        <p:spPr>
          <a:xfrm>
            <a:off x="7324287"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11</a:t>
            </a:r>
            <a:endParaRPr/>
          </a:p>
        </p:txBody>
      </p:sp>
      <p:pic>
        <p:nvPicPr>
          <p:cNvPr id="123" name="Picture 122" descr="05-tc01-verify-trusted.png"/>
          <p:cNvPicPr>
            <a:picLocks noChangeAspect="1"/>
          </p:cNvPicPr>
          <p:nvPr/>
        </p:nvPicPr>
        <p:blipFill>
          <a:blip r:embed="rId5"/>
          <a:stretch>
            <a:fillRect/>
          </a:stretch>
        </p:blipFill>
        <p:spPr>
          <a:xfrm>
            <a:off x="428853" y="1353312"/>
            <a:ext cx="5700000" cy="1982238"/>
          </a:xfrm>
          <a:prstGeom prst="rect">
            <a:avLst/>
          </a:prstGeom>
          <a:ln w="9525">
            <a:solidFill>
              <a:srgbClr val="D9D9D9"/>
            </a:solidFill>
          </a:ln>
        </p:spPr>
      </p:pic>
      <p:sp>
        <p:nvSpPr>
          <p:cNvPr id="124" name="TextBox 123"/>
          <p:cNvSpPr txBox="1"/>
          <p:nvPr/>
        </p:nvSpPr>
        <p:spPr>
          <a:xfrm>
            <a:off x="428853" y="3385550"/>
            <a:ext cx="5700000" cy="180000"/>
          </a:xfrm>
          <a:prstGeom prst="rect">
            <a:avLst/>
          </a:prstGeom>
          <a:noFill/>
        </p:spPr>
        <p:txBody>
          <a:bodyPr wrap="square" anchor="t" lIns="0" tIns="0" rIns="0" bIns="0"/>
          <a:lstStyle/>
          <a:p>
            <a:pPr algn="l">
              <a:spcBef>
                <a:spcPts val="0"/>
              </a:spcBef>
              <a:spcAft>
                <a:spcPts val="0"/>
              </a:spcAft>
            </a:pPr>
            <a:r>
              <a:rPr sz="800" b="0" i="1">
                <a:solidFill>
                  <a:srgbClr val="5A5A5A"/>
                </a:solidFill>
                <a:latin typeface="Arial"/>
              </a:rPr>
              <a:t>Phase 4: cosign verify, then the TrustDeploy gate on tag :1.0.0</a:t>
            </a:r>
          </a:p>
        </p:txBody>
      </p:sp>
      <p:sp>
        <p:nvSpPr>
          <p:cNvPr id="125" name="Rounded Rectangle 124"/>
          <p:cNvSpPr/>
          <p:nvPr/>
        </p:nvSpPr>
        <p:spPr>
          <a:xfrm>
            <a:off x="6328853" y="1353312"/>
            <a:ext cx="2384500" cy="1050000"/>
          </a:xfrm>
          <a:prstGeom prst="roundRect">
            <a:avLst>
              <a:gd name="adj" fmla="val 6000"/>
            </a:avLst>
          </a:prstGeom>
          <a:solidFill>
            <a:srgbClr val="2B2F36"/>
          </a:solidFill>
          <a:ln>
            <a:noFill/>
          </a:ln>
          <a:effectLst/>
        </p:spPr>
        <p:txBody>
          <a:bodyPr rtlCol="0" anchor="ctr" wrap="square" lIns="91425" tIns="45700" rIns="91425" bIns="45700"/>
          <a:lstStyle/>
          <a:p>
            <a:pPr algn="ctr">
              <a:spcBef>
                <a:spcPts val="0"/>
              </a:spcBef>
              <a:spcAft>
                <a:spcPts val="0"/>
              </a:spcAft>
            </a:pPr>
            <a:r>
              <a:rPr sz="800" b="1" i="0">
                <a:solidFill>
                  <a:srgbClr val="D0D3D8"/>
                </a:solidFill>
                <a:latin typeface="Arial"/>
              </a:rPr>
              <a:t>OBSERVED RESULT</a:t>
            </a:r>
          </a:p>
          <a:p>
            <a:pPr algn="ctr">
              <a:spcBef>
                <a:spcPts val="200"/>
              </a:spcBef>
              <a:spcAft>
                <a:spcPts val="0"/>
              </a:spcAft>
            </a:pPr>
            <a:r>
              <a:rPr sz="2600" b="1" i="0">
                <a:solidFill>
                  <a:srgbClr val="FFFFFF"/>
                </a:solidFill>
                <a:latin typeface="Arial"/>
              </a:rPr>
              <a:t>ACCEPT</a:t>
            </a:r>
          </a:p>
          <a:p>
            <a:pPr algn="ctr">
              <a:spcBef>
                <a:spcPts val="200"/>
              </a:spcBef>
              <a:spcAft>
                <a:spcPts val="0"/>
              </a:spcAft>
            </a:pPr>
            <a:r>
              <a:rPr sz="900" b="1" i="0">
                <a:solidFill>
                  <a:srgbClr val="F6D5D8"/>
                </a:solidFill>
                <a:latin typeface="Courier New"/>
              </a:rPr>
              <a:t>SIGNATURE_VERIFIED</a:t>
            </a:r>
          </a:p>
        </p:txBody>
      </p:sp>
      <p:sp>
        <p:nvSpPr>
          <p:cNvPr id="126" name="TextBox 125"/>
          <p:cNvSpPr txBox="1"/>
          <p:nvPr/>
        </p:nvSpPr>
        <p:spPr>
          <a:xfrm>
            <a:off x="6328853" y="2553312"/>
            <a:ext cx="2384500" cy="2000000"/>
          </a:xfrm>
          <a:prstGeom prst="rect">
            <a:avLst/>
          </a:prstGeom>
          <a:noFill/>
        </p:spPr>
        <p:txBody>
          <a:bodyPr wrap="square" anchor="t" lIns="0" tIns="0" rIns="0" bIns="0"/>
          <a:lstStyle/>
          <a:p>
            <a:pPr algn="l">
              <a:spcBef>
                <a:spcPts val="0"/>
              </a:spcBef>
              <a:spcAft>
                <a:spcPts val="0"/>
              </a:spcAft>
            </a:pPr>
            <a:r>
              <a:rPr sz="1000" b="1" i="0">
                <a:solidFill>
                  <a:srgbClr val="111111"/>
                </a:solidFill>
                <a:latin typeface="Arial"/>
              </a:rPr>
              <a:t>Tag resolved first: </a:t>
            </a:r>
            <a:r>
              <a:rPr sz="1000" b="0" i="0">
                <a:solidFill>
                  <a:srgbClr val="5A5A5A"/>
                </a:solidFill>
                <a:latin typeface="Arial"/>
              </a:rPr>
              <a:t>:1.0.0 → sha256:deffd203…</a:t>
            </a:r>
          </a:p>
          <a:p>
            <a:pPr algn="l">
              <a:spcBef>
                <a:spcPts val="600"/>
              </a:spcBef>
              <a:spcAft>
                <a:spcPts val="0"/>
              </a:spcAft>
            </a:pPr>
            <a:r>
              <a:rPr sz="1000" b="1" i="0">
                <a:solidFill>
                  <a:srgbClr val="111111"/>
                </a:solidFill>
                <a:latin typeface="Arial"/>
              </a:rPr>
              <a:t>Key: </a:t>
            </a:r>
            <a:r>
              <a:rPr sz="1000" b="0" i="0">
                <a:solidFill>
                  <a:srgbClr val="5A5A5A"/>
                </a:solidFill>
                <a:latin typeface="Arial"/>
              </a:rPr>
              <a:t>trusted/cosign.pub</a:t>
            </a:r>
          </a:p>
          <a:p>
            <a:pPr algn="l">
              <a:spcBef>
                <a:spcPts val="600"/>
              </a:spcBef>
              <a:spcAft>
                <a:spcPts val="0"/>
              </a:spcAft>
            </a:pPr>
            <a:r>
              <a:rPr sz="1000" b="1" i="0">
                <a:solidFill>
                  <a:srgbClr val="111111"/>
                </a:solidFill>
                <a:latin typeface="Arial"/>
              </a:rPr>
              <a:t>Audited: </a:t>
            </a:r>
            <a:r>
              <a:rPr sz="1000" b="0" i="0">
                <a:solidFill>
                  <a:srgbClr val="5A5A5A"/>
                </a:solidFill>
                <a:latin typeface="Arial"/>
              </a:rPr>
              <a:t>id ebf0c89c… with timestamp</a:t>
            </a:r>
          </a:p>
        </p:txBody>
      </p:sp>
      <p:sp>
        <p:nvSpPr>
          <p:cNvPr id="127" name="Rounded Rectangle 126"/>
          <p:cNvSpPr/>
          <p:nvPr/>
        </p:nvSpPr>
        <p:spPr>
          <a:xfrm>
            <a:off x="428853" y="3665550"/>
            <a:ext cx="8284500" cy="310000"/>
          </a:xfrm>
          <a:prstGeom prst="roundRect">
            <a:avLst>
              <a:gd name="adj" fmla="val 19000"/>
            </a:avLst>
          </a:prstGeom>
          <a:solidFill>
            <a:srgbClr val="FBECED"/>
          </a:solidFill>
          <a:ln w="12700">
            <a:solidFill>
              <a:srgbClr val="A42530"/>
            </a:solidFill>
          </a:ln>
          <a:effectLst/>
        </p:spPr>
        <p:txBody>
          <a:bodyPr rtlCol="0" anchor="ctr" wrap="square" lIns="109725" tIns="18275" rIns="91425" bIns="18275"/>
          <a:lstStyle/>
          <a:p>
            <a:pPr algn="l">
              <a:spcBef>
                <a:spcPts val="0"/>
              </a:spcBef>
              <a:spcAft>
                <a:spcPts val="0"/>
              </a:spcAft>
            </a:pPr>
            <a:r>
              <a:rPr sz="1000" b="1" i="0">
                <a:solidFill>
                  <a:srgbClr val="A42530"/>
                </a:solidFill>
                <a:latin typeface="Arial"/>
              </a:rPr>
              <a:t>Takeaway: </a:t>
            </a:r>
            <a:r>
              <a:rPr sz="1000" b="0" i="0">
                <a:solidFill>
                  <a:srgbClr val="2B2F36"/>
                </a:solidFill>
                <a:latin typeface="Arial"/>
              </a:rPr>
              <a:t>the gate verified the digest the tag pointed to, not the tag itself, before accepting.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14"/>
          <p:cNvPicPr preferRelativeResize="0"/>
          <p:nvPr/>
        </p:nvPicPr>
        <p:blipFill rotWithShape="1">
          <a:blip r:embed="rId2">
            <a:alphaModFix/>
          </a:blip>
          <a:srcRect b="0" l="0" r="10" t="0"/>
          <a:stretch/>
        </p:blipFill>
        <p:spPr>
          <a:xfrm>
            <a:off x="145399" y="106185"/>
            <a:ext cx="1737300" cy="531600"/>
          </a:xfrm>
          <a:prstGeom prst="rect">
            <a:avLst/>
          </a:prstGeom>
          <a:noFill/>
          <a:ln>
            <a:noFill/>
          </a:ln>
        </p:spPr>
      </p:pic>
      <p:pic>
        <p:nvPicPr>
          <p:cNvPr id="115" name="Google Shape;115;p14"/>
          <p:cNvPicPr preferRelativeResize="0"/>
          <p:nvPr/>
        </p:nvPicPr>
        <p:blipFill rotWithShape="1">
          <a:blip r:embed="rId3">
            <a:alphaModFix/>
          </a:blip>
          <a:srcRect b="720" l="0" r="10" t="710"/>
          <a:stretch/>
        </p:blipFill>
        <p:spPr>
          <a:xfrm>
            <a:off x="8343443" y="169593"/>
            <a:ext cx="546300" cy="404700"/>
          </a:xfrm>
          <a:prstGeom prst="rect">
            <a:avLst/>
          </a:prstGeom>
          <a:noFill/>
          <a:ln>
            <a:noFill/>
          </a:ln>
        </p:spPr>
      </p:pic>
      <p:grpSp>
        <p:nvGrpSpPr>
          <p:cNvPr id="116" name="Google Shape;116;p14"/>
          <p:cNvGrpSpPr/>
          <p:nvPr/>
        </p:nvGrpSpPr>
        <p:grpSpPr>
          <a:xfrm>
            <a:off x="0" y="4560570"/>
            <a:ext cx="9144010" cy="592800"/>
            <a:chOff x="0" y="4560570"/>
            <a:chExt cx="9144010" cy="592800"/>
          </a:xfrm>
        </p:grpSpPr>
        <p:sp>
          <p:nvSpPr>
            <p:cNvPr id="117" name="Google Shape;117;p14"/>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14"/>
          <p:cNvSpPr txBox="1"/>
          <p:nvPr/>
        </p:nvSpPr>
        <p:spPr>
          <a:xfrm>
            <a:off x="428853" y="676656"/>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IMPLEMENTATION EVIDENCE</a:t>
            </a:r>
            <a:endParaRPr/>
          </a:p>
          <a:p>
            <a:pPr indent="0" lvl="0" marL="0" marR="0" rtl="0" algn="l">
              <a:lnSpc>
                <a:spcPct val="100000"/>
              </a:lnSpc>
              <a:spcBef>
                <a:spcPts val="300"/>
              </a:spcBef>
              <a:spcAft>
                <a:spcPts val="0"/>
              </a:spcAft>
              <a:buClr>
                <a:srgbClr val="000000"/>
              </a:buClr>
              <a:buSzPts val="2400"/>
              <a:buFont typeface="Arial"/>
              <a:buNone/>
            </a:pPr>
            <a:r>
              <a:rPr b="1" i="0" lang="en-US" sz="2400" u="none" cap="none" strike="noStrike">
                <a:solidFill>
                  <a:srgbClr val="111111"/>
                </a:solidFill>
                <a:latin typeface="Arial"/>
                <a:ea typeface="Arial"/>
                <a:cs typeface="Arial"/>
                <a:sym typeface="Arial"/>
              </a:rPr>
              <a:t>Attacks rejected: wrong key, copied signature</a:t>
            </a:r>
            <a:endParaRPr/>
          </a:p>
        </p:txBody>
      </p:sp>
      <p:sp>
        <p:nvSpPr>
          <p:cNvPr id="121" name="Google Shape;121;p14"/>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122" name="Google Shape;122;p14"/>
          <p:cNvSpPr txBox="1"/>
          <p:nvPr/>
        </p:nvSpPr>
        <p:spPr>
          <a:xfrm>
            <a:off x="7324287"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12</a:t>
            </a:r>
            <a:endParaRPr/>
          </a:p>
        </p:txBody>
      </p:sp>
      <p:pic>
        <p:nvPicPr>
          <p:cNvPr id="123" name="Picture 122" descr="08-tc03-untrusted-key.png"/>
          <p:cNvPicPr>
            <a:picLocks noChangeAspect="1"/>
          </p:cNvPicPr>
          <p:nvPr/>
        </p:nvPicPr>
        <p:blipFill>
          <a:blip r:embed="rId5"/>
          <a:stretch>
            <a:fillRect/>
          </a:stretch>
        </p:blipFill>
        <p:spPr>
          <a:xfrm>
            <a:off x="428853" y="1353312"/>
            <a:ext cx="5500000" cy="1338059"/>
          </a:xfrm>
          <a:prstGeom prst="rect">
            <a:avLst/>
          </a:prstGeom>
          <a:ln w="9525">
            <a:solidFill>
              <a:srgbClr val="D9D9D9"/>
            </a:solidFill>
          </a:ln>
        </p:spPr>
      </p:pic>
      <p:sp>
        <p:nvSpPr>
          <p:cNvPr id="124" name="TextBox 123"/>
          <p:cNvSpPr txBox="1"/>
          <p:nvPr/>
        </p:nvSpPr>
        <p:spPr>
          <a:xfrm>
            <a:off x="428853" y="2721371"/>
            <a:ext cx="5500000" cy="180000"/>
          </a:xfrm>
          <a:prstGeom prst="rect">
            <a:avLst/>
          </a:prstGeom>
          <a:noFill/>
        </p:spPr>
        <p:txBody>
          <a:bodyPr wrap="square" anchor="t" lIns="0" tIns="0" rIns="0" bIns="0"/>
          <a:lstStyle/>
          <a:p>
            <a:pPr algn="l">
              <a:spcBef>
                <a:spcPts val="0"/>
              </a:spcBef>
              <a:spcAft>
                <a:spcPts val="0"/>
              </a:spcAft>
            </a:pPr>
            <a:r>
              <a:rPr sz="800" b="0" i="1">
                <a:solidFill>
                  <a:srgbClr val="5A5A5A"/>
                </a:solidFill>
                <a:latin typeface="Arial"/>
              </a:rPr>
              <a:t>TC03: image signed with the attacker’s key</a:t>
            </a:r>
          </a:p>
        </p:txBody>
      </p:sp>
      <p:pic>
        <p:nvPicPr>
          <p:cNvPr id="125" name="Picture 124" descr="09-tc04a-copied-signature.png"/>
          <p:cNvPicPr>
            <a:picLocks noChangeAspect="1"/>
          </p:cNvPicPr>
          <p:nvPr/>
        </p:nvPicPr>
        <p:blipFill>
          <a:blip r:embed="rId6"/>
          <a:stretch>
            <a:fillRect/>
          </a:stretch>
        </p:blipFill>
        <p:spPr>
          <a:xfrm>
            <a:off x="428853" y="2941371"/>
            <a:ext cx="5500000" cy="1338059"/>
          </a:xfrm>
          <a:prstGeom prst="rect">
            <a:avLst/>
          </a:prstGeom>
          <a:ln w="9525">
            <a:solidFill>
              <a:srgbClr val="D9D9D9"/>
            </a:solidFill>
          </a:ln>
        </p:spPr>
      </p:pic>
      <p:sp>
        <p:nvSpPr>
          <p:cNvPr id="126" name="TextBox 125"/>
          <p:cNvSpPr txBox="1"/>
          <p:nvPr/>
        </p:nvSpPr>
        <p:spPr>
          <a:xfrm>
            <a:off x="428853" y="4309430"/>
            <a:ext cx="5500000" cy="180000"/>
          </a:xfrm>
          <a:prstGeom prst="rect">
            <a:avLst/>
          </a:prstGeom>
          <a:noFill/>
        </p:spPr>
        <p:txBody>
          <a:bodyPr wrap="square" anchor="t" lIns="0" tIns="0" rIns="0" bIns="0"/>
          <a:lstStyle/>
          <a:p>
            <a:pPr algn="l">
              <a:spcBef>
                <a:spcPts val="0"/>
              </a:spcBef>
              <a:spcAft>
                <a:spcPts val="0"/>
              </a:spcAft>
            </a:pPr>
            <a:r>
              <a:rPr sz="800" b="0" i="1">
                <a:solidFill>
                  <a:srgbClr val="5A5A5A"/>
                </a:solidFill>
                <a:latin typeface="Arial"/>
              </a:rPr>
              <a:t>TC04a: genuine signature copied onto a different image</a:t>
            </a:r>
          </a:p>
        </p:txBody>
      </p:sp>
      <p:sp>
        <p:nvSpPr>
          <p:cNvPr id="127" name="Rounded Rectangle 126"/>
          <p:cNvSpPr/>
          <p:nvPr/>
        </p:nvSpPr>
        <p:spPr>
          <a:xfrm>
            <a:off x="6128853" y="1353312"/>
            <a:ext cx="2584500" cy="560000"/>
          </a:xfrm>
          <a:prstGeom prst="roundRect">
            <a:avLst>
              <a:gd name="adj" fmla="val 10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28" name="Rounded Rectangle 127"/>
          <p:cNvSpPr/>
          <p:nvPr/>
        </p:nvSpPr>
        <p:spPr>
          <a:xfrm>
            <a:off x="6208853" y="1513312"/>
            <a:ext cx="600000" cy="240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800" b="1" i="0">
                <a:solidFill>
                  <a:srgbClr val="FFFFFF"/>
                </a:solidFill>
                <a:latin typeface="Arial"/>
              </a:rPr>
              <a:t>TC02</a:t>
            </a:r>
          </a:p>
        </p:txBody>
      </p:sp>
      <p:sp>
        <p:nvSpPr>
          <p:cNvPr id="129" name="TextBox 128"/>
          <p:cNvSpPr txBox="1"/>
          <p:nvPr/>
        </p:nvSpPr>
        <p:spPr>
          <a:xfrm>
            <a:off x="6888853" y="1383312"/>
            <a:ext cx="1764500" cy="500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Arial"/>
              </a:rPr>
              <a:t>Unsigned image</a:t>
            </a:r>
          </a:p>
          <a:p>
            <a:pPr algn="l">
              <a:spcBef>
                <a:spcPts val="100"/>
              </a:spcBef>
              <a:spcAft>
                <a:spcPts val="0"/>
              </a:spcAft>
            </a:pPr>
            <a:r>
              <a:rPr sz="700" b="1" i="0">
                <a:solidFill>
                  <a:srgbClr val="A42530"/>
                </a:solidFill>
                <a:latin typeface="Courier New"/>
              </a:rPr>
              <a:t>REJECT · NO_SIGNATURE</a:t>
            </a:r>
          </a:p>
        </p:txBody>
      </p:sp>
      <p:sp>
        <p:nvSpPr>
          <p:cNvPr id="130" name="Rounded Rectangle 129"/>
          <p:cNvSpPr/>
          <p:nvPr/>
        </p:nvSpPr>
        <p:spPr>
          <a:xfrm>
            <a:off x="6128853" y="2003312"/>
            <a:ext cx="2584500" cy="560000"/>
          </a:xfrm>
          <a:prstGeom prst="roundRect">
            <a:avLst>
              <a:gd name="adj" fmla="val 10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1" name="Rounded Rectangle 130"/>
          <p:cNvSpPr/>
          <p:nvPr/>
        </p:nvSpPr>
        <p:spPr>
          <a:xfrm>
            <a:off x="6208853" y="2163312"/>
            <a:ext cx="600000" cy="240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800" b="1" i="0">
                <a:solidFill>
                  <a:srgbClr val="FFFFFF"/>
                </a:solidFill>
                <a:latin typeface="Arial"/>
              </a:rPr>
              <a:t>TC03</a:t>
            </a:r>
          </a:p>
        </p:txBody>
      </p:sp>
      <p:sp>
        <p:nvSpPr>
          <p:cNvPr id="132" name="TextBox 131"/>
          <p:cNvSpPr txBox="1"/>
          <p:nvPr/>
        </p:nvSpPr>
        <p:spPr>
          <a:xfrm>
            <a:off x="6888853" y="2033312"/>
            <a:ext cx="1764500" cy="500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Arial"/>
              </a:rPr>
              <a:t>Attacker’s own key</a:t>
            </a:r>
          </a:p>
          <a:p>
            <a:pPr algn="l">
              <a:spcBef>
                <a:spcPts val="100"/>
              </a:spcBef>
              <a:spcAft>
                <a:spcPts val="0"/>
              </a:spcAft>
            </a:pPr>
            <a:r>
              <a:rPr sz="700" b="1" i="0">
                <a:solidFill>
                  <a:srgbClr val="A42530"/>
                </a:solidFill>
                <a:latin typeface="Courier New"/>
              </a:rPr>
              <a:t>REJECT · UNTRUSTED_SIGNER</a:t>
            </a:r>
          </a:p>
        </p:txBody>
      </p:sp>
      <p:sp>
        <p:nvSpPr>
          <p:cNvPr id="133" name="Rounded Rectangle 132"/>
          <p:cNvSpPr/>
          <p:nvPr/>
        </p:nvSpPr>
        <p:spPr>
          <a:xfrm>
            <a:off x="6128853" y="2653312"/>
            <a:ext cx="2584500" cy="560000"/>
          </a:xfrm>
          <a:prstGeom prst="roundRect">
            <a:avLst>
              <a:gd name="adj" fmla="val 10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4" name="Rounded Rectangle 133"/>
          <p:cNvSpPr/>
          <p:nvPr/>
        </p:nvSpPr>
        <p:spPr>
          <a:xfrm>
            <a:off x="6208853" y="2813312"/>
            <a:ext cx="600000" cy="240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800" b="1" i="0">
                <a:solidFill>
                  <a:srgbClr val="FFFFFF"/>
                </a:solidFill>
                <a:latin typeface="Arial"/>
              </a:rPr>
              <a:t>TC04a</a:t>
            </a:r>
          </a:p>
        </p:txBody>
      </p:sp>
      <p:sp>
        <p:nvSpPr>
          <p:cNvPr id="135" name="TextBox 134"/>
          <p:cNvSpPr txBox="1"/>
          <p:nvPr/>
        </p:nvSpPr>
        <p:spPr>
          <a:xfrm>
            <a:off x="6888853" y="2683312"/>
            <a:ext cx="1764500" cy="500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Arial"/>
              </a:rPr>
              <a:t>Copied genuine signature</a:t>
            </a:r>
          </a:p>
          <a:p>
            <a:pPr algn="l">
              <a:spcBef>
                <a:spcPts val="100"/>
              </a:spcBef>
              <a:spcAft>
                <a:spcPts val="0"/>
              </a:spcAft>
            </a:pPr>
            <a:r>
              <a:rPr sz="700" b="1" i="0">
                <a:solidFill>
                  <a:srgbClr val="A42530"/>
                </a:solidFill>
                <a:latin typeface="Courier New"/>
              </a:rPr>
              <a:t>REJECT · SIGNATURE_IMAGE_MISMATCH</a:t>
            </a:r>
          </a:p>
        </p:txBody>
      </p:sp>
      <p:sp>
        <p:nvSpPr>
          <p:cNvPr id="136" name="Rounded Rectangle 135"/>
          <p:cNvSpPr/>
          <p:nvPr/>
        </p:nvSpPr>
        <p:spPr>
          <a:xfrm>
            <a:off x="6128853" y="3303312"/>
            <a:ext cx="2584500" cy="560000"/>
          </a:xfrm>
          <a:prstGeom prst="roundRect">
            <a:avLst>
              <a:gd name="adj" fmla="val 10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7" name="Rounded Rectangle 136"/>
          <p:cNvSpPr/>
          <p:nvPr/>
        </p:nvSpPr>
        <p:spPr>
          <a:xfrm>
            <a:off x="6208853" y="3463312"/>
            <a:ext cx="600000" cy="240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800" b="1" i="0">
                <a:solidFill>
                  <a:srgbClr val="FFFFFF"/>
                </a:solidFill>
                <a:latin typeface="Arial"/>
              </a:rPr>
              <a:t>TC04b</a:t>
            </a:r>
          </a:p>
        </p:txBody>
      </p:sp>
      <p:sp>
        <p:nvSpPr>
          <p:cNvPr id="138" name="TextBox 137"/>
          <p:cNvSpPr txBox="1"/>
          <p:nvPr/>
        </p:nvSpPr>
        <p:spPr>
          <a:xfrm>
            <a:off x="6888853" y="3333312"/>
            <a:ext cx="1764500" cy="500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Arial"/>
              </a:rPr>
              <a:t>Tampered build over :1.0.0</a:t>
            </a:r>
          </a:p>
          <a:p>
            <a:pPr algn="l">
              <a:spcBef>
                <a:spcPts val="100"/>
              </a:spcBef>
              <a:spcAft>
                <a:spcPts val="0"/>
              </a:spcAft>
            </a:pPr>
            <a:r>
              <a:rPr sz="700" b="1" i="0">
                <a:solidFill>
                  <a:srgbClr val="A42530"/>
                </a:solidFill>
                <a:latin typeface="Courier New"/>
              </a:rPr>
              <a:t>REJECT · NO_SIGNATURE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14"/>
          <p:cNvPicPr preferRelativeResize="0"/>
          <p:nvPr/>
        </p:nvPicPr>
        <p:blipFill rotWithShape="1">
          <a:blip r:embed="rId2">
            <a:alphaModFix/>
          </a:blip>
          <a:srcRect b="0" l="0" r="10" t="0"/>
          <a:stretch/>
        </p:blipFill>
        <p:spPr>
          <a:xfrm>
            <a:off x="145399" y="106185"/>
            <a:ext cx="1737300" cy="531600"/>
          </a:xfrm>
          <a:prstGeom prst="rect">
            <a:avLst/>
          </a:prstGeom>
          <a:noFill/>
          <a:ln>
            <a:noFill/>
          </a:ln>
        </p:spPr>
      </p:pic>
      <p:pic>
        <p:nvPicPr>
          <p:cNvPr id="115" name="Google Shape;115;p14"/>
          <p:cNvPicPr preferRelativeResize="0"/>
          <p:nvPr/>
        </p:nvPicPr>
        <p:blipFill rotWithShape="1">
          <a:blip r:embed="rId3">
            <a:alphaModFix/>
          </a:blip>
          <a:srcRect b="720" l="0" r="10" t="710"/>
          <a:stretch/>
        </p:blipFill>
        <p:spPr>
          <a:xfrm>
            <a:off x="8343443" y="169593"/>
            <a:ext cx="546300" cy="404700"/>
          </a:xfrm>
          <a:prstGeom prst="rect">
            <a:avLst/>
          </a:prstGeom>
          <a:noFill/>
          <a:ln>
            <a:noFill/>
          </a:ln>
        </p:spPr>
      </p:pic>
      <p:grpSp>
        <p:nvGrpSpPr>
          <p:cNvPr id="116" name="Google Shape;116;p14"/>
          <p:cNvGrpSpPr/>
          <p:nvPr/>
        </p:nvGrpSpPr>
        <p:grpSpPr>
          <a:xfrm>
            <a:off x="0" y="4560570"/>
            <a:ext cx="9144010" cy="592800"/>
            <a:chOff x="0" y="4560570"/>
            <a:chExt cx="9144010" cy="592800"/>
          </a:xfrm>
        </p:grpSpPr>
        <p:sp>
          <p:nvSpPr>
            <p:cNvPr id="117" name="Google Shape;117;p14"/>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14"/>
          <p:cNvSpPr txBox="1"/>
          <p:nvPr/>
        </p:nvSpPr>
        <p:spPr>
          <a:xfrm>
            <a:off x="428853" y="676656"/>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IMPLEMENTATION EVIDENCE</a:t>
            </a:r>
            <a:endParaRPr/>
          </a:p>
          <a:p>
            <a:pPr indent="0" lvl="0" marL="0" marR="0" rtl="0" algn="l">
              <a:lnSpc>
                <a:spcPct val="100000"/>
              </a:lnSpc>
              <a:spcBef>
                <a:spcPts val="300"/>
              </a:spcBef>
              <a:spcAft>
                <a:spcPts val="0"/>
              </a:spcAft>
              <a:buClr>
                <a:srgbClr val="000000"/>
              </a:buClr>
              <a:buSzPts val="2400"/>
              <a:buFont typeface="Arial"/>
              <a:buNone/>
            </a:pPr>
            <a:r>
              <a:rPr b="1" i="0" lang="en-US" sz="2400" u="none" cap="none" strike="noStrike">
                <a:solidFill>
                  <a:srgbClr val="111111"/>
                </a:solidFill>
                <a:latin typeface="Arial"/>
                <a:ea typeface="Arial"/>
                <a:cs typeface="Arial"/>
                <a:sym typeface="Arial"/>
              </a:rPr>
              <a:t>Fail closed: errors deny deployment</a:t>
            </a:r>
            <a:endParaRPr/>
          </a:p>
        </p:txBody>
      </p:sp>
      <p:sp>
        <p:nvSpPr>
          <p:cNvPr id="121" name="Google Shape;121;p14"/>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122" name="Google Shape;122;p14"/>
          <p:cNvSpPr txBox="1"/>
          <p:nvPr/>
        </p:nvSpPr>
        <p:spPr>
          <a:xfrm>
            <a:off x="7324287"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13</a:t>
            </a:r>
            <a:endParaRPr/>
          </a:p>
        </p:txBody>
      </p:sp>
      <p:pic>
        <p:nvPicPr>
          <p:cNvPr id="123" name="Picture 122" descr="12-tc05b-registry-down.png"/>
          <p:cNvPicPr>
            <a:picLocks noChangeAspect="1"/>
          </p:cNvPicPr>
          <p:nvPr/>
        </p:nvPicPr>
        <p:blipFill>
          <a:blip r:embed="rId5"/>
          <a:stretch>
            <a:fillRect/>
          </a:stretch>
        </p:blipFill>
        <p:spPr>
          <a:xfrm>
            <a:off x="428853" y="1353312"/>
            <a:ext cx="4340845" cy="1380000"/>
          </a:xfrm>
          <a:prstGeom prst="rect">
            <a:avLst/>
          </a:prstGeom>
          <a:ln w="9525">
            <a:solidFill>
              <a:srgbClr val="D9D9D9"/>
            </a:solidFill>
          </a:ln>
        </p:spPr>
      </p:pic>
      <p:sp>
        <p:nvSpPr>
          <p:cNvPr id="124" name="TextBox 123"/>
          <p:cNvSpPr txBox="1"/>
          <p:nvPr/>
        </p:nvSpPr>
        <p:spPr>
          <a:xfrm>
            <a:off x="428853" y="2763312"/>
            <a:ext cx="4340845" cy="180000"/>
          </a:xfrm>
          <a:prstGeom prst="rect">
            <a:avLst/>
          </a:prstGeom>
          <a:noFill/>
        </p:spPr>
        <p:txBody>
          <a:bodyPr wrap="square" anchor="t" lIns="0" tIns="0" rIns="0" bIns="0"/>
          <a:lstStyle/>
          <a:p>
            <a:pPr algn="l">
              <a:spcBef>
                <a:spcPts val="0"/>
              </a:spcBef>
              <a:spcAft>
                <a:spcPts val="0"/>
              </a:spcAft>
            </a:pPr>
            <a:r>
              <a:rPr sz="800" b="0" i="1">
                <a:solidFill>
                  <a:srgbClr val="5A5A5A"/>
                </a:solidFill>
                <a:latin typeface="Arial"/>
              </a:rPr>
              <a:t>TC05b: registry unreachable during verification of a valid image</a:t>
            </a:r>
          </a:p>
        </p:txBody>
      </p:sp>
      <p:pic>
        <p:nvPicPr>
          <p:cNvPr id="125" name="Picture 124" descr="15-unit-tests.png"/>
          <p:cNvPicPr>
            <a:picLocks noChangeAspect="1"/>
          </p:cNvPicPr>
          <p:nvPr/>
        </p:nvPicPr>
        <p:blipFill>
          <a:blip r:embed="rId6"/>
          <a:stretch>
            <a:fillRect/>
          </a:stretch>
        </p:blipFill>
        <p:spPr>
          <a:xfrm>
            <a:off x="428853" y="2963312"/>
            <a:ext cx="4165803" cy="1200000"/>
          </a:xfrm>
          <a:prstGeom prst="rect">
            <a:avLst/>
          </a:prstGeom>
          <a:ln w="9525">
            <a:solidFill>
              <a:srgbClr val="D9D9D9"/>
            </a:solidFill>
          </a:ln>
        </p:spPr>
      </p:pic>
      <p:sp>
        <p:nvSpPr>
          <p:cNvPr id="126" name="TextBox 125"/>
          <p:cNvSpPr txBox="1"/>
          <p:nvPr/>
        </p:nvSpPr>
        <p:spPr>
          <a:xfrm>
            <a:off x="428853" y="4193312"/>
            <a:ext cx="4165803" cy="180000"/>
          </a:xfrm>
          <a:prstGeom prst="rect">
            <a:avLst/>
          </a:prstGeom>
          <a:noFill/>
        </p:spPr>
        <p:txBody>
          <a:bodyPr wrap="square" anchor="t" lIns="0" tIns="0" rIns="0" bIns="0"/>
          <a:lstStyle/>
          <a:p>
            <a:pPr algn="l">
              <a:spcBef>
                <a:spcPts val="0"/>
              </a:spcBef>
              <a:spcAft>
                <a:spcPts val="0"/>
              </a:spcAft>
            </a:pPr>
            <a:r>
              <a:rPr sz="800" b="0" i="1">
                <a:solidFill>
                  <a:srgbClr val="5A5A5A"/>
                </a:solidFill>
                <a:latin typeface="Arial"/>
              </a:rPr>
              <a:t>Unit tests: fail-closed decision logic (8 tests, OK)</a:t>
            </a:r>
          </a:p>
        </p:txBody>
      </p:sp>
      <p:sp>
        <p:nvSpPr>
          <p:cNvPr id="127" name="Rounded Rectangle 126"/>
          <p:cNvSpPr/>
          <p:nvPr/>
        </p:nvSpPr>
        <p:spPr>
          <a:xfrm>
            <a:off x="4969698" y="1353312"/>
            <a:ext cx="3743655" cy="470000"/>
          </a:xfrm>
          <a:prstGeom prst="roundRect">
            <a:avLst>
              <a:gd name="adj" fmla="val 10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28" name="Rounded Rectangle 127"/>
          <p:cNvSpPr/>
          <p:nvPr/>
        </p:nvSpPr>
        <p:spPr>
          <a:xfrm>
            <a:off x="5049698" y="1468312"/>
            <a:ext cx="600000" cy="240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800" b="1" i="0">
                <a:solidFill>
                  <a:srgbClr val="FFFFFF"/>
                </a:solidFill>
                <a:latin typeface="Arial"/>
              </a:rPr>
              <a:t>TC05a</a:t>
            </a:r>
          </a:p>
        </p:txBody>
      </p:sp>
      <p:sp>
        <p:nvSpPr>
          <p:cNvPr id="129" name="TextBox 128"/>
          <p:cNvSpPr txBox="1"/>
          <p:nvPr/>
        </p:nvSpPr>
        <p:spPr>
          <a:xfrm>
            <a:off x="5729698" y="1383312"/>
            <a:ext cx="2923655" cy="410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Arial"/>
              </a:rPr>
              <a:t>Cosign missing</a:t>
            </a:r>
          </a:p>
          <a:p>
            <a:pPr algn="l">
              <a:spcBef>
                <a:spcPts val="100"/>
              </a:spcBef>
              <a:spcAft>
                <a:spcPts val="0"/>
              </a:spcAft>
            </a:pPr>
            <a:r>
              <a:rPr sz="700" b="1" i="0">
                <a:solidFill>
                  <a:srgbClr val="A42530"/>
                </a:solidFill>
                <a:latin typeface="Courier New"/>
              </a:rPr>
              <a:t>VERIFICATION_TOOL_ERROR</a:t>
            </a:r>
          </a:p>
        </p:txBody>
      </p:sp>
      <p:sp>
        <p:nvSpPr>
          <p:cNvPr id="130" name="Rounded Rectangle 129"/>
          <p:cNvSpPr/>
          <p:nvPr/>
        </p:nvSpPr>
        <p:spPr>
          <a:xfrm>
            <a:off x="4969698" y="1893312"/>
            <a:ext cx="3743655" cy="470000"/>
          </a:xfrm>
          <a:prstGeom prst="roundRect">
            <a:avLst>
              <a:gd name="adj" fmla="val 10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1" name="Rounded Rectangle 130"/>
          <p:cNvSpPr/>
          <p:nvPr/>
        </p:nvSpPr>
        <p:spPr>
          <a:xfrm>
            <a:off x="5049698" y="2008312"/>
            <a:ext cx="600000" cy="240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800" b="1" i="0">
                <a:solidFill>
                  <a:srgbClr val="FFFFFF"/>
                </a:solidFill>
                <a:latin typeface="Arial"/>
              </a:rPr>
              <a:t>TC05b</a:t>
            </a:r>
          </a:p>
        </p:txBody>
      </p:sp>
      <p:sp>
        <p:nvSpPr>
          <p:cNvPr id="132" name="TextBox 131"/>
          <p:cNvSpPr txBox="1"/>
          <p:nvPr/>
        </p:nvSpPr>
        <p:spPr>
          <a:xfrm>
            <a:off x="5729698" y="1923312"/>
            <a:ext cx="2923655" cy="410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Arial"/>
              </a:rPr>
              <a:t>Registry down</a:t>
            </a:r>
          </a:p>
          <a:p>
            <a:pPr algn="l">
              <a:spcBef>
                <a:spcPts val="100"/>
              </a:spcBef>
              <a:spcAft>
                <a:spcPts val="0"/>
              </a:spcAft>
            </a:pPr>
            <a:r>
              <a:rPr sz="700" b="1" i="0">
                <a:solidFill>
                  <a:srgbClr val="A42530"/>
                </a:solidFill>
                <a:latin typeface="Courier New"/>
              </a:rPr>
              <a:t>IMAGE_RESOLUTION_FAILED</a:t>
            </a:r>
          </a:p>
        </p:txBody>
      </p:sp>
      <p:sp>
        <p:nvSpPr>
          <p:cNvPr id="133" name="Rounded Rectangle 132"/>
          <p:cNvSpPr/>
          <p:nvPr/>
        </p:nvSpPr>
        <p:spPr>
          <a:xfrm>
            <a:off x="4969698" y="2433312"/>
            <a:ext cx="3743655" cy="470000"/>
          </a:xfrm>
          <a:prstGeom prst="roundRect">
            <a:avLst>
              <a:gd name="adj" fmla="val 10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4" name="Rounded Rectangle 133"/>
          <p:cNvSpPr/>
          <p:nvPr/>
        </p:nvSpPr>
        <p:spPr>
          <a:xfrm>
            <a:off x="5049698" y="2548312"/>
            <a:ext cx="600000" cy="240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800" b="1" i="0">
                <a:solidFill>
                  <a:srgbClr val="FFFFFF"/>
                </a:solidFill>
                <a:latin typeface="Arial"/>
              </a:rPr>
              <a:t>TC05c</a:t>
            </a:r>
          </a:p>
        </p:txBody>
      </p:sp>
      <p:sp>
        <p:nvSpPr>
          <p:cNvPr id="135" name="TextBox 134"/>
          <p:cNvSpPr txBox="1"/>
          <p:nvPr/>
        </p:nvSpPr>
        <p:spPr>
          <a:xfrm>
            <a:off x="5729698" y="2463312"/>
            <a:ext cx="2923655" cy="410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Arial"/>
              </a:rPr>
              <a:t>nginx from docker.io</a:t>
            </a:r>
          </a:p>
          <a:p>
            <a:pPr algn="l">
              <a:spcBef>
                <a:spcPts val="100"/>
              </a:spcBef>
              <a:spcAft>
                <a:spcPts val="0"/>
              </a:spcAft>
            </a:pPr>
            <a:r>
              <a:rPr sz="700" b="1" i="0">
                <a:solidFill>
                  <a:srgbClr val="A42530"/>
                </a:solidFill>
                <a:latin typeface="Courier New"/>
              </a:rPr>
              <a:t>REGISTRY_NOT_ALLOWED</a:t>
            </a:r>
          </a:p>
        </p:txBody>
      </p:sp>
      <p:sp>
        <p:nvSpPr>
          <p:cNvPr id="136" name="Rounded Rectangle 135"/>
          <p:cNvSpPr/>
          <p:nvPr/>
        </p:nvSpPr>
        <p:spPr>
          <a:xfrm>
            <a:off x="4969698" y="3033312"/>
            <a:ext cx="3743655" cy="1328688"/>
          </a:xfrm>
          <a:prstGeom prst="roundRect">
            <a:avLst>
              <a:gd name="adj" fmla="val 6000"/>
            </a:avLst>
          </a:prstGeom>
          <a:solidFill>
            <a:srgbClr val="A42530"/>
          </a:solidFill>
          <a:ln>
            <a:noFill/>
          </a:ln>
          <a:effectLst/>
        </p:spPr>
        <p:txBody>
          <a:bodyPr rtlCol="0" anchor="ctr" wrap="square" lIns="60000" tIns="30000" rIns="60000" bIns="30000"/>
          <a:lstStyle/>
          <a:p>
            <a:pPr algn="ctr">
              <a:spcBef>
                <a:spcPts val="0"/>
              </a:spcBef>
              <a:spcAft>
                <a:spcPts val="0"/>
              </a:spcAft>
            </a:pPr>
            <a:r>
              <a:rPr sz="2800" b="1" i="0">
                <a:solidFill>
                  <a:srgbClr val="FFFFFF"/>
                </a:solidFill>
                <a:latin typeface="Arial"/>
              </a:rPr>
              <a:t>8/8</a:t>
            </a:r>
          </a:p>
          <a:p>
            <a:pPr algn="ctr">
              <a:spcBef>
                <a:spcPts val="0"/>
              </a:spcBef>
              <a:spcAft>
                <a:spcPts val="0"/>
              </a:spcAft>
            </a:pPr>
            <a:r>
              <a:rPr sz="1000" b="1" i="0">
                <a:solidFill>
                  <a:srgbClr val="FFFFFF"/>
                </a:solidFill>
                <a:latin typeface="Arial"/>
              </a:rPr>
              <a:t>unit tests pass</a:t>
            </a:r>
          </a:p>
          <a:p>
            <a:pPr algn="ctr">
              <a:spcBef>
                <a:spcPts val="400"/>
              </a:spcBef>
              <a:spcAft>
                <a:spcPts val="0"/>
              </a:spcAft>
            </a:pPr>
            <a:r>
              <a:rPr sz="800" b="0" i="0">
                <a:solidFill>
                  <a:srgbClr val="F6D5D8"/>
                </a:solidFill>
                <a:latin typeface="Arial"/>
              </a:rPr>
              <a:t>timeouts, missing tool and exceptions all fail closed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14"/>
          <p:cNvPicPr preferRelativeResize="0"/>
          <p:nvPr/>
        </p:nvPicPr>
        <p:blipFill rotWithShape="1">
          <a:blip r:embed="rId2">
            <a:alphaModFix/>
          </a:blip>
          <a:srcRect b="0" l="0" r="10" t="0"/>
          <a:stretch/>
        </p:blipFill>
        <p:spPr>
          <a:xfrm>
            <a:off x="145399" y="106185"/>
            <a:ext cx="1737300" cy="531600"/>
          </a:xfrm>
          <a:prstGeom prst="rect">
            <a:avLst/>
          </a:prstGeom>
          <a:noFill/>
          <a:ln>
            <a:noFill/>
          </a:ln>
        </p:spPr>
      </p:pic>
      <p:pic>
        <p:nvPicPr>
          <p:cNvPr id="115" name="Google Shape;115;p14"/>
          <p:cNvPicPr preferRelativeResize="0"/>
          <p:nvPr/>
        </p:nvPicPr>
        <p:blipFill rotWithShape="1">
          <a:blip r:embed="rId3">
            <a:alphaModFix/>
          </a:blip>
          <a:srcRect b="720" l="0" r="10" t="710"/>
          <a:stretch/>
        </p:blipFill>
        <p:spPr>
          <a:xfrm>
            <a:off x="8343443" y="169593"/>
            <a:ext cx="546300" cy="404700"/>
          </a:xfrm>
          <a:prstGeom prst="rect">
            <a:avLst/>
          </a:prstGeom>
          <a:noFill/>
          <a:ln>
            <a:noFill/>
          </a:ln>
        </p:spPr>
      </p:pic>
      <p:grpSp>
        <p:nvGrpSpPr>
          <p:cNvPr id="116" name="Google Shape;116;p14"/>
          <p:cNvGrpSpPr/>
          <p:nvPr/>
        </p:nvGrpSpPr>
        <p:grpSpPr>
          <a:xfrm>
            <a:off x="0" y="4560570"/>
            <a:ext cx="9144010" cy="592800"/>
            <a:chOff x="0" y="4560570"/>
            <a:chExt cx="9144010" cy="592800"/>
          </a:xfrm>
        </p:grpSpPr>
        <p:sp>
          <p:nvSpPr>
            <p:cNvPr id="117" name="Google Shape;117;p14"/>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14"/>
          <p:cNvSpPr txBox="1"/>
          <p:nvPr/>
        </p:nvSpPr>
        <p:spPr>
          <a:xfrm>
            <a:off x="428853" y="676656"/>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IMPLEMENTATION EVIDENCE</a:t>
            </a:r>
            <a:endParaRPr/>
          </a:p>
          <a:p>
            <a:pPr indent="0" lvl="0" marL="0" marR="0" rtl="0" algn="l">
              <a:lnSpc>
                <a:spcPct val="100000"/>
              </a:lnSpc>
              <a:spcBef>
                <a:spcPts val="300"/>
              </a:spcBef>
              <a:spcAft>
                <a:spcPts val="0"/>
              </a:spcAft>
              <a:buClr>
                <a:srgbClr val="000000"/>
              </a:buClr>
              <a:buSzPts val="2400"/>
              <a:buFont typeface="Arial"/>
              <a:buNone/>
            </a:pPr>
            <a:r>
              <a:rPr b="1" i="0" lang="en-US" sz="2400" u="none" cap="none" strike="noStrike">
                <a:solidFill>
                  <a:srgbClr val="111111"/>
                </a:solidFill>
                <a:latin typeface="Arial"/>
                <a:ea typeface="Arial"/>
                <a:cs typeface="Arial"/>
                <a:sym typeface="Arial"/>
              </a:rPr>
              <a:t>Enforced at deploy time: Docker and Kubernetes</a:t>
            </a:r>
            <a:endParaRPr/>
          </a:p>
        </p:txBody>
      </p:sp>
      <p:sp>
        <p:nvSpPr>
          <p:cNvPr id="121" name="Google Shape;121;p14"/>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122" name="Google Shape;122;p14"/>
          <p:cNvSpPr txBox="1"/>
          <p:nvPr/>
        </p:nvSpPr>
        <p:spPr>
          <a:xfrm>
            <a:off x="7324287"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14</a:t>
            </a:r>
            <a:endParaRPr/>
          </a:p>
        </p:txBody>
      </p:sp>
      <p:pic>
        <p:nvPicPr>
          <p:cNvPr id="123" name="Picture 122" descr="16-deploy-gate-docker.png"/>
          <p:cNvPicPr>
            <a:picLocks noChangeAspect="1"/>
          </p:cNvPicPr>
          <p:nvPr/>
        </p:nvPicPr>
        <p:blipFill>
          <a:blip r:embed="rId5"/>
          <a:stretch>
            <a:fillRect/>
          </a:stretch>
        </p:blipFill>
        <p:spPr>
          <a:xfrm>
            <a:off x="428853" y="1353312"/>
            <a:ext cx="4042250" cy="2009058"/>
          </a:xfrm>
          <a:prstGeom prst="rect">
            <a:avLst/>
          </a:prstGeom>
          <a:ln w="9525">
            <a:solidFill>
              <a:srgbClr val="D9D9D9"/>
            </a:solidFill>
          </a:ln>
        </p:spPr>
      </p:pic>
      <p:sp>
        <p:nvSpPr>
          <p:cNvPr id="124" name="TextBox 123"/>
          <p:cNvSpPr txBox="1"/>
          <p:nvPr/>
        </p:nvSpPr>
        <p:spPr>
          <a:xfrm>
            <a:off x="428853" y="3402370"/>
            <a:ext cx="4042250" cy="180000"/>
          </a:xfrm>
          <a:prstGeom prst="rect">
            <a:avLst/>
          </a:prstGeom>
          <a:noFill/>
        </p:spPr>
        <p:txBody>
          <a:bodyPr wrap="square" anchor="t" lIns="0" tIns="0" rIns="0" bIns="0"/>
          <a:lstStyle/>
          <a:p>
            <a:pPr algn="l">
              <a:spcBef>
                <a:spcPts val="0"/>
              </a:spcBef>
              <a:spcAft>
                <a:spcPts val="0"/>
              </a:spcAft>
            </a:pPr>
            <a:r>
              <a:rPr sz="800" b="0" i="1">
                <a:solidFill>
                  <a:srgbClr val="5A5A5A"/>
                </a:solidFill>
                <a:latin typeface="Arial"/>
              </a:rPr>
              <a:t>Docker: attacker image blocked; verified digest deployed</a:t>
            </a:r>
          </a:p>
        </p:txBody>
      </p:sp>
      <p:pic>
        <p:nvPicPr>
          <p:cNvPr id="125" name="Picture 124" descr="18-k8s-admission.png"/>
          <p:cNvPicPr>
            <a:picLocks noChangeAspect="1"/>
          </p:cNvPicPr>
          <p:nvPr/>
        </p:nvPicPr>
        <p:blipFill>
          <a:blip r:embed="rId6"/>
          <a:stretch>
            <a:fillRect/>
          </a:stretch>
        </p:blipFill>
        <p:spPr>
          <a:xfrm>
            <a:off x="4671103" y="1353312"/>
            <a:ext cx="4042250" cy="2013851"/>
          </a:xfrm>
          <a:prstGeom prst="rect">
            <a:avLst/>
          </a:prstGeom>
          <a:ln w="9525">
            <a:solidFill>
              <a:srgbClr val="D9D9D9"/>
            </a:solidFill>
          </a:ln>
        </p:spPr>
      </p:pic>
      <p:sp>
        <p:nvSpPr>
          <p:cNvPr id="126" name="TextBox 125"/>
          <p:cNvSpPr txBox="1"/>
          <p:nvPr/>
        </p:nvSpPr>
        <p:spPr>
          <a:xfrm>
            <a:off x="4671103" y="3407163"/>
            <a:ext cx="4042250" cy="180000"/>
          </a:xfrm>
          <a:prstGeom prst="rect">
            <a:avLst/>
          </a:prstGeom>
          <a:noFill/>
        </p:spPr>
        <p:txBody>
          <a:bodyPr wrap="square" anchor="t" lIns="0" tIns="0" rIns="0" bIns="0"/>
          <a:lstStyle/>
          <a:p>
            <a:pPr algn="l">
              <a:spcBef>
                <a:spcPts val="0"/>
              </a:spcBef>
              <a:spcAft>
                <a:spcPts val="0"/>
              </a:spcAft>
            </a:pPr>
            <a:r>
              <a:rPr sz="800" b="0" i="1">
                <a:solidFill>
                  <a:srgbClr val="5A5A5A"/>
                </a:solidFill>
                <a:latin typeface="Arial"/>
              </a:rPr>
              <a:t>Kubernetes: Policy Controller admission on kind</a:t>
            </a:r>
          </a:p>
        </p:txBody>
      </p:sp>
      <p:sp>
        <p:nvSpPr>
          <p:cNvPr id="127" name="Rounded Rectangle 126"/>
          <p:cNvSpPr/>
          <p:nvPr/>
        </p:nvSpPr>
        <p:spPr>
          <a:xfrm>
            <a:off x="428853" y="3667163"/>
            <a:ext cx="4067250" cy="794837"/>
          </a:xfrm>
          <a:prstGeom prst="roundRect">
            <a:avLst>
              <a:gd name="adj" fmla="val 10000"/>
            </a:avLst>
          </a:prstGeom>
          <a:solidFill>
            <a:srgbClr val="F5F5F5"/>
          </a:solidFill>
          <a:ln w="9525">
            <a:solidFill>
              <a:srgbClr val="D9D9D9"/>
            </a:solidFill>
          </a:ln>
          <a:effectLst/>
        </p:spPr>
        <p:txBody>
          <a:bodyPr rtlCol="0" anchor="ctr" wrap="square" lIns="91425" tIns="27425" rIns="91425" bIns="27425"/>
          <a:lstStyle/>
          <a:p>
            <a:pPr algn="l">
              <a:spcBef>
                <a:spcPts val="0"/>
              </a:spcBef>
              <a:spcAft>
                <a:spcPts val="0"/>
              </a:spcAft>
            </a:pPr>
            <a:r>
              <a:rPr sz="900" b="1" i="0">
                <a:solidFill>
                  <a:srgbClr val="A42530"/>
                </a:solidFill>
                <a:latin typeface="Arial"/>
              </a:rPr>
              <a:t>Docker gate: </a:t>
            </a:r>
            <a:r>
              <a:rPr sz="900" b="0" i="0">
                <a:solidFill>
                  <a:srgbClr val="2B2F36"/>
                </a:solidFill>
                <a:latin typeface="Arial"/>
              </a:rPr>
              <a:t>attacker-signed image blocked (exit code 2, 0 containers); approved image run as image@sha256 digest.</a:t>
            </a:r>
          </a:p>
        </p:txBody>
      </p:sp>
      <p:sp>
        <p:nvSpPr>
          <p:cNvPr id="128" name="Rounded Rectangle 127"/>
          <p:cNvSpPr/>
          <p:nvPr/>
        </p:nvSpPr>
        <p:spPr>
          <a:xfrm>
            <a:off x="4646103" y="3667163"/>
            <a:ext cx="4067250" cy="794837"/>
          </a:xfrm>
          <a:prstGeom prst="roundRect">
            <a:avLst>
              <a:gd name="adj" fmla="val 10000"/>
            </a:avLst>
          </a:prstGeom>
          <a:solidFill>
            <a:srgbClr val="F5F5F5"/>
          </a:solidFill>
          <a:ln w="9525">
            <a:solidFill>
              <a:srgbClr val="D9D9D9"/>
            </a:solidFill>
          </a:ln>
          <a:effectLst/>
        </p:spPr>
        <p:txBody>
          <a:bodyPr rtlCol="0" anchor="ctr" wrap="square" lIns="91425" tIns="27425" rIns="91425" bIns="27425"/>
          <a:lstStyle/>
          <a:p>
            <a:pPr algn="l">
              <a:spcBef>
                <a:spcPts val="0"/>
              </a:spcBef>
              <a:spcAft>
                <a:spcPts val="0"/>
              </a:spcAft>
            </a:pPr>
            <a:r>
              <a:rPr sz="900" b="1" i="0">
                <a:solidFill>
                  <a:srgbClr val="A42530"/>
                </a:solidFill>
                <a:latin typeface="Arial"/>
              </a:rPr>
              <a:t>Admission: </a:t>
            </a:r>
            <a:r>
              <a:rPr sz="900" b="0" i="0">
                <a:solidFill>
                  <a:srgbClr val="2B2F36"/>
                </a:solidFill>
                <a:latin typeface="Arial"/>
              </a:rPr>
              <a:t>signed image admitted (pod Running); attacker-signed and unsigned images denied by the webhook.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14"/>
          <p:cNvPicPr preferRelativeResize="0"/>
          <p:nvPr/>
        </p:nvPicPr>
        <p:blipFill rotWithShape="1">
          <a:blip r:embed="rId2">
            <a:alphaModFix/>
          </a:blip>
          <a:srcRect b="0" l="0" r="10" t="0"/>
          <a:stretch/>
        </p:blipFill>
        <p:spPr>
          <a:xfrm>
            <a:off x="145399" y="106185"/>
            <a:ext cx="1737300" cy="531600"/>
          </a:xfrm>
          <a:prstGeom prst="rect">
            <a:avLst/>
          </a:prstGeom>
          <a:noFill/>
          <a:ln>
            <a:noFill/>
          </a:ln>
        </p:spPr>
      </p:pic>
      <p:pic>
        <p:nvPicPr>
          <p:cNvPr id="115" name="Google Shape;115;p14"/>
          <p:cNvPicPr preferRelativeResize="0"/>
          <p:nvPr/>
        </p:nvPicPr>
        <p:blipFill rotWithShape="1">
          <a:blip r:embed="rId3">
            <a:alphaModFix/>
          </a:blip>
          <a:srcRect b="720" l="0" r="10" t="710"/>
          <a:stretch/>
        </p:blipFill>
        <p:spPr>
          <a:xfrm>
            <a:off x="8343443" y="169593"/>
            <a:ext cx="546300" cy="404700"/>
          </a:xfrm>
          <a:prstGeom prst="rect">
            <a:avLst/>
          </a:prstGeom>
          <a:noFill/>
          <a:ln>
            <a:noFill/>
          </a:ln>
        </p:spPr>
      </p:pic>
      <p:grpSp>
        <p:nvGrpSpPr>
          <p:cNvPr id="116" name="Google Shape;116;p14"/>
          <p:cNvGrpSpPr/>
          <p:nvPr/>
        </p:nvGrpSpPr>
        <p:grpSpPr>
          <a:xfrm>
            <a:off x="0" y="4560570"/>
            <a:ext cx="9144010" cy="592800"/>
            <a:chOff x="0" y="4560570"/>
            <a:chExt cx="9144010" cy="592800"/>
          </a:xfrm>
        </p:grpSpPr>
        <p:sp>
          <p:nvSpPr>
            <p:cNvPr id="117" name="Google Shape;117;p14"/>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14"/>
          <p:cNvSpPr txBox="1"/>
          <p:nvPr/>
        </p:nvSpPr>
        <p:spPr>
          <a:xfrm>
            <a:off x="428853" y="676656"/>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IMPLEMENTATION EVIDENCE</a:t>
            </a:r>
            <a:endParaRPr/>
          </a:p>
          <a:p>
            <a:pPr indent="0" lvl="0" marL="0" marR="0" rtl="0" algn="l">
              <a:lnSpc>
                <a:spcPct val="100000"/>
              </a:lnSpc>
              <a:spcBef>
                <a:spcPts val="300"/>
              </a:spcBef>
              <a:spcAft>
                <a:spcPts val="0"/>
              </a:spcAft>
              <a:buClr>
                <a:srgbClr val="000000"/>
              </a:buClr>
              <a:buSzPts val="2400"/>
              <a:buFont typeface="Arial"/>
              <a:buNone/>
            </a:pPr>
            <a:r>
              <a:rPr b="1" i="0" lang="en-US" sz="2400" u="none" cap="none" strike="noStrike">
                <a:solidFill>
                  <a:srgbClr val="111111"/>
                </a:solidFill>
                <a:latin typeface="Arial"/>
                <a:ea typeface="Arial"/>
                <a:cs typeface="Arial"/>
                <a:sym typeface="Arial"/>
              </a:rPr>
              <a:t>TC07: audit report and HTML dashboard</a:t>
            </a:r>
            <a:endParaRPr/>
          </a:p>
        </p:txBody>
      </p:sp>
      <p:sp>
        <p:nvSpPr>
          <p:cNvPr id="121" name="Google Shape;121;p14"/>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122" name="Google Shape;122;p14"/>
          <p:cNvSpPr txBox="1"/>
          <p:nvPr/>
        </p:nvSpPr>
        <p:spPr>
          <a:xfrm>
            <a:off x="7324287"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15</a:t>
            </a:r>
            <a:endParaRPr/>
          </a:p>
        </p:txBody>
      </p:sp>
      <p:pic>
        <p:nvPicPr>
          <p:cNvPr id="123" name="Picture 122" descr="20-audit-dashboard.png"/>
          <p:cNvPicPr>
            <a:picLocks noChangeAspect="1"/>
          </p:cNvPicPr>
          <p:nvPr/>
        </p:nvPicPr>
        <p:blipFill>
          <a:blip r:embed="rId5"/>
          <a:stretch>
            <a:fillRect/>
          </a:stretch>
        </p:blipFill>
        <p:spPr>
          <a:xfrm>
            <a:off x="428853" y="1353312"/>
            <a:ext cx="4554883" cy="3100000"/>
          </a:xfrm>
          <a:prstGeom prst="rect">
            <a:avLst/>
          </a:prstGeom>
          <a:ln w="9525">
            <a:solidFill>
              <a:srgbClr val="D9D9D9"/>
            </a:solidFill>
          </a:ln>
        </p:spPr>
      </p:pic>
      <p:sp>
        <p:nvSpPr>
          <p:cNvPr id="124" name="TextBox 123"/>
          <p:cNvSpPr txBox="1"/>
          <p:nvPr/>
        </p:nvSpPr>
        <p:spPr>
          <a:xfrm>
            <a:off x="5183736" y="4262000"/>
            <a:ext cx="3529617" cy="180000"/>
          </a:xfrm>
          <a:prstGeom prst="rect">
            <a:avLst/>
          </a:prstGeom>
          <a:noFill/>
        </p:spPr>
        <p:txBody>
          <a:bodyPr wrap="square" anchor="t" lIns="0" tIns="0" rIns="0" bIns="0"/>
          <a:lstStyle/>
          <a:p>
            <a:pPr algn="l">
              <a:spcBef>
                <a:spcPts val="0"/>
              </a:spcBef>
              <a:spcAft>
                <a:spcPts val="0"/>
              </a:spcAft>
            </a:pPr>
            <a:r>
              <a:rPr sz="800" b="0" i="1">
                <a:solidFill>
                  <a:srgbClr val="5A5A5A"/>
                </a:solidFill>
                <a:latin typeface="Arial"/>
              </a:rPr>
              <a:t>audit/report.html, generated from audit/audit-log.jsonl</a:t>
            </a:r>
          </a:p>
        </p:txBody>
      </p:sp>
      <p:sp>
        <p:nvSpPr>
          <p:cNvPr id="125" name="Rounded Rectangle 124"/>
          <p:cNvSpPr/>
          <p:nvPr/>
        </p:nvSpPr>
        <p:spPr>
          <a:xfrm>
            <a:off x="5183736" y="1353312"/>
            <a:ext cx="3529617" cy="560000"/>
          </a:xfrm>
          <a:prstGeom prst="roundRect">
            <a:avLst>
              <a:gd name="adj" fmla="val 10000"/>
            </a:avLst>
          </a:prstGeom>
          <a:solidFill>
            <a:srgbClr val="2B2F36"/>
          </a:solidFill>
          <a:ln>
            <a:noFill/>
          </a:ln>
          <a:effectLst/>
        </p:spPr>
        <p:txBody>
          <a:bodyPr rtlCol="0" anchor="ctr" wrap="square" lIns="140000" tIns="0" rIns="91425" bIns="0"/>
          <a:lstStyle/>
          <a:p>
            <a:pPr algn="l">
              <a:spcBef>
                <a:spcPts val="0"/>
              </a:spcBef>
              <a:spcAft>
                <a:spcPts val="0"/>
              </a:spcAft>
            </a:pPr>
            <a:r>
              <a:rPr sz="2200" b="1" i="0">
                <a:solidFill>
                  <a:srgbClr val="FFFFFF"/>
                </a:solidFill>
                <a:latin typeface="Arial"/>
              </a:rPr>
              <a:t>14  </a:t>
            </a:r>
            <a:r>
              <a:rPr sz="1000" b="1" i="0">
                <a:solidFill>
                  <a:srgbClr val="FFFFFF"/>
                </a:solidFill>
                <a:latin typeface="Arial"/>
              </a:rPr>
              <a:t>verification events</a:t>
            </a:r>
          </a:p>
        </p:txBody>
      </p:sp>
      <p:sp>
        <p:nvSpPr>
          <p:cNvPr id="126" name="Rounded Rectangle 125"/>
          <p:cNvSpPr/>
          <p:nvPr/>
        </p:nvSpPr>
        <p:spPr>
          <a:xfrm>
            <a:off x="5183736" y="2003312"/>
            <a:ext cx="3529617" cy="560000"/>
          </a:xfrm>
          <a:prstGeom prst="roundRect">
            <a:avLst>
              <a:gd name="adj" fmla="val 10000"/>
            </a:avLst>
          </a:prstGeom>
          <a:solidFill>
            <a:srgbClr val="2B2F36"/>
          </a:solidFill>
          <a:ln>
            <a:noFill/>
          </a:ln>
          <a:effectLst/>
        </p:spPr>
        <p:txBody>
          <a:bodyPr rtlCol="0" anchor="ctr" wrap="square" lIns="140000" tIns="0" rIns="91425" bIns="0"/>
          <a:lstStyle/>
          <a:p>
            <a:pPr algn="l">
              <a:spcBef>
                <a:spcPts val="0"/>
              </a:spcBef>
              <a:spcAft>
                <a:spcPts val="0"/>
              </a:spcAft>
            </a:pPr>
            <a:r>
              <a:rPr sz="2200" b="1" i="0">
                <a:solidFill>
                  <a:srgbClr val="FFFFFF"/>
                </a:solidFill>
                <a:latin typeface="Arial"/>
              </a:rPr>
              <a:t>3  </a:t>
            </a:r>
            <a:r>
              <a:rPr sz="1000" b="1" i="0">
                <a:solidFill>
                  <a:srgbClr val="FFFFFF"/>
                </a:solidFill>
                <a:latin typeface="Arial"/>
              </a:rPr>
              <a:t>accepted</a:t>
            </a:r>
          </a:p>
        </p:txBody>
      </p:sp>
      <p:sp>
        <p:nvSpPr>
          <p:cNvPr id="127" name="Rounded Rectangle 126"/>
          <p:cNvSpPr/>
          <p:nvPr/>
        </p:nvSpPr>
        <p:spPr>
          <a:xfrm>
            <a:off x="5183736" y="2653312"/>
            <a:ext cx="3529617" cy="560000"/>
          </a:xfrm>
          <a:prstGeom prst="roundRect">
            <a:avLst>
              <a:gd name="adj" fmla="val 10000"/>
            </a:avLst>
          </a:prstGeom>
          <a:solidFill>
            <a:srgbClr val="A42530"/>
          </a:solidFill>
          <a:ln>
            <a:noFill/>
          </a:ln>
          <a:effectLst/>
        </p:spPr>
        <p:txBody>
          <a:bodyPr rtlCol="0" anchor="ctr" wrap="square" lIns="140000" tIns="0" rIns="91425" bIns="0"/>
          <a:lstStyle/>
          <a:p>
            <a:pPr algn="l">
              <a:spcBef>
                <a:spcPts val="0"/>
              </a:spcBef>
              <a:spcAft>
                <a:spcPts val="0"/>
              </a:spcAft>
            </a:pPr>
            <a:r>
              <a:rPr sz="2200" b="1" i="0">
                <a:solidFill>
                  <a:srgbClr val="FFFFFF"/>
                </a:solidFill>
                <a:latin typeface="Arial"/>
              </a:rPr>
              <a:t>11  </a:t>
            </a:r>
            <a:r>
              <a:rPr sz="1000" b="1" i="0">
                <a:solidFill>
                  <a:srgbClr val="FFFFFF"/>
                </a:solidFill>
                <a:latin typeface="Arial"/>
              </a:rPr>
              <a:t>rejected</a:t>
            </a:r>
          </a:p>
        </p:txBody>
      </p:sp>
      <p:sp>
        <p:nvSpPr>
          <p:cNvPr id="128" name="TextBox 127"/>
          <p:cNvSpPr txBox="1"/>
          <p:nvPr/>
        </p:nvSpPr>
        <p:spPr>
          <a:xfrm>
            <a:off x="5183736" y="3323312"/>
            <a:ext cx="3529617" cy="2000000"/>
          </a:xfrm>
          <a:prstGeom prst="rect">
            <a:avLst/>
          </a:prstGeom>
          <a:noFill/>
        </p:spPr>
        <p:txBody>
          <a:bodyPr wrap="square" anchor="t" lIns="0" tIns="0" rIns="0" bIns="0"/>
          <a:lstStyle/>
          <a:p>
            <a:pPr algn="l">
              <a:spcBef>
                <a:spcPts val="0"/>
              </a:spcBef>
              <a:spcAft>
                <a:spcPts val="0"/>
              </a:spcAft>
            </a:pPr>
            <a:r>
              <a:rPr sz="1000" b="1" i="0">
                <a:solidFill>
                  <a:srgbClr val="111111"/>
                </a:solidFill>
                <a:latin typeface="Arial"/>
              </a:rPr>
              <a:t>Exports: </a:t>
            </a:r>
            <a:r>
              <a:rPr sz="1000" b="0" i="0">
                <a:solidFill>
                  <a:srgbClr val="5A5A5A"/>
                </a:solidFill>
                <a:latin typeface="Arial"/>
              </a:rPr>
              <a:t>report.html, report.csv, report.json</a:t>
            </a:r>
          </a:p>
          <a:p>
            <a:pPr algn="l">
              <a:spcBef>
                <a:spcPts val="600"/>
              </a:spcBef>
              <a:spcAft>
                <a:spcPts val="0"/>
              </a:spcAft>
            </a:pPr>
            <a:r>
              <a:rPr sz="1000" b="1" i="0">
                <a:solidFill>
                  <a:srgbClr val="111111"/>
                </a:solidFill>
                <a:latin typeface="Arial"/>
              </a:rPr>
              <a:t>Per record: </a:t>
            </a:r>
            <a:r>
              <a:rPr sz="1000" b="0" i="0">
                <a:solidFill>
                  <a:srgbClr val="5A5A5A"/>
                </a:solidFill>
                <a:latin typeface="Arial"/>
              </a:rPr>
              <a:t>digest, decision, reason code, key fingerprint, tool evidence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14"/>
          <p:cNvPicPr preferRelativeResize="0"/>
          <p:nvPr/>
        </p:nvPicPr>
        <p:blipFill rotWithShape="1">
          <a:blip r:embed="rId2">
            <a:alphaModFix/>
          </a:blip>
          <a:srcRect b="0" l="0" r="10" t="0"/>
          <a:stretch/>
        </p:blipFill>
        <p:spPr>
          <a:xfrm>
            <a:off x="145399" y="106185"/>
            <a:ext cx="1737300" cy="531600"/>
          </a:xfrm>
          <a:prstGeom prst="rect">
            <a:avLst/>
          </a:prstGeom>
          <a:noFill/>
          <a:ln>
            <a:noFill/>
          </a:ln>
        </p:spPr>
      </p:pic>
      <p:pic>
        <p:nvPicPr>
          <p:cNvPr id="115" name="Google Shape;115;p14"/>
          <p:cNvPicPr preferRelativeResize="0"/>
          <p:nvPr/>
        </p:nvPicPr>
        <p:blipFill rotWithShape="1">
          <a:blip r:embed="rId3">
            <a:alphaModFix/>
          </a:blip>
          <a:srcRect b="720" l="0" r="10" t="710"/>
          <a:stretch/>
        </p:blipFill>
        <p:spPr>
          <a:xfrm>
            <a:off x="8343443" y="169593"/>
            <a:ext cx="546300" cy="404700"/>
          </a:xfrm>
          <a:prstGeom prst="rect">
            <a:avLst/>
          </a:prstGeom>
          <a:noFill/>
          <a:ln>
            <a:noFill/>
          </a:ln>
        </p:spPr>
      </p:pic>
      <p:grpSp>
        <p:nvGrpSpPr>
          <p:cNvPr id="116" name="Google Shape;116;p14"/>
          <p:cNvGrpSpPr/>
          <p:nvPr/>
        </p:nvGrpSpPr>
        <p:grpSpPr>
          <a:xfrm>
            <a:off x="0" y="4560570"/>
            <a:ext cx="9144010" cy="592800"/>
            <a:chOff x="0" y="4560570"/>
            <a:chExt cx="9144010" cy="592800"/>
          </a:xfrm>
        </p:grpSpPr>
        <p:sp>
          <p:nvSpPr>
            <p:cNvPr id="117" name="Google Shape;117;p14"/>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14"/>
          <p:cNvSpPr txBox="1"/>
          <p:nvPr/>
        </p:nvSpPr>
        <p:spPr>
          <a:xfrm>
            <a:off x="428853" y="676656"/>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TESTING</a:t>
            </a:r>
            <a:endParaRPr/>
          </a:p>
          <a:p>
            <a:pPr indent="0" lvl="0" marL="0" marR="0" rtl="0" algn="l">
              <a:lnSpc>
                <a:spcPct val="100000"/>
              </a:lnSpc>
              <a:spcBef>
                <a:spcPts val="300"/>
              </a:spcBef>
              <a:spcAft>
                <a:spcPts val="0"/>
              </a:spcAft>
              <a:buClr>
                <a:srgbClr val="000000"/>
              </a:buClr>
              <a:buSzPts val="2400"/>
              <a:buFont typeface="Arial"/>
              <a:buNone/>
            </a:pPr>
            <a:r>
              <a:rPr b="1" i="0" lang="en-US" sz="2400" u="none" cap="none" strike="noStrike">
                <a:solidFill>
                  <a:srgbClr val="111111"/>
                </a:solidFill>
                <a:latin typeface="Arial"/>
                <a:ea typeface="Arial"/>
                <a:cs typeface="Arial"/>
                <a:sym typeface="Arial"/>
              </a:rPr>
              <a:t>Test results: every attack was rejected</a:t>
            </a:r>
            <a:endParaRPr/>
          </a:p>
        </p:txBody>
      </p:sp>
      <p:sp>
        <p:nvSpPr>
          <p:cNvPr id="121" name="Google Shape;121;p14"/>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122" name="Google Shape;122;p14"/>
          <p:cNvSpPr txBox="1"/>
          <p:nvPr/>
        </p:nvSpPr>
        <p:spPr>
          <a:xfrm>
            <a:off x="7324287"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16</a:t>
            </a:r>
            <a:endParaRPr/>
          </a:p>
        </p:txBody>
      </p:sp>
      <p:sp>
        <p:nvSpPr>
          <p:cNvPr id="123" name="TextBox 122"/>
          <p:cNvSpPr txBox="1"/>
          <p:nvPr/>
        </p:nvSpPr>
        <p:spPr>
          <a:xfrm>
            <a:off x="508853" y="1323312"/>
            <a:ext cx="2000000" cy="170000"/>
          </a:xfrm>
          <a:prstGeom prst="rect">
            <a:avLst/>
          </a:prstGeom>
          <a:noFill/>
        </p:spPr>
        <p:txBody>
          <a:bodyPr wrap="square" anchor="t" lIns="0" tIns="0" rIns="0" bIns="0"/>
          <a:lstStyle/>
          <a:p>
            <a:pPr algn="l">
              <a:spcBef>
                <a:spcPts val="0"/>
              </a:spcBef>
              <a:spcAft>
                <a:spcPts val="0"/>
              </a:spcAft>
            </a:pPr>
            <a:r>
              <a:rPr sz="800" b="1" i="0">
                <a:solidFill>
                  <a:srgbClr val="5A5A5A"/>
                </a:solidFill>
                <a:latin typeface="Arial"/>
              </a:rPr>
              <a:t>ID</a:t>
            </a:r>
          </a:p>
        </p:txBody>
      </p:sp>
      <p:sp>
        <p:nvSpPr>
          <p:cNvPr id="124" name="TextBox 123"/>
          <p:cNvSpPr txBox="1"/>
          <p:nvPr/>
        </p:nvSpPr>
        <p:spPr>
          <a:xfrm>
            <a:off x="1148853" y="1323312"/>
            <a:ext cx="2000000" cy="170000"/>
          </a:xfrm>
          <a:prstGeom prst="rect">
            <a:avLst/>
          </a:prstGeom>
          <a:noFill/>
        </p:spPr>
        <p:txBody>
          <a:bodyPr wrap="square" anchor="t" lIns="0" tIns="0" rIns="0" bIns="0"/>
          <a:lstStyle/>
          <a:p>
            <a:pPr algn="l">
              <a:spcBef>
                <a:spcPts val="0"/>
              </a:spcBef>
              <a:spcAft>
                <a:spcPts val="0"/>
              </a:spcAft>
            </a:pPr>
            <a:r>
              <a:rPr sz="800" b="1" i="0">
                <a:solidFill>
                  <a:srgbClr val="5A5A5A"/>
                </a:solidFill>
                <a:latin typeface="Arial"/>
              </a:rPr>
              <a:t>SCENARIO</a:t>
            </a:r>
          </a:p>
        </p:txBody>
      </p:sp>
      <p:sp>
        <p:nvSpPr>
          <p:cNvPr id="125" name="TextBox 124"/>
          <p:cNvSpPr txBox="1"/>
          <p:nvPr/>
        </p:nvSpPr>
        <p:spPr>
          <a:xfrm>
            <a:off x="3648853" y="1323312"/>
            <a:ext cx="2000000" cy="170000"/>
          </a:xfrm>
          <a:prstGeom prst="rect">
            <a:avLst/>
          </a:prstGeom>
          <a:noFill/>
        </p:spPr>
        <p:txBody>
          <a:bodyPr wrap="square" anchor="t" lIns="0" tIns="0" rIns="0" bIns="0"/>
          <a:lstStyle/>
          <a:p>
            <a:pPr algn="l">
              <a:spcBef>
                <a:spcPts val="0"/>
              </a:spcBef>
              <a:spcAft>
                <a:spcPts val="0"/>
              </a:spcAft>
            </a:pPr>
            <a:r>
              <a:rPr sz="800" b="1" i="0">
                <a:solidFill>
                  <a:srgbClr val="5A5A5A"/>
                </a:solidFill>
                <a:latin typeface="Arial"/>
              </a:rPr>
              <a:t>EXPECTED</a:t>
            </a:r>
          </a:p>
        </p:txBody>
      </p:sp>
      <p:sp>
        <p:nvSpPr>
          <p:cNvPr id="126" name="TextBox 125"/>
          <p:cNvSpPr txBox="1"/>
          <p:nvPr/>
        </p:nvSpPr>
        <p:spPr>
          <a:xfrm>
            <a:off x="5198853" y="1323312"/>
            <a:ext cx="2000000" cy="170000"/>
          </a:xfrm>
          <a:prstGeom prst="rect">
            <a:avLst/>
          </a:prstGeom>
          <a:noFill/>
        </p:spPr>
        <p:txBody>
          <a:bodyPr wrap="square" anchor="t" lIns="0" tIns="0" rIns="0" bIns="0"/>
          <a:lstStyle/>
          <a:p>
            <a:pPr algn="l">
              <a:spcBef>
                <a:spcPts val="0"/>
              </a:spcBef>
              <a:spcAft>
                <a:spcPts val="0"/>
              </a:spcAft>
            </a:pPr>
            <a:r>
              <a:rPr sz="800" b="1" i="0">
                <a:solidFill>
                  <a:srgbClr val="5A5A5A"/>
                </a:solidFill>
                <a:latin typeface="Arial"/>
              </a:rPr>
              <a:t>OBSERVED</a:t>
            </a:r>
          </a:p>
        </p:txBody>
      </p:sp>
      <p:sp>
        <p:nvSpPr>
          <p:cNvPr id="127" name="Rounded Rectangle 126"/>
          <p:cNvSpPr/>
          <p:nvPr/>
        </p:nvSpPr>
        <p:spPr>
          <a:xfrm>
            <a:off x="428853" y="1523312"/>
            <a:ext cx="6784500" cy="268000"/>
          </a:xfrm>
          <a:prstGeom prst="roundRect">
            <a:avLst>
              <a:gd name="adj" fmla="val 15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28" name="TextBox 127"/>
          <p:cNvSpPr txBox="1"/>
          <p:nvPr/>
        </p:nvSpPr>
        <p:spPr>
          <a:xfrm>
            <a:off x="508853" y="1523312"/>
            <a:ext cx="640000" cy="268000"/>
          </a:xfrm>
          <a:prstGeom prst="rect">
            <a:avLst/>
          </a:prstGeom>
          <a:noFill/>
        </p:spPr>
        <p:txBody>
          <a:bodyPr wrap="square" anchor="ctr" lIns="0" tIns="0" rIns="0" bIns="0"/>
          <a:lstStyle/>
          <a:p>
            <a:pPr algn="l">
              <a:spcBef>
                <a:spcPts val="0"/>
              </a:spcBef>
              <a:spcAft>
                <a:spcPts val="0"/>
              </a:spcAft>
            </a:pPr>
            <a:r>
              <a:rPr sz="900" b="1" i="0">
                <a:solidFill>
                  <a:srgbClr val="A42530"/>
                </a:solidFill>
                <a:latin typeface="Arial"/>
              </a:rPr>
              <a:t>TC01</a:t>
            </a:r>
          </a:p>
        </p:txBody>
      </p:sp>
      <p:sp>
        <p:nvSpPr>
          <p:cNvPr id="129" name="TextBox 128"/>
          <p:cNvSpPr txBox="1"/>
          <p:nvPr/>
        </p:nvSpPr>
        <p:spPr>
          <a:xfrm>
            <a:off x="1068853" y="1523312"/>
            <a:ext cx="2440000" cy="268000"/>
          </a:xfrm>
          <a:prstGeom prst="rect">
            <a:avLst/>
          </a:prstGeom>
          <a:noFill/>
        </p:spPr>
        <p:txBody>
          <a:bodyPr wrap="square" anchor="ctr" lIns="0" tIns="0" rIns="0" bIns="0"/>
          <a:lstStyle/>
          <a:p>
            <a:pPr algn="l">
              <a:spcBef>
                <a:spcPts val="0"/>
              </a:spcBef>
              <a:spcAft>
                <a:spcPts val="0"/>
              </a:spcAft>
            </a:pPr>
            <a:r>
              <a:rPr sz="900" b="0" i="0">
                <a:solidFill>
                  <a:srgbClr val="2B2F36"/>
                </a:solidFill>
                <a:latin typeface="Arial"/>
              </a:rPr>
              <a:t>Correctly signed image</a:t>
            </a:r>
          </a:p>
        </p:txBody>
      </p:sp>
      <p:sp>
        <p:nvSpPr>
          <p:cNvPr id="130" name="TextBox 129"/>
          <p:cNvSpPr txBox="1"/>
          <p:nvPr/>
        </p:nvSpPr>
        <p:spPr>
          <a:xfrm>
            <a:off x="3568853" y="1523312"/>
            <a:ext cx="1490000" cy="268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Arial"/>
              </a:rPr>
              <a:t>Accepted</a:t>
            </a:r>
          </a:p>
        </p:txBody>
      </p:sp>
      <p:sp>
        <p:nvSpPr>
          <p:cNvPr id="131" name="Rounded Rectangle 130"/>
          <p:cNvSpPr/>
          <p:nvPr/>
        </p:nvSpPr>
        <p:spPr>
          <a:xfrm>
            <a:off x="5118853" y="1558312"/>
            <a:ext cx="2014500" cy="198000"/>
          </a:xfrm>
          <a:prstGeom prst="roundRect">
            <a:avLst>
              <a:gd name="adj" fmla="val 30000"/>
            </a:avLst>
          </a:prstGeom>
          <a:solidFill>
            <a:srgbClr val="2B2F36"/>
          </a:solidFill>
          <a:ln>
            <a:noFill/>
          </a:ln>
          <a:effectLst/>
        </p:spPr>
        <p:txBody>
          <a:bodyPr rtlCol="0" anchor="ctr" wrap="square" lIns="0" tIns="0" rIns="0" bIns="0"/>
          <a:lstStyle/>
          <a:p>
            <a:pPr algn="ctr">
              <a:spcBef>
                <a:spcPts val="0"/>
              </a:spcBef>
              <a:spcAft>
                <a:spcPts val="0"/>
              </a:spcAft>
            </a:pPr>
            <a:r>
              <a:rPr sz="700" b="1" i="0">
                <a:solidFill>
                  <a:srgbClr val="FFFFFF"/>
                </a:solidFill>
                <a:latin typeface="Arial"/>
              </a:rPr>
              <a:t>ACCEPT · SIGNATURE_VERIFIED</a:t>
            </a:r>
          </a:p>
        </p:txBody>
      </p:sp>
      <p:sp>
        <p:nvSpPr>
          <p:cNvPr id="132" name="Rounded Rectangle 131"/>
          <p:cNvSpPr/>
          <p:nvPr/>
        </p:nvSpPr>
        <p:spPr>
          <a:xfrm>
            <a:off x="428853" y="1821312"/>
            <a:ext cx="6784500" cy="268000"/>
          </a:xfrm>
          <a:prstGeom prst="roundRect">
            <a:avLst>
              <a:gd name="adj" fmla="val 15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3" name="TextBox 132"/>
          <p:cNvSpPr txBox="1"/>
          <p:nvPr/>
        </p:nvSpPr>
        <p:spPr>
          <a:xfrm>
            <a:off x="508853" y="1821312"/>
            <a:ext cx="640000" cy="268000"/>
          </a:xfrm>
          <a:prstGeom prst="rect">
            <a:avLst/>
          </a:prstGeom>
          <a:noFill/>
        </p:spPr>
        <p:txBody>
          <a:bodyPr wrap="square" anchor="ctr" lIns="0" tIns="0" rIns="0" bIns="0"/>
          <a:lstStyle/>
          <a:p>
            <a:pPr algn="l">
              <a:spcBef>
                <a:spcPts val="0"/>
              </a:spcBef>
              <a:spcAft>
                <a:spcPts val="0"/>
              </a:spcAft>
            </a:pPr>
            <a:r>
              <a:rPr sz="900" b="1" i="0">
                <a:solidFill>
                  <a:srgbClr val="A42530"/>
                </a:solidFill>
                <a:latin typeface="Arial"/>
              </a:rPr>
              <a:t>TC02</a:t>
            </a:r>
          </a:p>
        </p:txBody>
      </p:sp>
      <p:sp>
        <p:nvSpPr>
          <p:cNvPr id="134" name="TextBox 133"/>
          <p:cNvSpPr txBox="1"/>
          <p:nvPr/>
        </p:nvSpPr>
        <p:spPr>
          <a:xfrm>
            <a:off x="1068853" y="1821312"/>
            <a:ext cx="2440000" cy="268000"/>
          </a:xfrm>
          <a:prstGeom prst="rect">
            <a:avLst/>
          </a:prstGeom>
          <a:noFill/>
        </p:spPr>
        <p:txBody>
          <a:bodyPr wrap="square" anchor="ctr" lIns="0" tIns="0" rIns="0" bIns="0"/>
          <a:lstStyle/>
          <a:p>
            <a:pPr algn="l">
              <a:spcBef>
                <a:spcPts val="0"/>
              </a:spcBef>
              <a:spcAft>
                <a:spcPts val="0"/>
              </a:spcAft>
            </a:pPr>
            <a:r>
              <a:rPr sz="900" b="0" i="0">
                <a:solidFill>
                  <a:srgbClr val="2B2F36"/>
                </a:solidFill>
                <a:latin typeface="Arial"/>
              </a:rPr>
              <a:t>Unsigned image</a:t>
            </a:r>
          </a:p>
        </p:txBody>
      </p:sp>
      <p:sp>
        <p:nvSpPr>
          <p:cNvPr id="135" name="TextBox 134"/>
          <p:cNvSpPr txBox="1"/>
          <p:nvPr/>
        </p:nvSpPr>
        <p:spPr>
          <a:xfrm>
            <a:off x="3568853" y="1821312"/>
            <a:ext cx="1490000" cy="268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Arial"/>
              </a:rPr>
              <a:t>Rejected</a:t>
            </a:r>
          </a:p>
        </p:txBody>
      </p:sp>
      <p:sp>
        <p:nvSpPr>
          <p:cNvPr id="136" name="Rounded Rectangle 135"/>
          <p:cNvSpPr/>
          <p:nvPr/>
        </p:nvSpPr>
        <p:spPr>
          <a:xfrm>
            <a:off x="5118853" y="1856312"/>
            <a:ext cx="2014500" cy="198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700" b="1" i="0">
                <a:solidFill>
                  <a:srgbClr val="FFFFFF"/>
                </a:solidFill>
                <a:latin typeface="Arial"/>
              </a:rPr>
              <a:t>REJECT · NO_SIGNATURE</a:t>
            </a:r>
          </a:p>
        </p:txBody>
      </p:sp>
      <p:sp>
        <p:nvSpPr>
          <p:cNvPr id="137" name="Rounded Rectangle 136"/>
          <p:cNvSpPr/>
          <p:nvPr/>
        </p:nvSpPr>
        <p:spPr>
          <a:xfrm>
            <a:off x="428853" y="2119312"/>
            <a:ext cx="6784500" cy="268000"/>
          </a:xfrm>
          <a:prstGeom prst="roundRect">
            <a:avLst>
              <a:gd name="adj" fmla="val 15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8" name="TextBox 137"/>
          <p:cNvSpPr txBox="1"/>
          <p:nvPr/>
        </p:nvSpPr>
        <p:spPr>
          <a:xfrm>
            <a:off x="508853" y="2119312"/>
            <a:ext cx="640000" cy="268000"/>
          </a:xfrm>
          <a:prstGeom prst="rect">
            <a:avLst/>
          </a:prstGeom>
          <a:noFill/>
        </p:spPr>
        <p:txBody>
          <a:bodyPr wrap="square" anchor="ctr" lIns="0" tIns="0" rIns="0" bIns="0"/>
          <a:lstStyle/>
          <a:p>
            <a:pPr algn="l">
              <a:spcBef>
                <a:spcPts val="0"/>
              </a:spcBef>
              <a:spcAft>
                <a:spcPts val="0"/>
              </a:spcAft>
            </a:pPr>
            <a:r>
              <a:rPr sz="900" b="1" i="0">
                <a:solidFill>
                  <a:srgbClr val="A42530"/>
                </a:solidFill>
                <a:latin typeface="Arial"/>
              </a:rPr>
              <a:t>TC03</a:t>
            </a:r>
          </a:p>
        </p:txBody>
      </p:sp>
      <p:sp>
        <p:nvSpPr>
          <p:cNvPr id="139" name="TextBox 138"/>
          <p:cNvSpPr txBox="1"/>
          <p:nvPr/>
        </p:nvSpPr>
        <p:spPr>
          <a:xfrm>
            <a:off x="1068853" y="2119312"/>
            <a:ext cx="2440000" cy="268000"/>
          </a:xfrm>
          <a:prstGeom prst="rect">
            <a:avLst/>
          </a:prstGeom>
          <a:noFill/>
        </p:spPr>
        <p:txBody>
          <a:bodyPr wrap="square" anchor="ctr" lIns="0" tIns="0" rIns="0" bIns="0"/>
          <a:lstStyle/>
          <a:p>
            <a:pPr algn="l">
              <a:spcBef>
                <a:spcPts val="0"/>
              </a:spcBef>
              <a:spcAft>
                <a:spcPts val="0"/>
              </a:spcAft>
            </a:pPr>
            <a:r>
              <a:rPr sz="900" b="0" i="0">
                <a:solidFill>
                  <a:srgbClr val="2B2F36"/>
                </a:solidFill>
                <a:latin typeface="Arial"/>
              </a:rPr>
              <a:t>Signed with the attacker’s key</a:t>
            </a:r>
          </a:p>
        </p:txBody>
      </p:sp>
      <p:sp>
        <p:nvSpPr>
          <p:cNvPr id="140" name="TextBox 139"/>
          <p:cNvSpPr txBox="1"/>
          <p:nvPr/>
        </p:nvSpPr>
        <p:spPr>
          <a:xfrm>
            <a:off x="3568853" y="2119312"/>
            <a:ext cx="1490000" cy="268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Arial"/>
              </a:rPr>
              <a:t>Rejected</a:t>
            </a:r>
          </a:p>
        </p:txBody>
      </p:sp>
      <p:sp>
        <p:nvSpPr>
          <p:cNvPr id="141" name="Rounded Rectangle 140"/>
          <p:cNvSpPr/>
          <p:nvPr/>
        </p:nvSpPr>
        <p:spPr>
          <a:xfrm>
            <a:off x="5118853" y="2154312"/>
            <a:ext cx="2014500" cy="198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700" b="1" i="0">
                <a:solidFill>
                  <a:srgbClr val="FFFFFF"/>
                </a:solidFill>
                <a:latin typeface="Arial"/>
              </a:rPr>
              <a:t>REJECT · UNTRUSTED_SIGNER</a:t>
            </a:r>
          </a:p>
        </p:txBody>
      </p:sp>
      <p:sp>
        <p:nvSpPr>
          <p:cNvPr id="142" name="Rounded Rectangle 141"/>
          <p:cNvSpPr/>
          <p:nvPr/>
        </p:nvSpPr>
        <p:spPr>
          <a:xfrm>
            <a:off x="428853" y="2417312"/>
            <a:ext cx="6784500" cy="268000"/>
          </a:xfrm>
          <a:prstGeom prst="roundRect">
            <a:avLst>
              <a:gd name="adj" fmla="val 15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43" name="TextBox 142"/>
          <p:cNvSpPr txBox="1"/>
          <p:nvPr/>
        </p:nvSpPr>
        <p:spPr>
          <a:xfrm>
            <a:off x="508853" y="2417312"/>
            <a:ext cx="640000" cy="268000"/>
          </a:xfrm>
          <a:prstGeom prst="rect">
            <a:avLst/>
          </a:prstGeom>
          <a:noFill/>
        </p:spPr>
        <p:txBody>
          <a:bodyPr wrap="square" anchor="ctr" lIns="0" tIns="0" rIns="0" bIns="0"/>
          <a:lstStyle/>
          <a:p>
            <a:pPr algn="l">
              <a:spcBef>
                <a:spcPts val="0"/>
              </a:spcBef>
              <a:spcAft>
                <a:spcPts val="0"/>
              </a:spcAft>
            </a:pPr>
            <a:r>
              <a:rPr sz="900" b="1" i="0">
                <a:solidFill>
                  <a:srgbClr val="A42530"/>
                </a:solidFill>
                <a:latin typeface="Arial"/>
              </a:rPr>
              <a:t>TC04a</a:t>
            </a:r>
          </a:p>
        </p:txBody>
      </p:sp>
      <p:sp>
        <p:nvSpPr>
          <p:cNvPr id="144" name="TextBox 143"/>
          <p:cNvSpPr txBox="1"/>
          <p:nvPr/>
        </p:nvSpPr>
        <p:spPr>
          <a:xfrm>
            <a:off x="1068853" y="2417312"/>
            <a:ext cx="2440000" cy="268000"/>
          </a:xfrm>
          <a:prstGeom prst="rect">
            <a:avLst/>
          </a:prstGeom>
          <a:noFill/>
        </p:spPr>
        <p:txBody>
          <a:bodyPr wrap="square" anchor="ctr" lIns="0" tIns="0" rIns="0" bIns="0"/>
          <a:lstStyle/>
          <a:p>
            <a:pPr algn="l">
              <a:spcBef>
                <a:spcPts val="0"/>
              </a:spcBef>
              <a:spcAft>
                <a:spcPts val="0"/>
              </a:spcAft>
            </a:pPr>
            <a:r>
              <a:rPr sz="900" b="0" i="0">
                <a:solidFill>
                  <a:srgbClr val="2B2F36"/>
                </a:solidFill>
                <a:latin typeface="Arial"/>
              </a:rPr>
              <a:t>Genuine signature copied onto another image</a:t>
            </a:r>
          </a:p>
        </p:txBody>
      </p:sp>
      <p:sp>
        <p:nvSpPr>
          <p:cNvPr id="145" name="TextBox 144"/>
          <p:cNvSpPr txBox="1"/>
          <p:nvPr/>
        </p:nvSpPr>
        <p:spPr>
          <a:xfrm>
            <a:off x="3568853" y="2417312"/>
            <a:ext cx="1490000" cy="268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Arial"/>
              </a:rPr>
              <a:t>Rejected</a:t>
            </a:r>
          </a:p>
        </p:txBody>
      </p:sp>
      <p:sp>
        <p:nvSpPr>
          <p:cNvPr id="146" name="Rounded Rectangle 145"/>
          <p:cNvSpPr/>
          <p:nvPr/>
        </p:nvSpPr>
        <p:spPr>
          <a:xfrm>
            <a:off x="5118853" y="2452312"/>
            <a:ext cx="2014500" cy="198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700" b="1" i="0">
                <a:solidFill>
                  <a:srgbClr val="FFFFFF"/>
                </a:solidFill>
                <a:latin typeface="Arial"/>
              </a:rPr>
              <a:t>REJECT · SIGNATURE_IMAGE_MISMATCH</a:t>
            </a:r>
          </a:p>
        </p:txBody>
      </p:sp>
      <p:sp>
        <p:nvSpPr>
          <p:cNvPr id="147" name="Rounded Rectangle 146"/>
          <p:cNvSpPr/>
          <p:nvPr/>
        </p:nvSpPr>
        <p:spPr>
          <a:xfrm>
            <a:off x="428853" y="2715312"/>
            <a:ext cx="6784500" cy="268000"/>
          </a:xfrm>
          <a:prstGeom prst="roundRect">
            <a:avLst>
              <a:gd name="adj" fmla="val 15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48" name="TextBox 147"/>
          <p:cNvSpPr txBox="1"/>
          <p:nvPr/>
        </p:nvSpPr>
        <p:spPr>
          <a:xfrm>
            <a:off x="508853" y="2715312"/>
            <a:ext cx="640000" cy="268000"/>
          </a:xfrm>
          <a:prstGeom prst="rect">
            <a:avLst/>
          </a:prstGeom>
          <a:noFill/>
        </p:spPr>
        <p:txBody>
          <a:bodyPr wrap="square" anchor="ctr" lIns="0" tIns="0" rIns="0" bIns="0"/>
          <a:lstStyle/>
          <a:p>
            <a:pPr algn="l">
              <a:spcBef>
                <a:spcPts val="0"/>
              </a:spcBef>
              <a:spcAft>
                <a:spcPts val="0"/>
              </a:spcAft>
            </a:pPr>
            <a:r>
              <a:rPr sz="900" b="1" i="0">
                <a:solidFill>
                  <a:srgbClr val="A42530"/>
                </a:solidFill>
                <a:latin typeface="Arial"/>
              </a:rPr>
              <a:t>TC04b</a:t>
            </a:r>
          </a:p>
        </p:txBody>
      </p:sp>
      <p:sp>
        <p:nvSpPr>
          <p:cNvPr id="149" name="TextBox 148"/>
          <p:cNvSpPr txBox="1"/>
          <p:nvPr/>
        </p:nvSpPr>
        <p:spPr>
          <a:xfrm>
            <a:off x="1068853" y="2715312"/>
            <a:ext cx="2440000" cy="268000"/>
          </a:xfrm>
          <a:prstGeom prst="rect">
            <a:avLst/>
          </a:prstGeom>
          <a:noFill/>
        </p:spPr>
        <p:txBody>
          <a:bodyPr wrap="square" anchor="ctr" lIns="0" tIns="0" rIns="0" bIns="0"/>
          <a:lstStyle/>
          <a:p>
            <a:pPr algn="l">
              <a:spcBef>
                <a:spcPts val="0"/>
              </a:spcBef>
              <a:spcAft>
                <a:spcPts val="0"/>
              </a:spcAft>
            </a:pPr>
            <a:r>
              <a:rPr sz="900" b="0" i="0">
                <a:solidFill>
                  <a:srgbClr val="2B2F36"/>
                </a:solidFill>
                <a:latin typeface="Arial"/>
              </a:rPr>
              <a:t>Trusted tag re-pointed to a tampered build</a:t>
            </a:r>
          </a:p>
        </p:txBody>
      </p:sp>
      <p:sp>
        <p:nvSpPr>
          <p:cNvPr id="150" name="TextBox 149"/>
          <p:cNvSpPr txBox="1"/>
          <p:nvPr/>
        </p:nvSpPr>
        <p:spPr>
          <a:xfrm>
            <a:off x="3568853" y="2715312"/>
            <a:ext cx="1490000" cy="268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Arial"/>
              </a:rPr>
              <a:t>Rejected</a:t>
            </a:r>
          </a:p>
        </p:txBody>
      </p:sp>
      <p:sp>
        <p:nvSpPr>
          <p:cNvPr id="151" name="Rounded Rectangle 150"/>
          <p:cNvSpPr/>
          <p:nvPr/>
        </p:nvSpPr>
        <p:spPr>
          <a:xfrm>
            <a:off x="5118853" y="2750312"/>
            <a:ext cx="2014500" cy="198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700" b="1" i="0">
                <a:solidFill>
                  <a:srgbClr val="FFFFFF"/>
                </a:solidFill>
                <a:latin typeface="Arial"/>
              </a:rPr>
              <a:t>REJECT · NO_SIGNATURE</a:t>
            </a:r>
          </a:p>
        </p:txBody>
      </p:sp>
      <p:sp>
        <p:nvSpPr>
          <p:cNvPr id="152" name="Rounded Rectangle 151"/>
          <p:cNvSpPr/>
          <p:nvPr/>
        </p:nvSpPr>
        <p:spPr>
          <a:xfrm>
            <a:off x="428853" y="3013312"/>
            <a:ext cx="6784500" cy="268000"/>
          </a:xfrm>
          <a:prstGeom prst="roundRect">
            <a:avLst>
              <a:gd name="adj" fmla="val 15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53" name="TextBox 152"/>
          <p:cNvSpPr txBox="1"/>
          <p:nvPr/>
        </p:nvSpPr>
        <p:spPr>
          <a:xfrm>
            <a:off x="508853" y="3013312"/>
            <a:ext cx="640000" cy="268000"/>
          </a:xfrm>
          <a:prstGeom prst="rect">
            <a:avLst/>
          </a:prstGeom>
          <a:noFill/>
        </p:spPr>
        <p:txBody>
          <a:bodyPr wrap="square" anchor="ctr" lIns="0" tIns="0" rIns="0" bIns="0"/>
          <a:lstStyle/>
          <a:p>
            <a:pPr algn="l">
              <a:spcBef>
                <a:spcPts val="0"/>
              </a:spcBef>
              <a:spcAft>
                <a:spcPts val="0"/>
              </a:spcAft>
            </a:pPr>
            <a:r>
              <a:rPr sz="900" b="1" i="0">
                <a:solidFill>
                  <a:srgbClr val="A42530"/>
                </a:solidFill>
                <a:latin typeface="Arial"/>
              </a:rPr>
              <a:t>TC05a</a:t>
            </a:r>
          </a:p>
        </p:txBody>
      </p:sp>
      <p:sp>
        <p:nvSpPr>
          <p:cNvPr id="154" name="TextBox 153"/>
          <p:cNvSpPr txBox="1"/>
          <p:nvPr/>
        </p:nvSpPr>
        <p:spPr>
          <a:xfrm>
            <a:off x="1068853" y="3013312"/>
            <a:ext cx="2440000" cy="268000"/>
          </a:xfrm>
          <a:prstGeom prst="rect">
            <a:avLst/>
          </a:prstGeom>
          <a:noFill/>
        </p:spPr>
        <p:txBody>
          <a:bodyPr wrap="square" anchor="ctr" lIns="0" tIns="0" rIns="0" bIns="0"/>
          <a:lstStyle/>
          <a:p>
            <a:pPr algn="l">
              <a:spcBef>
                <a:spcPts val="0"/>
              </a:spcBef>
              <a:spcAft>
                <a:spcPts val="0"/>
              </a:spcAft>
            </a:pPr>
            <a:r>
              <a:rPr sz="900" b="0" i="0">
                <a:solidFill>
                  <a:srgbClr val="2B2F36"/>
                </a:solidFill>
                <a:latin typeface="Arial"/>
              </a:rPr>
              <a:t>Verification tool (Cosign) missing</a:t>
            </a:r>
          </a:p>
        </p:txBody>
      </p:sp>
      <p:sp>
        <p:nvSpPr>
          <p:cNvPr id="155" name="TextBox 154"/>
          <p:cNvSpPr txBox="1"/>
          <p:nvPr/>
        </p:nvSpPr>
        <p:spPr>
          <a:xfrm>
            <a:off x="3568853" y="3013312"/>
            <a:ext cx="1490000" cy="268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Arial"/>
              </a:rPr>
              <a:t>Deployment denied</a:t>
            </a:r>
          </a:p>
        </p:txBody>
      </p:sp>
      <p:sp>
        <p:nvSpPr>
          <p:cNvPr id="156" name="Rounded Rectangle 155"/>
          <p:cNvSpPr/>
          <p:nvPr/>
        </p:nvSpPr>
        <p:spPr>
          <a:xfrm>
            <a:off x="5118853" y="3048312"/>
            <a:ext cx="2014500" cy="198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700" b="1" i="0">
                <a:solidFill>
                  <a:srgbClr val="FFFFFF"/>
                </a:solidFill>
                <a:latin typeface="Arial"/>
              </a:rPr>
              <a:t>REJECT · VERIFICATION_TOOL_ERROR</a:t>
            </a:r>
          </a:p>
        </p:txBody>
      </p:sp>
      <p:sp>
        <p:nvSpPr>
          <p:cNvPr id="157" name="Rounded Rectangle 156"/>
          <p:cNvSpPr/>
          <p:nvPr/>
        </p:nvSpPr>
        <p:spPr>
          <a:xfrm>
            <a:off x="428853" y="3311312"/>
            <a:ext cx="6784500" cy="268000"/>
          </a:xfrm>
          <a:prstGeom prst="roundRect">
            <a:avLst>
              <a:gd name="adj" fmla="val 15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58" name="TextBox 157"/>
          <p:cNvSpPr txBox="1"/>
          <p:nvPr/>
        </p:nvSpPr>
        <p:spPr>
          <a:xfrm>
            <a:off x="508853" y="3311312"/>
            <a:ext cx="640000" cy="268000"/>
          </a:xfrm>
          <a:prstGeom prst="rect">
            <a:avLst/>
          </a:prstGeom>
          <a:noFill/>
        </p:spPr>
        <p:txBody>
          <a:bodyPr wrap="square" anchor="ctr" lIns="0" tIns="0" rIns="0" bIns="0"/>
          <a:lstStyle/>
          <a:p>
            <a:pPr algn="l">
              <a:spcBef>
                <a:spcPts val="0"/>
              </a:spcBef>
              <a:spcAft>
                <a:spcPts val="0"/>
              </a:spcAft>
            </a:pPr>
            <a:r>
              <a:rPr sz="900" b="1" i="0">
                <a:solidFill>
                  <a:srgbClr val="A42530"/>
                </a:solidFill>
                <a:latin typeface="Arial"/>
              </a:rPr>
              <a:t>TC05b</a:t>
            </a:r>
          </a:p>
        </p:txBody>
      </p:sp>
      <p:sp>
        <p:nvSpPr>
          <p:cNvPr id="159" name="TextBox 158"/>
          <p:cNvSpPr txBox="1"/>
          <p:nvPr/>
        </p:nvSpPr>
        <p:spPr>
          <a:xfrm>
            <a:off x="1068853" y="3311312"/>
            <a:ext cx="2440000" cy="268000"/>
          </a:xfrm>
          <a:prstGeom prst="rect">
            <a:avLst/>
          </a:prstGeom>
          <a:noFill/>
        </p:spPr>
        <p:txBody>
          <a:bodyPr wrap="square" anchor="ctr" lIns="0" tIns="0" rIns="0" bIns="0"/>
          <a:lstStyle/>
          <a:p>
            <a:pPr algn="l">
              <a:spcBef>
                <a:spcPts val="0"/>
              </a:spcBef>
              <a:spcAft>
                <a:spcPts val="0"/>
              </a:spcAft>
            </a:pPr>
            <a:r>
              <a:rPr sz="900" b="0" i="0">
                <a:solidFill>
                  <a:srgbClr val="2B2F36"/>
                </a:solidFill>
                <a:latin typeface="Arial"/>
              </a:rPr>
              <a:t>Registry down during verification</a:t>
            </a:r>
          </a:p>
        </p:txBody>
      </p:sp>
      <p:sp>
        <p:nvSpPr>
          <p:cNvPr id="160" name="TextBox 159"/>
          <p:cNvSpPr txBox="1"/>
          <p:nvPr/>
        </p:nvSpPr>
        <p:spPr>
          <a:xfrm>
            <a:off x="3568853" y="3311312"/>
            <a:ext cx="1490000" cy="268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Arial"/>
              </a:rPr>
              <a:t>Deployment denied</a:t>
            </a:r>
          </a:p>
        </p:txBody>
      </p:sp>
      <p:sp>
        <p:nvSpPr>
          <p:cNvPr id="161" name="Rounded Rectangle 160"/>
          <p:cNvSpPr/>
          <p:nvPr/>
        </p:nvSpPr>
        <p:spPr>
          <a:xfrm>
            <a:off x="5118853" y="3346312"/>
            <a:ext cx="2014500" cy="198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700" b="1" i="0">
                <a:solidFill>
                  <a:srgbClr val="FFFFFF"/>
                </a:solidFill>
                <a:latin typeface="Arial"/>
              </a:rPr>
              <a:t>REJECT · IMAGE_RESOLUTION_FAILED</a:t>
            </a:r>
          </a:p>
        </p:txBody>
      </p:sp>
      <p:sp>
        <p:nvSpPr>
          <p:cNvPr id="162" name="Rounded Rectangle 161"/>
          <p:cNvSpPr/>
          <p:nvPr/>
        </p:nvSpPr>
        <p:spPr>
          <a:xfrm>
            <a:off x="428853" y="3609312"/>
            <a:ext cx="6784500" cy="268000"/>
          </a:xfrm>
          <a:prstGeom prst="roundRect">
            <a:avLst>
              <a:gd name="adj" fmla="val 15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63" name="TextBox 162"/>
          <p:cNvSpPr txBox="1"/>
          <p:nvPr/>
        </p:nvSpPr>
        <p:spPr>
          <a:xfrm>
            <a:off x="508853" y="3609312"/>
            <a:ext cx="640000" cy="268000"/>
          </a:xfrm>
          <a:prstGeom prst="rect">
            <a:avLst/>
          </a:prstGeom>
          <a:noFill/>
        </p:spPr>
        <p:txBody>
          <a:bodyPr wrap="square" anchor="ctr" lIns="0" tIns="0" rIns="0" bIns="0"/>
          <a:lstStyle/>
          <a:p>
            <a:pPr algn="l">
              <a:spcBef>
                <a:spcPts val="0"/>
              </a:spcBef>
              <a:spcAft>
                <a:spcPts val="0"/>
              </a:spcAft>
            </a:pPr>
            <a:r>
              <a:rPr sz="900" b="1" i="0">
                <a:solidFill>
                  <a:srgbClr val="A42530"/>
                </a:solidFill>
                <a:latin typeface="Arial"/>
              </a:rPr>
              <a:t>TC05c</a:t>
            </a:r>
          </a:p>
        </p:txBody>
      </p:sp>
      <p:sp>
        <p:nvSpPr>
          <p:cNvPr id="164" name="TextBox 163"/>
          <p:cNvSpPr txBox="1"/>
          <p:nvPr/>
        </p:nvSpPr>
        <p:spPr>
          <a:xfrm>
            <a:off x="1068853" y="3609312"/>
            <a:ext cx="2440000" cy="268000"/>
          </a:xfrm>
          <a:prstGeom prst="rect">
            <a:avLst/>
          </a:prstGeom>
          <a:noFill/>
        </p:spPr>
        <p:txBody>
          <a:bodyPr wrap="square" anchor="ctr" lIns="0" tIns="0" rIns="0" bIns="0"/>
          <a:lstStyle/>
          <a:p>
            <a:pPr algn="l">
              <a:spcBef>
                <a:spcPts val="0"/>
              </a:spcBef>
              <a:spcAft>
                <a:spcPts val="0"/>
              </a:spcAft>
            </a:pPr>
            <a:r>
              <a:rPr sz="900" b="0" i="0">
                <a:solidFill>
                  <a:srgbClr val="2B2F36"/>
                </a:solidFill>
                <a:latin typeface="Arial"/>
              </a:rPr>
              <a:t>Image from a registry outside the policy</a:t>
            </a:r>
          </a:p>
        </p:txBody>
      </p:sp>
      <p:sp>
        <p:nvSpPr>
          <p:cNvPr id="165" name="TextBox 164"/>
          <p:cNvSpPr txBox="1"/>
          <p:nvPr/>
        </p:nvSpPr>
        <p:spPr>
          <a:xfrm>
            <a:off x="3568853" y="3609312"/>
            <a:ext cx="1490000" cy="268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Arial"/>
              </a:rPr>
              <a:t>Rejected</a:t>
            </a:r>
          </a:p>
        </p:txBody>
      </p:sp>
      <p:sp>
        <p:nvSpPr>
          <p:cNvPr id="166" name="Rounded Rectangle 165"/>
          <p:cNvSpPr/>
          <p:nvPr/>
        </p:nvSpPr>
        <p:spPr>
          <a:xfrm>
            <a:off x="5118853" y="3644312"/>
            <a:ext cx="2014500" cy="198000"/>
          </a:xfrm>
          <a:prstGeom prst="roundRect">
            <a:avLst>
              <a:gd name="adj" fmla="val 30000"/>
            </a:avLst>
          </a:prstGeom>
          <a:solidFill>
            <a:srgbClr val="A42530"/>
          </a:solidFill>
          <a:ln>
            <a:noFill/>
          </a:ln>
          <a:effectLst/>
        </p:spPr>
        <p:txBody>
          <a:bodyPr rtlCol="0" anchor="ctr" wrap="square" lIns="0" tIns="0" rIns="0" bIns="0"/>
          <a:lstStyle/>
          <a:p>
            <a:pPr algn="ctr">
              <a:spcBef>
                <a:spcPts val="0"/>
              </a:spcBef>
              <a:spcAft>
                <a:spcPts val="0"/>
              </a:spcAft>
            </a:pPr>
            <a:r>
              <a:rPr sz="700" b="1" i="0">
                <a:solidFill>
                  <a:srgbClr val="FFFFFF"/>
                </a:solidFill>
                <a:latin typeface="Arial"/>
              </a:rPr>
              <a:t>REJECT · REGISTRY_NOT_ALLOWED</a:t>
            </a:r>
          </a:p>
        </p:txBody>
      </p:sp>
      <p:sp>
        <p:nvSpPr>
          <p:cNvPr id="167" name="Rounded Rectangle 166"/>
          <p:cNvSpPr/>
          <p:nvPr/>
        </p:nvSpPr>
        <p:spPr>
          <a:xfrm>
            <a:off x="428853" y="3907312"/>
            <a:ext cx="6784500" cy="268000"/>
          </a:xfrm>
          <a:prstGeom prst="roundRect">
            <a:avLst>
              <a:gd name="adj" fmla="val 15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68" name="TextBox 167"/>
          <p:cNvSpPr txBox="1"/>
          <p:nvPr/>
        </p:nvSpPr>
        <p:spPr>
          <a:xfrm>
            <a:off x="508853" y="3907312"/>
            <a:ext cx="640000" cy="268000"/>
          </a:xfrm>
          <a:prstGeom prst="rect">
            <a:avLst/>
          </a:prstGeom>
          <a:noFill/>
        </p:spPr>
        <p:txBody>
          <a:bodyPr wrap="square" anchor="ctr" lIns="0" tIns="0" rIns="0" bIns="0"/>
          <a:lstStyle/>
          <a:p>
            <a:pPr algn="l">
              <a:spcBef>
                <a:spcPts val="0"/>
              </a:spcBef>
              <a:spcAft>
                <a:spcPts val="0"/>
              </a:spcAft>
            </a:pPr>
            <a:r>
              <a:rPr sz="900" b="1" i="0">
                <a:solidFill>
                  <a:srgbClr val="A42530"/>
                </a:solidFill>
                <a:latin typeface="Arial"/>
              </a:rPr>
              <a:t>TC06</a:t>
            </a:r>
          </a:p>
        </p:txBody>
      </p:sp>
      <p:sp>
        <p:nvSpPr>
          <p:cNvPr id="169" name="TextBox 168"/>
          <p:cNvSpPr txBox="1"/>
          <p:nvPr/>
        </p:nvSpPr>
        <p:spPr>
          <a:xfrm>
            <a:off x="1068853" y="3907312"/>
            <a:ext cx="2440000" cy="268000"/>
          </a:xfrm>
          <a:prstGeom prst="rect">
            <a:avLst/>
          </a:prstGeom>
          <a:noFill/>
        </p:spPr>
        <p:txBody>
          <a:bodyPr wrap="square" anchor="ctr" lIns="0" tIns="0" rIns="0" bIns="0"/>
          <a:lstStyle/>
          <a:p>
            <a:pPr algn="l">
              <a:spcBef>
                <a:spcPts val="0"/>
              </a:spcBef>
              <a:spcAft>
                <a:spcPts val="0"/>
              </a:spcAft>
            </a:pPr>
            <a:r>
              <a:rPr sz="900" b="0" i="0">
                <a:solidFill>
                  <a:srgbClr val="2B2F36"/>
                </a:solidFill>
                <a:latin typeface="Arial"/>
              </a:rPr>
              <a:t>Multiple images checked in one run</a:t>
            </a:r>
          </a:p>
        </p:txBody>
      </p:sp>
      <p:sp>
        <p:nvSpPr>
          <p:cNvPr id="170" name="TextBox 169"/>
          <p:cNvSpPr txBox="1"/>
          <p:nvPr/>
        </p:nvSpPr>
        <p:spPr>
          <a:xfrm>
            <a:off x="3568853" y="3907312"/>
            <a:ext cx="1490000" cy="268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Arial"/>
              </a:rPr>
              <a:t>Each recorded separately</a:t>
            </a:r>
          </a:p>
        </p:txBody>
      </p:sp>
      <p:sp>
        <p:nvSpPr>
          <p:cNvPr id="171" name="Rounded Rectangle 170"/>
          <p:cNvSpPr/>
          <p:nvPr/>
        </p:nvSpPr>
        <p:spPr>
          <a:xfrm>
            <a:off x="5118853" y="3942312"/>
            <a:ext cx="2014500" cy="198000"/>
          </a:xfrm>
          <a:prstGeom prst="roundRect">
            <a:avLst>
              <a:gd name="adj" fmla="val 30000"/>
            </a:avLst>
          </a:prstGeom>
          <a:solidFill>
            <a:srgbClr val="2B2F36"/>
          </a:solidFill>
          <a:ln>
            <a:noFill/>
          </a:ln>
          <a:effectLst/>
        </p:spPr>
        <p:txBody>
          <a:bodyPr rtlCol="0" anchor="ctr" wrap="square" lIns="0" tIns="0" rIns="0" bIns="0"/>
          <a:lstStyle/>
          <a:p>
            <a:pPr algn="ctr">
              <a:spcBef>
                <a:spcPts val="0"/>
              </a:spcBef>
              <a:spcAft>
                <a:spcPts val="0"/>
              </a:spcAft>
            </a:pPr>
            <a:r>
              <a:rPr sz="700" b="1" i="0">
                <a:solidFill>
                  <a:srgbClr val="FFFFFF"/>
                </a:solidFill>
                <a:latin typeface="Arial"/>
              </a:rPr>
              <a:t>PASS · 4 separate audit entries</a:t>
            </a:r>
          </a:p>
        </p:txBody>
      </p:sp>
      <p:sp>
        <p:nvSpPr>
          <p:cNvPr id="172" name="Rounded Rectangle 171"/>
          <p:cNvSpPr/>
          <p:nvPr/>
        </p:nvSpPr>
        <p:spPr>
          <a:xfrm>
            <a:off x="428853" y="4205312"/>
            <a:ext cx="6784500" cy="268000"/>
          </a:xfrm>
          <a:prstGeom prst="roundRect">
            <a:avLst>
              <a:gd name="adj" fmla="val 15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73" name="TextBox 172"/>
          <p:cNvSpPr txBox="1"/>
          <p:nvPr/>
        </p:nvSpPr>
        <p:spPr>
          <a:xfrm>
            <a:off x="508853" y="4205312"/>
            <a:ext cx="640000" cy="268000"/>
          </a:xfrm>
          <a:prstGeom prst="rect">
            <a:avLst/>
          </a:prstGeom>
          <a:noFill/>
        </p:spPr>
        <p:txBody>
          <a:bodyPr wrap="square" anchor="ctr" lIns="0" tIns="0" rIns="0" bIns="0"/>
          <a:lstStyle/>
          <a:p>
            <a:pPr algn="l">
              <a:spcBef>
                <a:spcPts val="0"/>
              </a:spcBef>
              <a:spcAft>
                <a:spcPts val="0"/>
              </a:spcAft>
            </a:pPr>
            <a:r>
              <a:rPr sz="900" b="1" i="0">
                <a:solidFill>
                  <a:srgbClr val="A42530"/>
                </a:solidFill>
                <a:latin typeface="Arial"/>
              </a:rPr>
              <a:t>TC07</a:t>
            </a:r>
          </a:p>
        </p:txBody>
      </p:sp>
      <p:sp>
        <p:nvSpPr>
          <p:cNvPr id="174" name="TextBox 173"/>
          <p:cNvSpPr txBox="1"/>
          <p:nvPr/>
        </p:nvSpPr>
        <p:spPr>
          <a:xfrm>
            <a:off x="1068853" y="4205312"/>
            <a:ext cx="2440000" cy="268000"/>
          </a:xfrm>
          <a:prstGeom prst="rect">
            <a:avLst/>
          </a:prstGeom>
          <a:noFill/>
        </p:spPr>
        <p:txBody>
          <a:bodyPr wrap="square" anchor="ctr" lIns="0" tIns="0" rIns="0" bIns="0"/>
          <a:lstStyle/>
          <a:p>
            <a:pPr algn="l">
              <a:spcBef>
                <a:spcPts val="0"/>
              </a:spcBef>
              <a:spcAft>
                <a:spcPts val="0"/>
              </a:spcAft>
            </a:pPr>
            <a:r>
              <a:rPr sz="900" b="0" i="0">
                <a:solidFill>
                  <a:srgbClr val="2B2F36"/>
                </a:solidFill>
                <a:latin typeface="Arial"/>
              </a:rPr>
              <a:t>Audit report export</a:t>
            </a:r>
          </a:p>
        </p:txBody>
      </p:sp>
      <p:sp>
        <p:nvSpPr>
          <p:cNvPr id="175" name="TextBox 174"/>
          <p:cNvSpPr txBox="1"/>
          <p:nvPr/>
        </p:nvSpPr>
        <p:spPr>
          <a:xfrm>
            <a:off x="3568853" y="4205312"/>
            <a:ext cx="1490000" cy="268000"/>
          </a:xfrm>
          <a:prstGeom prst="rect">
            <a:avLst/>
          </a:prstGeom>
          <a:noFill/>
        </p:spPr>
        <p:txBody>
          <a:bodyPr wrap="square" anchor="ctr" lIns="0" tIns="0" rIns="0" bIns="0"/>
          <a:lstStyle/>
          <a:p>
            <a:pPr algn="l">
              <a:spcBef>
                <a:spcPts val="0"/>
              </a:spcBef>
              <a:spcAft>
                <a:spcPts val="0"/>
              </a:spcAft>
            </a:pPr>
            <a:r>
              <a:rPr sz="900" b="1" i="0">
                <a:solidFill>
                  <a:srgbClr val="111111"/>
                </a:solidFill>
                <a:latin typeface="Arial"/>
              </a:rPr>
              <a:t>Report generated</a:t>
            </a:r>
          </a:p>
        </p:txBody>
      </p:sp>
      <p:sp>
        <p:nvSpPr>
          <p:cNvPr id="176" name="Rounded Rectangle 175"/>
          <p:cNvSpPr/>
          <p:nvPr/>
        </p:nvSpPr>
        <p:spPr>
          <a:xfrm>
            <a:off x="5118853" y="4240312"/>
            <a:ext cx="2014500" cy="198000"/>
          </a:xfrm>
          <a:prstGeom prst="roundRect">
            <a:avLst>
              <a:gd name="adj" fmla="val 30000"/>
            </a:avLst>
          </a:prstGeom>
          <a:solidFill>
            <a:srgbClr val="2B2F36"/>
          </a:solidFill>
          <a:ln>
            <a:noFill/>
          </a:ln>
          <a:effectLst/>
        </p:spPr>
        <p:txBody>
          <a:bodyPr rtlCol="0" anchor="ctr" wrap="square" lIns="0" tIns="0" rIns="0" bIns="0"/>
          <a:lstStyle/>
          <a:p>
            <a:pPr algn="ctr">
              <a:spcBef>
                <a:spcPts val="0"/>
              </a:spcBef>
              <a:spcAft>
                <a:spcPts val="0"/>
              </a:spcAft>
            </a:pPr>
            <a:r>
              <a:rPr sz="700" b="1" i="0">
                <a:solidFill>
                  <a:srgbClr val="FFFFFF"/>
                </a:solidFill>
                <a:latin typeface="Arial"/>
              </a:rPr>
              <a:t>PASS · HTML, CSV, JSON written</a:t>
            </a:r>
          </a:p>
        </p:txBody>
      </p:sp>
      <p:sp>
        <p:nvSpPr>
          <p:cNvPr id="177" name="Rounded Rectangle 176"/>
          <p:cNvSpPr/>
          <p:nvPr/>
        </p:nvSpPr>
        <p:spPr>
          <a:xfrm>
            <a:off x="7363353" y="1523312"/>
            <a:ext cx="1350000" cy="1425000"/>
          </a:xfrm>
          <a:prstGeom prst="roundRect">
            <a:avLst>
              <a:gd name="adj" fmla="val 6000"/>
            </a:avLst>
          </a:prstGeom>
          <a:solidFill>
            <a:srgbClr val="A42530"/>
          </a:solidFill>
          <a:ln>
            <a:noFill/>
          </a:ln>
          <a:effectLst/>
        </p:spPr>
        <p:txBody>
          <a:bodyPr rtlCol="0" anchor="ctr" wrap="square" lIns="60000" tIns="30000" rIns="60000" bIns="30000"/>
          <a:lstStyle/>
          <a:p>
            <a:pPr algn="ctr">
              <a:spcBef>
                <a:spcPts val="0"/>
              </a:spcBef>
              <a:spcAft>
                <a:spcPts val="0"/>
              </a:spcAft>
            </a:pPr>
            <a:r>
              <a:rPr sz="2800" b="1" i="0">
                <a:solidFill>
                  <a:srgbClr val="FFFFFF"/>
                </a:solidFill>
                <a:latin typeface="Arial"/>
              </a:rPr>
              <a:t>8/8</a:t>
            </a:r>
          </a:p>
          <a:p>
            <a:pPr algn="ctr">
              <a:spcBef>
                <a:spcPts val="0"/>
              </a:spcBef>
              <a:spcAft>
                <a:spcPts val="0"/>
              </a:spcAft>
            </a:pPr>
            <a:r>
              <a:rPr sz="1000" b="1" i="0">
                <a:solidFill>
                  <a:srgbClr val="FFFFFF"/>
                </a:solidFill>
                <a:latin typeface="Arial"/>
              </a:rPr>
              <a:t>unit tests pass</a:t>
            </a:r>
          </a:p>
        </p:txBody>
      </p:sp>
      <p:sp>
        <p:nvSpPr>
          <p:cNvPr id="178" name="Rounded Rectangle 177"/>
          <p:cNvSpPr/>
          <p:nvPr/>
        </p:nvSpPr>
        <p:spPr>
          <a:xfrm>
            <a:off x="7363353" y="3048312"/>
            <a:ext cx="1350000" cy="1425000"/>
          </a:xfrm>
          <a:prstGeom prst="roundRect">
            <a:avLst>
              <a:gd name="adj" fmla="val 6000"/>
            </a:avLst>
          </a:prstGeom>
          <a:solidFill>
            <a:srgbClr val="2B2F36"/>
          </a:solidFill>
          <a:ln>
            <a:noFill/>
          </a:ln>
          <a:effectLst/>
        </p:spPr>
        <p:txBody>
          <a:bodyPr rtlCol="0" anchor="ctr" wrap="square" lIns="60000" tIns="30000" rIns="60000" bIns="30000"/>
          <a:lstStyle/>
          <a:p>
            <a:pPr algn="ctr">
              <a:spcBef>
                <a:spcPts val="0"/>
              </a:spcBef>
              <a:spcAft>
                <a:spcPts val="0"/>
              </a:spcAft>
            </a:pPr>
            <a:r>
              <a:rPr sz="2200" b="1" i="0">
                <a:solidFill>
                  <a:srgbClr val="FFFFFF"/>
                </a:solidFill>
                <a:latin typeface="Arial"/>
              </a:rPr>
              <a:t>K8s</a:t>
            </a:r>
          </a:p>
          <a:p>
            <a:pPr algn="ctr">
              <a:spcBef>
                <a:spcPts val="300"/>
              </a:spcBef>
              <a:spcAft>
                <a:spcPts val="0"/>
              </a:spcAft>
            </a:pPr>
            <a:r>
              <a:rPr sz="800" b="0" i="0">
                <a:solidFill>
                  <a:srgbClr val="D0D3D8"/>
                </a:solidFill>
                <a:latin typeface="Arial"/>
              </a:rPr>
              <a:t>admission: signed admitted, attacker &amp; unsigned denied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14"/>
          <p:cNvPicPr preferRelativeResize="0"/>
          <p:nvPr/>
        </p:nvPicPr>
        <p:blipFill rotWithShape="1">
          <a:blip r:embed="rId2">
            <a:alphaModFix/>
          </a:blip>
          <a:srcRect b="0" l="0" r="10" t="0"/>
          <a:stretch/>
        </p:blipFill>
        <p:spPr>
          <a:xfrm>
            <a:off x="145399" y="106185"/>
            <a:ext cx="1737300" cy="531600"/>
          </a:xfrm>
          <a:prstGeom prst="rect">
            <a:avLst/>
          </a:prstGeom>
          <a:noFill/>
          <a:ln>
            <a:noFill/>
          </a:ln>
        </p:spPr>
      </p:pic>
      <p:pic>
        <p:nvPicPr>
          <p:cNvPr id="115" name="Google Shape;115;p14"/>
          <p:cNvPicPr preferRelativeResize="0"/>
          <p:nvPr/>
        </p:nvPicPr>
        <p:blipFill rotWithShape="1">
          <a:blip r:embed="rId3">
            <a:alphaModFix/>
          </a:blip>
          <a:srcRect b="720" l="0" r="10" t="710"/>
          <a:stretch/>
        </p:blipFill>
        <p:spPr>
          <a:xfrm>
            <a:off x="8343443" y="169593"/>
            <a:ext cx="546300" cy="404700"/>
          </a:xfrm>
          <a:prstGeom prst="rect">
            <a:avLst/>
          </a:prstGeom>
          <a:noFill/>
          <a:ln>
            <a:noFill/>
          </a:ln>
        </p:spPr>
      </p:pic>
      <p:grpSp>
        <p:nvGrpSpPr>
          <p:cNvPr id="116" name="Google Shape;116;p14"/>
          <p:cNvGrpSpPr/>
          <p:nvPr/>
        </p:nvGrpSpPr>
        <p:grpSpPr>
          <a:xfrm>
            <a:off x="0" y="4560570"/>
            <a:ext cx="9144010" cy="592800"/>
            <a:chOff x="0" y="4560570"/>
            <a:chExt cx="9144010" cy="592800"/>
          </a:xfrm>
        </p:grpSpPr>
        <p:sp>
          <p:nvSpPr>
            <p:cNvPr id="117" name="Google Shape;117;p14"/>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14"/>
          <p:cNvSpPr txBox="1"/>
          <p:nvPr/>
        </p:nvSpPr>
        <p:spPr>
          <a:xfrm>
            <a:off x="428853" y="676656"/>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LIMITATIONS</a:t>
            </a:r>
            <a:endParaRPr/>
          </a:p>
          <a:p>
            <a:pPr indent="0" lvl="0" marL="0" marR="0" rtl="0" algn="l">
              <a:lnSpc>
                <a:spcPct val="100000"/>
              </a:lnSpc>
              <a:spcBef>
                <a:spcPts val="300"/>
              </a:spcBef>
              <a:spcAft>
                <a:spcPts val="0"/>
              </a:spcAft>
              <a:buClr>
                <a:srgbClr val="000000"/>
              </a:buClr>
              <a:buSzPts val="2400"/>
              <a:buFont typeface="Arial"/>
              <a:buNone/>
            </a:pPr>
            <a:r>
              <a:rPr b="1" i="0" lang="en-US" sz="2400" u="none" cap="none" strike="noStrike">
                <a:solidFill>
                  <a:srgbClr val="111111"/>
                </a:solidFill>
                <a:latin typeface="Arial"/>
                <a:ea typeface="Arial"/>
                <a:cs typeface="Arial"/>
                <a:sym typeface="Arial"/>
              </a:rPr>
              <a:t>What a signature does not prove</a:t>
            </a:r>
            <a:endParaRPr/>
          </a:p>
        </p:txBody>
      </p:sp>
      <p:sp>
        <p:nvSpPr>
          <p:cNvPr id="121" name="Google Shape;121;p14"/>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122" name="Google Shape;122;p14"/>
          <p:cNvSpPr txBox="1"/>
          <p:nvPr/>
        </p:nvSpPr>
        <p:spPr>
          <a:xfrm>
            <a:off x="7324287"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17</a:t>
            </a:r>
            <a:endParaRPr/>
          </a:p>
        </p:txBody>
      </p:sp>
      <p:sp>
        <p:nvSpPr>
          <p:cNvPr id="123" name="Rounded Rectangle 122"/>
          <p:cNvSpPr/>
          <p:nvPr/>
        </p:nvSpPr>
        <p:spPr>
          <a:xfrm>
            <a:off x="428853" y="1353312"/>
            <a:ext cx="4067250" cy="1150000"/>
          </a:xfrm>
          <a:prstGeom prst="roundRect">
            <a:avLst>
              <a:gd name="adj" fmla="val 6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24" name="Oval 123"/>
          <p:cNvSpPr/>
          <p:nvPr/>
        </p:nvSpPr>
        <p:spPr>
          <a:xfrm>
            <a:off x="578853" y="1513312"/>
            <a:ext cx="320000" cy="32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1200" b="1" i="0">
                <a:solidFill>
                  <a:srgbClr val="FFFFFF"/>
                </a:solidFill>
                <a:latin typeface="Arial"/>
              </a:rPr>
              <a:t>!</a:t>
            </a:r>
          </a:p>
        </p:txBody>
      </p:sp>
      <p:sp>
        <p:nvSpPr>
          <p:cNvPr id="125" name="TextBox 124"/>
          <p:cNvSpPr txBox="1"/>
          <p:nvPr/>
        </p:nvSpPr>
        <p:spPr>
          <a:xfrm>
            <a:off x="1028853" y="1503312"/>
            <a:ext cx="3317250" cy="900000"/>
          </a:xfrm>
          <a:prstGeom prst="rect">
            <a:avLst/>
          </a:prstGeom>
          <a:noFill/>
        </p:spPr>
        <p:txBody>
          <a:bodyPr wrap="square" anchor="t" lIns="0" tIns="0" rIns="0" bIns="0"/>
          <a:lstStyle/>
          <a:p>
            <a:pPr algn="l">
              <a:spcBef>
                <a:spcPts val="0"/>
              </a:spcBef>
              <a:spcAft>
                <a:spcPts val="0"/>
              </a:spcAft>
            </a:pPr>
            <a:r>
              <a:rPr sz="1200" b="1" i="0">
                <a:solidFill>
                  <a:srgbClr val="111111"/>
                </a:solidFill>
                <a:latin typeface="Arial"/>
              </a:rPr>
              <a:t>Not a vulnerability scan</a:t>
            </a:r>
          </a:p>
          <a:p>
            <a:pPr algn="l">
              <a:spcBef>
                <a:spcPts val="400"/>
              </a:spcBef>
              <a:spcAft>
                <a:spcPts val="0"/>
              </a:spcAft>
            </a:pPr>
            <a:r>
              <a:rPr sz="1000" b="0" i="0">
                <a:solidFill>
                  <a:srgbClr val="5A5A5A"/>
                </a:solidFill>
                <a:latin typeface="Arial"/>
              </a:rPr>
              <a:t>A signature proves origin and integrity under the policy, not that the image is free of vulnerabilities.</a:t>
            </a:r>
          </a:p>
        </p:txBody>
      </p:sp>
      <p:sp>
        <p:nvSpPr>
          <p:cNvPr id="126" name="Rounded Rectangle 125"/>
          <p:cNvSpPr/>
          <p:nvPr/>
        </p:nvSpPr>
        <p:spPr>
          <a:xfrm>
            <a:off x="4646103" y="1353312"/>
            <a:ext cx="4067250" cy="1150000"/>
          </a:xfrm>
          <a:prstGeom prst="roundRect">
            <a:avLst>
              <a:gd name="adj" fmla="val 6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27" name="Oval 126"/>
          <p:cNvSpPr/>
          <p:nvPr/>
        </p:nvSpPr>
        <p:spPr>
          <a:xfrm>
            <a:off x="4796103" y="1513312"/>
            <a:ext cx="320000" cy="32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1200" b="1" i="0">
                <a:solidFill>
                  <a:srgbClr val="FFFFFF"/>
                </a:solidFill>
                <a:latin typeface="Arial"/>
              </a:rPr>
              <a:t>!</a:t>
            </a:r>
          </a:p>
        </p:txBody>
      </p:sp>
      <p:sp>
        <p:nvSpPr>
          <p:cNvPr id="128" name="TextBox 127"/>
          <p:cNvSpPr txBox="1"/>
          <p:nvPr/>
        </p:nvSpPr>
        <p:spPr>
          <a:xfrm>
            <a:off x="5246103" y="1503312"/>
            <a:ext cx="3317250" cy="900000"/>
          </a:xfrm>
          <a:prstGeom prst="rect">
            <a:avLst/>
          </a:prstGeom>
          <a:noFill/>
        </p:spPr>
        <p:txBody>
          <a:bodyPr wrap="square" anchor="t" lIns="0" tIns="0" rIns="0" bIns="0"/>
          <a:lstStyle/>
          <a:p>
            <a:pPr algn="l">
              <a:spcBef>
                <a:spcPts val="0"/>
              </a:spcBef>
              <a:spcAft>
                <a:spcPts val="0"/>
              </a:spcAft>
            </a:pPr>
            <a:r>
              <a:rPr sz="1200" b="1" i="0">
                <a:solidFill>
                  <a:srgbClr val="111111"/>
                </a:solidFill>
                <a:latin typeface="Arial"/>
              </a:rPr>
              <a:t>Depends on key security</a:t>
            </a:r>
          </a:p>
          <a:p>
            <a:pPr algn="l">
              <a:spcBef>
                <a:spcPts val="400"/>
              </a:spcBef>
              <a:spcAft>
                <a:spcPts val="0"/>
              </a:spcAft>
            </a:pPr>
            <a:r>
              <a:rPr sz="1000" b="0" i="0">
                <a:solidFill>
                  <a:srgbClr val="5A5A5A"/>
                </a:solidFill>
                <a:latin typeface="Arial"/>
              </a:rPr>
              <a:t>If the private signing key is stolen, an attacker can produce signatures the gate will trust.</a:t>
            </a:r>
          </a:p>
        </p:txBody>
      </p:sp>
      <p:sp>
        <p:nvSpPr>
          <p:cNvPr id="129" name="Rounded Rectangle 128"/>
          <p:cNvSpPr/>
          <p:nvPr/>
        </p:nvSpPr>
        <p:spPr>
          <a:xfrm>
            <a:off x="428853" y="2653312"/>
            <a:ext cx="4067250" cy="1150000"/>
          </a:xfrm>
          <a:prstGeom prst="roundRect">
            <a:avLst>
              <a:gd name="adj" fmla="val 6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0" name="Oval 129"/>
          <p:cNvSpPr/>
          <p:nvPr/>
        </p:nvSpPr>
        <p:spPr>
          <a:xfrm>
            <a:off x="578853" y="2813312"/>
            <a:ext cx="320000" cy="32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1200" b="1" i="0">
                <a:solidFill>
                  <a:srgbClr val="FFFFFF"/>
                </a:solidFill>
                <a:latin typeface="Arial"/>
              </a:rPr>
              <a:t>!</a:t>
            </a:r>
          </a:p>
        </p:txBody>
      </p:sp>
      <p:sp>
        <p:nvSpPr>
          <p:cNvPr id="131" name="TextBox 130"/>
          <p:cNvSpPr txBox="1"/>
          <p:nvPr/>
        </p:nvSpPr>
        <p:spPr>
          <a:xfrm>
            <a:off x="1028853" y="2803312"/>
            <a:ext cx="3317250" cy="900000"/>
          </a:xfrm>
          <a:prstGeom prst="rect">
            <a:avLst/>
          </a:prstGeom>
          <a:noFill/>
        </p:spPr>
        <p:txBody>
          <a:bodyPr wrap="square" anchor="t" lIns="0" tIns="0" rIns="0" bIns="0"/>
          <a:lstStyle/>
          <a:p>
            <a:pPr algn="l">
              <a:spcBef>
                <a:spcPts val="0"/>
              </a:spcBef>
              <a:spcAft>
                <a:spcPts val="0"/>
              </a:spcAft>
            </a:pPr>
            <a:r>
              <a:rPr sz="1200" b="1" i="0">
                <a:solidFill>
                  <a:srgbClr val="111111"/>
                </a:solidFill>
                <a:latin typeface="Arial"/>
              </a:rPr>
              <a:t>Transparency log disabled offline</a:t>
            </a:r>
          </a:p>
          <a:p>
            <a:pPr algn="l">
              <a:spcBef>
                <a:spcPts val="400"/>
              </a:spcBef>
              <a:spcAft>
                <a:spcPts val="0"/>
              </a:spcAft>
            </a:pPr>
            <a:r>
              <a:rPr sz="1000" b="0" i="0">
                <a:solidFill>
                  <a:srgbClr val="5A5A5A"/>
                </a:solidFill>
                <a:latin typeface="Arial"/>
              </a:rPr>
              <a:t>The offline prototype skips the public Rekor log, so signing events are not publicly recorded.</a:t>
            </a:r>
          </a:p>
        </p:txBody>
      </p:sp>
      <p:sp>
        <p:nvSpPr>
          <p:cNvPr id="132" name="Rounded Rectangle 131"/>
          <p:cNvSpPr/>
          <p:nvPr/>
        </p:nvSpPr>
        <p:spPr>
          <a:xfrm>
            <a:off x="4646103" y="2653312"/>
            <a:ext cx="4067250" cy="1150000"/>
          </a:xfrm>
          <a:prstGeom prst="roundRect">
            <a:avLst>
              <a:gd name="adj" fmla="val 6000"/>
            </a:avLst>
          </a:prstGeom>
          <a:solidFill>
            <a:srgbClr val="FFFFFF"/>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3" name="Oval 132"/>
          <p:cNvSpPr/>
          <p:nvPr/>
        </p:nvSpPr>
        <p:spPr>
          <a:xfrm>
            <a:off x="4796103" y="2813312"/>
            <a:ext cx="320000" cy="3200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1200" b="1" i="0">
                <a:solidFill>
                  <a:srgbClr val="FFFFFF"/>
                </a:solidFill>
                <a:latin typeface="Arial"/>
              </a:rPr>
              <a:t>!</a:t>
            </a:r>
          </a:p>
        </p:txBody>
      </p:sp>
      <p:sp>
        <p:nvSpPr>
          <p:cNvPr id="134" name="TextBox 133"/>
          <p:cNvSpPr txBox="1"/>
          <p:nvPr/>
        </p:nvSpPr>
        <p:spPr>
          <a:xfrm>
            <a:off x="5246103" y="2803312"/>
            <a:ext cx="3317250" cy="900000"/>
          </a:xfrm>
          <a:prstGeom prst="rect">
            <a:avLst/>
          </a:prstGeom>
          <a:noFill/>
        </p:spPr>
        <p:txBody>
          <a:bodyPr wrap="square" anchor="t" lIns="0" tIns="0" rIns="0" bIns="0"/>
          <a:lstStyle/>
          <a:p>
            <a:pPr algn="l">
              <a:spcBef>
                <a:spcPts val="0"/>
              </a:spcBef>
              <a:spcAft>
                <a:spcPts val="0"/>
              </a:spcAft>
            </a:pPr>
            <a:r>
              <a:rPr sz="1200" b="1" i="0">
                <a:solidFill>
                  <a:srgbClr val="111111"/>
                </a:solidFill>
                <a:latin typeface="Arial"/>
              </a:rPr>
              <a:t>No malware scanning</a:t>
            </a:r>
          </a:p>
          <a:p>
            <a:pPr algn="l">
              <a:spcBef>
                <a:spcPts val="400"/>
              </a:spcBef>
              <a:spcAft>
                <a:spcPts val="0"/>
              </a:spcAft>
            </a:pPr>
            <a:r>
              <a:rPr sz="1000" b="0" i="0">
                <a:solidFill>
                  <a:srgbClr val="5A5A5A"/>
                </a:solidFill>
                <a:latin typeface="Arial"/>
              </a:rPr>
              <a:t>The contents of a correctly signed image are not inspected for malicious code.</a:t>
            </a:r>
          </a:p>
        </p:txBody>
      </p:sp>
      <p:sp>
        <p:nvSpPr>
          <p:cNvPr id="135" name="Rounded Rectangle 134"/>
          <p:cNvSpPr/>
          <p:nvPr/>
        </p:nvSpPr>
        <p:spPr>
          <a:xfrm>
            <a:off x="428853" y="3923312"/>
            <a:ext cx="8284500" cy="330000"/>
          </a:xfrm>
          <a:prstGeom prst="roundRect">
            <a:avLst>
              <a:gd name="adj" fmla="val 19000"/>
            </a:avLst>
          </a:prstGeom>
          <a:solidFill>
            <a:srgbClr val="FBECED"/>
          </a:solidFill>
          <a:ln w="12700">
            <a:solidFill>
              <a:srgbClr val="A42530"/>
            </a:solidFill>
          </a:ln>
          <a:effectLst/>
        </p:spPr>
        <p:txBody>
          <a:bodyPr rtlCol="0" anchor="ctr" wrap="square" lIns="109725" tIns="18275" rIns="91425" bIns="18275"/>
          <a:lstStyle/>
          <a:p>
            <a:pPr algn="l">
              <a:spcBef>
                <a:spcPts val="0"/>
              </a:spcBef>
              <a:spcAft>
                <a:spcPts val="0"/>
              </a:spcAft>
            </a:pPr>
            <a:r>
              <a:rPr sz="1000" b="1" i="0">
                <a:solidFill>
                  <a:srgbClr val="A42530"/>
                </a:solidFill>
                <a:latin typeface="Arial"/>
              </a:rPr>
              <a:t>Scope: </a:t>
            </a:r>
            <a:r>
              <a:rPr sz="1000" b="0" i="0">
                <a:solidFill>
                  <a:srgbClr val="2B2F36"/>
                </a:solidFill>
                <a:latin typeface="Arial"/>
              </a:rPr>
              <a:t>TrustDeploy answers “is this the image we approved?” — not “is this image safe?”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14"/>
          <p:cNvPicPr preferRelativeResize="0"/>
          <p:nvPr/>
        </p:nvPicPr>
        <p:blipFill rotWithShape="1">
          <a:blip r:embed="rId2">
            <a:alphaModFix/>
          </a:blip>
          <a:srcRect b="0" l="0" r="10" t="0"/>
          <a:stretch/>
        </p:blipFill>
        <p:spPr>
          <a:xfrm>
            <a:off x="145399" y="106185"/>
            <a:ext cx="1737300" cy="531600"/>
          </a:xfrm>
          <a:prstGeom prst="rect">
            <a:avLst/>
          </a:prstGeom>
          <a:noFill/>
          <a:ln>
            <a:noFill/>
          </a:ln>
        </p:spPr>
      </p:pic>
      <p:pic>
        <p:nvPicPr>
          <p:cNvPr id="115" name="Google Shape;115;p14"/>
          <p:cNvPicPr preferRelativeResize="0"/>
          <p:nvPr/>
        </p:nvPicPr>
        <p:blipFill rotWithShape="1">
          <a:blip r:embed="rId3">
            <a:alphaModFix/>
          </a:blip>
          <a:srcRect b="720" l="0" r="10" t="710"/>
          <a:stretch/>
        </p:blipFill>
        <p:spPr>
          <a:xfrm>
            <a:off x="8343443" y="169593"/>
            <a:ext cx="546300" cy="404700"/>
          </a:xfrm>
          <a:prstGeom prst="rect">
            <a:avLst/>
          </a:prstGeom>
          <a:noFill/>
          <a:ln>
            <a:noFill/>
          </a:ln>
        </p:spPr>
      </p:pic>
      <p:grpSp>
        <p:nvGrpSpPr>
          <p:cNvPr id="116" name="Google Shape;116;p14"/>
          <p:cNvGrpSpPr/>
          <p:nvPr/>
        </p:nvGrpSpPr>
        <p:grpSpPr>
          <a:xfrm>
            <a:off x="0" y="4560570"/>
            <a:ext cx="9144010" cy="592800"/>
            <a:chOff x="0" y="4560570"/>
            <a:chExt cx="9144010" cy="592800"/>
          </a:xfrm>
        </p:grpSpPr>
        <p:sp>
          <p:nvSpPr>
            <p:cNvPr id="117" name="Google Shape;117;p14"/>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14"/>
          <p:cNvSpPr txBox="1"/>
          <p:nvPr/>
        </p:nvSpPr>
        <p:spPr>
          <a:xfrm>
            <a:off x="428853" y="676656"/>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FUTURE WORK</a:t>
            </a:r>
            <a:endParaRPr/>
          </a:p>
          <a:p>
            <a:pPr indent="0" lvl="0" marL="0" marR="0" rtl="0" algn="l">
              <a:lnSpc>
                <a:spcPct val="100000"/>
              </a:lnSpc>
              <a:spcBef>
                <a:spcPts val="300"/>
              </a:spcBef>
              <a:spcAft>
                <a:spcPts val="0"/>
              </a:spcAft>
              <a:buClr>
                <a:srgbClr val="000000"/>
              </a:buClr>
              <a:buSzPts val="2400"/>
              <a:buFont typeface="Arial"/>
              <a:buNone/>
            </a:pPr>
            <a:r>
              <a:rPr b="1" i="0" lang="en-US" sz="2400" u="none" cap="none" strike="noStrike">
                <a:solidFill>
                  <a:srgbClr val="111111"/>
                </a:solidFill>
                <a:latin typeface="Arial"/>
                <a:ea typeface="Arial"/>
                <a:cs typeface="Arial"/>
                <a:sym typeface="Arial"/>
              </a:rPr>
              <a:t>Hardening toward a production pipeline</a:t>
            </a:r>
            <a:endParaRPr/>
          </a:p>
        </p:txBody>
      </p:sp>
      <p:sp>
        <p:nvSpPr>
          <p:cNvPr id="121" name="Google Shape;121;p14"/>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122" name="Google Shape;122;p14"/>
          <p:cNvSpPr txBox="1"/>
          <p:nvPr/>
        </p:nvSpPr>
        <p:spPr>
          <a:xfrm>
            <a:off x="7324287"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18</a:t>
            </a:r>
            <a:endParaRPr/>
          </a:p>
        </p:txBody>
      </p:sp>
      <p:sp>
        <p:nvSpPr>
          <p:cNvPr id="123" name="Rounded Rectangle 122"/>
          <p:cNvSpPr/>
          <p:nvPr/>
        </p:nvSpPr>
        <p:spPr>
          <a:xfrm>
            <a:off x="428853" y="1353312"/>
            <a:ext cx="2661500" cy="2200000"/>
          </a:xfrm>
          <a:prstGeom prst="roundRect">
            <a:avLst>
              <a:gd name="adj" fmla="val 5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24" name="TextBox 123"/>
          <p:cNvSpPr txBox="1"/>
          <p:nvPr/>
        </p:nvSpPr>
        <p:spPr>
          <a:xfrm>
            <a:off x="568853" y="1453312"/>
            <a:ext cx="2381500" cy="250000"/>
          </a:xfrm>
          <a:prstGeom prst="rect">
            <a:avLst/>
          </a:prstGeom>
          <a:noFill/>
        </p:spPr>
        <p:txBody>
          <a:bodyPr wrap="square" anchor="t" lIns="0" tIns="0" rIns="0" bIns="0"/>
          <a:lstStyle/>
          <a:p>
            <a:pPr algn="l">
              <a:spcBef>
                <a:spcPts val="0"/>
              </a:spcBef>
              <a:spcAft>
                <a:spcPts val="0"/>
              </a:spcAft>
            </a:pPr>
            <a:r>
              <a:rPr sz="1200" b="1" i="0">
                <a:solidFill>
                  <a:srgbClr val="A42530"/>
                </a:solidFill>
                <a:latin typeface="Arial"/>
              </a:rPr>
              <a:t>CI/CD pipeline</a:t>
            </a:r>
          </a:p>
        </p:txBody>
      </p:sp>
      <p:sp>
        <p:nvSpPr>
          <p:cNvPr id="125" name="Oval 124"/>
          <p:cNvSpPr/>
          <p:nvPr/>
        </p:nvSpPr>
        <p:spPr>
          <a:xfrm>
            <a:off x="568853" y="1873312"/>
            <a:ext cx="260000" cy="260000"/>
          </a:xfrm>
          <a:prstGeom prst="ellipse">
            <a:avLst/>
          </a:prstGeom>
          <a:solidFill>
            <a:srgbClr val="2B2F36"/>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1</a:t>
            </a:r>
          </a:p>
        </p:txBody>
      </p:sp>
      <p:sp>
        <p:nvSpPr>
          <p:cNvPr id="126" name="TextBox 125"/>
          <p:cNvSpPr txBox="1"/>
          <p:nvPr/>
        </p:nvSpPr>
        <p:spPr>
          <a:xfrm>
            <a:off x="928853" y="1833312"/>
            <a:ext cx="2041500" cy="340000"/>
          </a:xfrm>
          <a:prstGeom prst="rect">
            <a:avLst/>
          </a:prstGeom>
          <a:noFill/>
        </p:spPr>
        <p:txBody>
          <a:bodyPr wrap="square" anchor="ctr" lIns="0" tIns="0" rIns="0" bIns="0"/>
          <a:lstStyle/>
          <a:p>
            <a:pPr algn="l">
              <a:spcBef>
                <a:spcPts val="0"/>
              </a:spcBef>
              <a:spcAft>
                <a:spcPts val="0"/>
              </a:spcAft>
            </a:pPr>
            <a:r>
              <a:rPr sz="1000" b="1" i="0">
                <a:solidFill>
                  <a:srgbClr val="111111"/>
                </a:solidFill>
                <a:latin typeface="Arial"/>
              </a:rPr>
              <a:t>GitHub Actions signing</a:t>
            </a:r>
          </a:p>
        </p:txBody>
      </p:sp>
      <p:sp>
        <p:nvSpPr>
          <p:cNvPr id="127" name="Oval 126"/>
          <p:cNvSpPr/>
          <p:nvPr/>
        </p:nvSpPr>
        <p:spPr>
          <a:xfrm>
            <a:off x="568853" y="2413312"/>
            <a:ext cx="260000" cy="260000"/>
          </a:xfrm>
          <a:prstGeom prst="ellipse">
            <a:avLst/>
          </a:prstGeom>
          <a:solidFill>
            <a:srgbClr val="2B2F36"/>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2</a:t>
            </a:r>
          </a:p>
        </p:txBody>
      </p:sp>
      <p:sp>
        <p:nvSpPr>
          <p:cNvPr id="128" name="TextBox 127"/>
          <p:cNvSpPr txBox="1"/>
          <p:nvPr/>
        </p:nvSpPr>
        <p:spPr>
          <a:xfrm>
            <a:off x="928853" y="2373312"/>
            <a:ext cx="2041500" cy="340000"/>
          </a:xfrm>
          <a:prstGeom prst="rect">
            <a:avLst/>
          </a:prstGeom>
          <a:noFill/>
        </p:spPr>
        <p:txBody>
          <a:bodyPr wrap="square" anchor="ctr" lIns="0" tIns="0" rIns="0" bIns="0"/>
          <a:lstStyle/>
          <a:p>
            <a:pPr algn="l">
              <a:spcBef>
                <a:spcPts val="0"/>
              </a:spcBef>
              <a:spcAft>
                <a:spcPts val="0"/>
              </a:spcAft>
            </a:pPr>
            <a:r>
              <a:rPr sz="1000" b="1" i="0">
                <a:solidFill>
                  <a:srgbClr val="111111"/>
                </a:solidFill>
                <a:latin typeface="Arial"/>
              </a:rPr>
              <a:t>Vulnerability scan (e.g. Trivy) before signing</a:t>
            </a:r>
          </a:p>
        </p:txBody>
      </p:sp>
      <p:sp>
        <p:nvSpPr>
          <p:cNvPr id="129" name="Oval 128"/>
          <p:cNvSpPr/>
          <p:nvPr/>
        </p:nvSpPr>
        <p:spPr>
          <a:xfrm>
            <a:off x="568853" y="2953312"/>
            <a:ext cx="260000" cy="260000"/>
          </a:xfrm>
          <a:prstGeom prst="ellipse">
            <a:avLst/>
          </a:prstGeom>
          <a:solidFill>
            <a:srgbClr val="2B2F36"/>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3</a:t>
            </a:r>
          </a:p>
        </p:txBody>
      </p:sp>
      <p:sp>
        <p:nvSpPr>
          <p:cNvPr id="130" name="TextBox 129"/>
          <p:cNvSpPr txBox="1"/>
          <p:nvPr/>
        </p:nvSpPr>
        <p:spPr>
          <a:xfrm>
            <a:off x="928853" y="2913312"/>
            <a:ext cx="2041500" cy="340000"/>
          </a:xfrm>
          <a:prstGeom prst="rect">
            <a:avLst/>
          </a:prstGeom>
          <a:noFill/>
        </p:spPr>
        <p:txBody>
          <a:bodyPr wrap="square" anchor="ctr" lIns="0" tIns="0" rIns="0" bIns="0"/>
          <a:lstStyle/>
          <a:p>
            <a:pPr algn="l">
              <a:spcBef>
                <a:spcPts val="0"/>
              </a:spcBef>
              <a:spcAft>
                <a:spcPts val="0"/>
              </a:spcAft>
            </a:pPr>
            <a:r>
              <a:rPr sz="1000" b="1" i="0">
                <a:solidFill>
                  <a:srgbClr val="111111"/>
                </a:solidFill>
                <a:latin typeface="Arial"/>
              </a:rPr>
              <a:t>SBOM generation</a:t>
            </a:r>
          </a:p>
        </p:txBody>
      </p:sp>
      <p:sp>
        <p:nvSpPr>
          <p:cNvPr id="131" name="Rounded Rectangle 130"/>
          <p:cNvSpPr/>
          <p:nvPr/>
        </p:nvSpPr>
        <p:spPr>
          <a:xfrm>
            <a:off x="3240353" y="1353312"/>
            <a:ext cx="2661500" cy="2200000"/>
          </a:xfrm>
          <a:prstGeom prst="roundRect">
            <a:avLst>
              <a:gd name="adj" fmla="val 5000"/>
            </a:avLst>
          </a:prstGeom>
          <a:solidFill>
            <a:srgbClr val="FBECED"/>
          </a:solidFill>
          <a:ln>
            <a:no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2" name="TextBox 131"/>
          <p:cNvSpPr txBox="1"/>
          <p:nvPr/>
        </p:nvSpPr>
        <p:spPr>
          <a:xfrm>
            <a:off x="3380353" y="1453312"/>
            <a:ext cx="2381500" cy="250000"/>
          </a:xfrm>
          <a:prstGeom prst="rect">
            <a:avLst/>
          </a:prstGeom>
          <a:noFill/>
        </p:spPr>
        <p:txBody>
          <a:bodyPr wrap="square" anchor="t" lIns="0" tIns="0" rIns="0" bIns="0"/>
          <a:lstStyle/>
          <a:p>
            <a:pPr algn="l">
              <a:spcBef>
                <a:spcPts val="0"/>
              </a:spcBef>
              <a:spcAft>
                <a:spcPts val="0"/>
              </a:spcAft>
            </a:pPr>
            <a:r>
              <a:rPr sz="1200" b="1" i="0">
                <a:solidFill>
                  <a:srgbClr val="A42530"/>
                </a:solidFill>
                <a:latin typeface="Arial"/>
              </a:rPr>
              <a:t>Provenance</a:t>
            </a:r>
          </a:p>
        </p:txBody>
      </p:sp>
      <p:sp>
        <p:nvSpPr>
          <p:cNvPr id="133" name="Oval 132"/>
          <p:cNvSpPr/>
          <p:nvPr/>
        </p:nvSpPr>
        <p:spPr>
          <a:xfrm>
            <a:off x="3380353" y="1873312"/>
            <a:ext cx="260000" cy="260000"/>
          </a:xfrm>
          <a:prstGeom prst="ellipse">
            <a:avLst/>
          </a:prstGeom>
          <a:solidFill>
            <a:srgbClr val="2B2F36"/>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4</a:t>
            </a:r>
          </a:p>
        </p:txBody>
      </p:sp>
      <p:sp>
        <p:nvSpPr>
          <p:cNvPr id="134" name="TextBox 133"/>
          <p:cNvSpPr txBox="1"/>
          <p:nvPr/>
        </p:nvSpPr>
        <p:spPr>
          <a:xfrm>
            <a:off x="3740353" y="1833312"/>
            <a:ext cx="2041500" cy="340000"/>
          </a:xfrm>
          <a:prstGeom prst="rect">
            <a:avLst/>
          </a:prstGeom>
          <a:noFill/>
        </p:spPr>
        <p:txBody>
          <a:bodyPr wrap="square" anchor="ctr" lIns="0" tIns="0" rIns="0" bIns="0"/>
          <a:lstStyle/>
          <a:p>
            <a:pPr algn="l">
              <a:spcBef>
                <a:spcPts val="0"/>
              </a:spcBef>
              <a:spcAft>
                <a:spcPts val="0"/>
              </a:spcAft>
            </a:pPr>
            <a:r>
              <a:rPr sz="1000" b="1" i="0">
                <a:solidFill>
                  <a:srgbClr val="111111"/>
                </a:solidFill>
                <a:latin typeface="Arial"/>
              </a:rPr>
              <a:t>SLSA provenance attestations</a:t>
            </a:r>
          </a:p>
        </p:txBody>
      </p:sp>
      <p:sp>
        <p:nvSpPr>
          <p:cNvPr id="135" name="Oval 134"/>
          <p:cNvSpPr/>
          <p:nvPr/>
        </p:nvSpPr>
        <p:spPr>
          <a:xfrm>
            <a:off x="3380353" y="2413312"/>
            <a:ext cx="260000" cy="260000"/>
          </a:xfrm>
          <a:prstGeom prst="ellipse">
            <a:avLst/>
          </a:prstGeom>
          <a:solidFill>
            <a:srgbClr val="2B2F36"/>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5</a:t>
            </a:r>
          </a:p>
        </p:txBody>
      </p:sp>
      <p:sp>
        <p:nvSpPr>
          <p:cNvPr id="136" name="TextBox 135"/>
          <p:cNvSpPr txBox="1"/>
          <p:nvPr/>
        </p:nvSpPr>
        <p:spPr>
          <a:xfrm>
            <a:off x="3740353" y="2373312"/>
            <a:ext cx="2041500" cy="340000"/>
          </a:xfrm>
          <a:prstGeom prst="rect">
            <a:avLst/>
          </a:prstGeom>
          <a:noFill/>
        </p:spPr>
        <p:txBody>
          <a:bodyPr wrap="square" anchor="ctr" lIns="0" tIns="0" rIns="0" bIns="0"/>
          <a:lstStyle/>
          <a:p>
            <a:pPr algn="l">
              <a:spcBef>
                <a:spcPts val="0"/>
              </a:spcBef>
              <a:spcAft>
                <a:spcPts val="0"/>
              </a:spcAft>
            </a:pPr>
            <a:r>
              <a:rPr sz="1000" b="1" i="0">
                <a:solidFill>
                  <a:srgbClr val="111111"/>
                </a:solidFill>
                <a:latin typeface="Arial"/>
              </a:rPr>
              <a:t>Keyless signing with OIDC (Sigstore)</a:t>
            </a:r>
          </a:p>
        </p:txBody>
      </p:sp>
      <p:sp>
        <p:nvSpPr>
          <p:cNvPr id="137" name="Rounded Rectangle 136"/>
          <p:cNvSpPr/>
          <p:nvPr/>
        </p:nvSpPr>
        <p:spPr>
          <a:xfrm>
            <a:off x="6051853" y="1353312"/>
            <a:ext cx="2661500" cy="2200000"/>
          </a:xfrm>
          <a:prstGeom prst="roundRect">
            <a:avLst>
              <a:gd name="adj" fmla="val 5000"/>
            </a:avLst>
          </a:prstGeom>
          <a:solidFill>
            <a:srgbClr val="F5F5F5"/>
          </a:solidFill>
          <a:ln w="9525">
            <a:solidFill>
              <a:srgbClr val="D9D9D9"/>
            </a:solid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8" name="TextBox 137"/>
          <p:cNvSpPr txBox="1"/>
          <p:nvPr/>
        </p:nvSpPr>
        <p:spPr>
          <a:xfrm>
            <a:off x="6191853" y="1453312"/>
            <a:ext cx="2381500" cy="250000"/>
          </a:xfrm>
          <a:prstGeom prst="rect">
            <a:avLst/>
          </a:prstGeom>
          <a:noFill/>
        </p:spPr>
        <p:txBody>
          <a:bodyPr wrap="square" anchor="t" lIns="0" tIns="0" rIns="0" bIns="0"/>
          <a:lstStyle/>
          <a:p>
            <a:pPr algn="l">
              <a:spcBef>
                <a:spcPts val="0"/>
              </a:spcBef>
              <a:spcAft>
                <a:spcPts val="0"/>
              </a:spcAft>
            </a:pPr>
            <a:r>
              <a:rPr sz="1200" b="1" i="0">
                <a:solidFill>
                  <a:srgbClr val="A42530"/>
                </a:solidFill>
                <a:latin typeface="Arial"/>
              </a:rPr>
              <a:t>Keys and platform</a:t>
            </a:r>
          </a:p>
        </p:txBody>
      </p:sp>
      <p:sp>
        <p:nvSpPr>
          <p:cNvPr id="139" name="Oval 138"/>
          <p:cNvSpPr/>
          <p:nvPr/>
        </p:nvSpPr>
        <p:spPr>
          <a:xfrm>
            <a:off x="6191853" y="1873312"/>
            <a:ext cx="260000" cy="260000"/>
          </a:xfrm>
          <a:prstGeom prst="ellipse">
            <a:avLst/>
          </a:prstGeom>
          <a:solidFill>
            <a:srgbClr val="2B2F36"/>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6</a:t>
            </a:r>
          </a:p>
        </p:txBody>
      </p:sp>
      <p:sp>
        <p:nvSpPr>
          <p:cNvPr id="140" name="TextBox 139"/>
          <p:cNvSpPr txBox="1"/>
          <p:nvPr/>
        </p:nvSpPr>
        <p:spPr>
          <a:xfrm>
            <a:off x="6551853" y="1833312"/>
            <a:ext cx="2041500" cy="340000"/>
          </a:xfrm>
          <a:prstGeom prst="rect">
            <a:avLst/>
          </a:prstGeom>
          <a:noFill/>
        </p:spPr>
        <p:txBody>
          <a:bodyPr wrap="square" anchor="ctr" lIns="0" tIns="0" rIns="0" bIns="0"/>
          <a:lstStyle/>
          <a:p>
            <a:pPr algn="l">
              <a:spcBef>
                <a:spcPts val="0"/>
              </a:spcBef>
              <a:spcAft>
                <a:spcPts val="0"/>
              </a:spcAft>
            </a:pPr>
            <a:r>
              <a:rPr sz="1000" b="1" i="0">
                <a:solidFill>
                  <a:srgbClr val="111111"/>
                </a:solidFill>
                <a:latin typeface="Arial"/>
              </a:rPr>
              <a:t>KMS-backed keys and rotation</a:t>
            </a:r>
          </a:p>
        </p:txBody>
      </p:sp>
      <p:sp>
        <p:nvSpPr>
          <p:cNvPr id="141" name="Oval 140"/>
          <p:cNvSpPr/>
          <p:nvPr/>
        </p:nvSpPr>
        <p:spPr>
          <a:xfrm>
            <a:off x="6191853" y="2413312"/>
            <a:ext cx="260000" cy="260000"/>
          </a:xfrm>
          <a:prstGeom prst="ellipse">
            <a:avLst/>
          </a:prstGeom>
          <a:solidFill>
            <a:srgbClr val="2B2F36"/>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7</a:t>
            </a:r>
          </a:p>
        </p:txBody>
      </p:sp>
      <p:sp>
        <p:nvSpPr>
          <p:cNvPr id="142" name="TextBox 141"/>
          <p:cNvSpPr txBox="1"/>
          <p:nvPr/>
        </p:nvSpPr>
        <p:spPr>
          <a:xfrm>
            <a:off x="6551853" y="2373312"/>
            <a:ext cx="2041500" cy="340000"/>
          </a:xfrm>
          <a:prstGeom prst="rect">
            <a:avLst/>
          </a:prstGeom>
          <a:noFill/>
        </p:spPr>
        <p:txBody>
          <a:bodyPr wrap="square" anchor="ctr" lIns="0" tIns="0" rIns="0" bIns="0"/>
          <a:lstStyle/>
          <a:p>
            <a:pPr algn="l">
              <a:spcBef>
                <a:spcPts val="0"/>
              </a:spcBef>
              <a:spcAft>
                <a:spcPts val="0"/>
              </a:spcAft>
            </a:pPr>
            <a:r>
              <a:rPr sz="1000" b="1" i="0">
                <a:solidFill>
                  <a:srgbClr val="111111"/>
                </a:solidFill>
                <a:latin typeface="Arial"/>
              </a:rPr>
              <a:t>Amazon ECR / EKS deployment</a:t>
            </a:r>
          </a:p>
        </p:txBody>
      </p:sp>
      <p:sp>
        <p:nvSpPr>
          <p:cNvPr id="143" name="TextBox 142"/>
          <p:cNvSpPr txBox="1"/>
          <p:nvPr/>
        </p:nvSpPr>
        <p:spPr>
          <a:xfrm>
            <a:off x="428853" y="3703312"/>
            <a:ext cx="3000000" cy="170000"/>
          </a:xfrm>
          <a:prstGeom prst="rect">
            <a:avLst/>
          </a:prstGeom>
          <a:noFill/>
        </p:spPr>
        <p:txBody>
          <a:bodyPr wrap="square" anchor="t" lIns="0" tIns="0" rIns="0" bIns="0"/>
          <a:lstStyle/>
          <a:p>
            <a:pPr algn="l">
              <a:spcBef>
                <a:spcPts val="0"/>
              </a:spcBef>
              <a:spcAft>
                <a:spcPts val="0"/>
              </a:spcAft>
            </a:pPr>
            <a:r>
              <a:rPr sz="800" b="1" i="0">
                <a:solidFill>
                  <a:srgbClr val="5A5A5A"/>
                </a:solidFill>
                <a:latin typeface="Arial"/>
              </a:rPr>
              <a:t>TARGET PIPELINE</a:t>
            </a:r>
          </a:p>
        </p:txBody>
      </p:sp>
      <p:sp>
        <p:nvSpPr>
          <p:cNvPr id="144" name="Rounded Rectangle 143"/>
          <p:cNvSpPr/>
          <p:nvPr/>
        </p:nvSpPr>
        <p:spPr>
          <a:xfrm>
            <a:off x="428853" y="3933312"/>
            <a:ext cx="1180000" cy="420000"/>
          </a:xfrm>
          <a:prstGeom prst="roundRect">
            <a:avLst>
              <a:gd name="adj" fmla="val 14000"/>
            </a:avLst>
          </a:prstGeom>
          <a:solidFill>
            <a:srgbClr val="F5F5F5"/>
          </a:solidFill>
          <a:ln w="9525">
            <a:solidFill>
              <a:srgbClr val="D9D9D9"/>
            </a:solidFill>
          </a:ln>
          <a:effectLst/>
        </p:spPr>
        <p:txBody>
          <a:bodyPr rtlCol="0" anchor="ctr" wrap="square" lIns="45700" tIns="27425" rIns="45700" bIns="27425"/>
          <a:lstStyle/>
          <a:p>
            <a:pPr algn="ctr">
              <a:spcBef>
                <a:spcPts val="0"/>
              </a:spcBef>
              <a:spcAft>
                <a:spcPts val="0"/>
              </a:spcAft>
            </a:pPr>
            <a:r>
              <a:rPr sz="1000" b="1" i="0">
                <a:solidFill>
                  <a:srgbClr val="111111"/>
                </a:solidFill>
                <a:latin typeface="Arial"/>
              </a:rPr>
              <a:t>Build</a:t>
            </a:r>
          </a:p>
        </p:txBody>
      </p:sp>
      <p:sp>
        <p:nvSpPr>
          <p:cNvPr id="145" name="Rounded Rectangle 144"/>
          <p:cNvSpPr/>
          <p:nvPr/>
        </p:nvSpPr>
        <p:spPr>
          <a:xfrm>
            <a:off x="1849753" y="3933312"/>
            <a:ext cx="1180000" cy="420000"/>
          </a:xfrm>
          <a:prstGeom prst="roundRect">
            <a:avLst>
              <a:gd name="adj" fmla="val 14000"/>
            </a:avLst>
          </a:prstGeom>
          <a:solidFill>
            <a:srgbClr val="F5F5F5"/>
          </a:solidFill>
          <a:ln w="9525">
            <a:solidFill>
              <a:srgbClr val="D9D9D9"/>
            </a:solidFill>
          </a:ln>
          <a:effectLst/>
        </p:spPr>
        <p:txBody>
          <a:bodyPr rtlCol="0" anchor="ctr" wrap="square" lIns="45700" tIns="27425" rIns="45700" bIns="27425"/>
          <a:lstStyle/>
          <a:p>
            <a:pPr algn="ctr">
              <a:spcBef>
                <a:spcPts val="0"/>
              </a:spcBef>
              <a:spcAft>
                <a:spcPts val="0"/>
              </a:spcAft>
            </a:pPr>
            <a:r>
              <a:rPr sz="1000" b="1" i="0">
                <a:solidFill>
                  <a:srgbClr val="111111"/>
                </a:solidFill>
                <a:latin typeface="Arial"/>
              </a:rPr>
              <a:t>Scan</a:t>
            </a:r>
          </a:p>
        </p:txBody>
      </p:sp>
      <p:cxnSp>
        <p:nvCxnSpPr>
          <p:cNvPr id="146" name="Connector 145"/>
          <p:cNvCxnSpPr/>
          <p:nvPr/>
        </p:nvCxnSpPr>
        <p:spPr>
          <a:xfrm>
            <a:off x="1608853" y="4143312"/>
            <a:ext cx="240900" cy="0"/>
          </a:xfrm>
          <a:prstGeom prst="line">
            <a:avLst/>
          </a:prstGeom>
          <a:ln w="19050">
            <a:solidFill>
              <a:srgbClr val="A42530"/>
            </a:solidFill>
            <a:tailEnd type="triangle" w="med" len="med"/>
          </a:ln>
        </p:spPr>
      </p:cxnSp>
      <p:sp>
        <p:nvSpPr>
          <p:cNvPr id="147" name="Rounded Rectangle 146"/>
          <p:cNvSpPr/>
          <p:nvPr/>
        </p:nvSpPr>
        <p:spPr>
          <a:xfrm>
            <a:off x="3270653" y="3933312"/>
            <a:ext cx="1180000" cy="420000"/>
          </a:xfrm>
          <a:prstGeom prst="roundRect">
            <a:avLst>
              <a:gd name="adj" fmla="val 14000"/>
            </a:avLst>
          </a:prstGeom>
          <a:solidFill>
            <a:srgbClr val="F5F5F5"/>
          </a:solidFill>
          <a:ln w="9525">
            <a:solidFill>
              <a:srgbClr val="D9D9D9"/>
            </a:solidFill>
          </a:ln>
          <a:effectLst/>
        </p:spPr>
        <p:txBody>
          <a:bodyPr rtlCol="0" anchor="ctr" wrap="square" lIns="45700" tIns="27425" rIns="45700" bIns="27425"/>
          <a:lstStyle/>
          <a:p>
            <a:pPr algn="ctr">
              <a:spcBef>
                <a:spcPts val="0"/>
              </a:spcBef>
              <a:spcAft>
                <a:spcPts val="0"/>
              </a:spcAft>
            </a:pPr>
            <a:r>
              <a:rPr sz="1000" b="1" i="0">
                <a:solidFill>
                  <a:srgbClr val="111111"/>
                </a:solidFill>
                <a:latin typeface="Arial"/>
              </a:rPr>
              <a:t>SBOM</a:t>
            </a:r>
          </a:p>
        </p:txBody>
      </p:sp>
      <p:cxnSp>
        <p:nvCxnSpPr>
          <p:cNvPr id="148" name="Connector 147"/>
          <p:cNvCxnSpPr/>
          <p:nvPr/>
        </p:nvCxnSpPr>
        <p:spPr>
          <a:xfrm>
            <a:off x="3029753" y="4143312"/>
            <a:ext cx="240900" cy="0"/>
          </a:xfrm>
          <a:prstGeom prst="line">
            <a:avLst/>
          </a:prstGeom>
          <a:ln w="19050">
            <a:solidFill>
              <a:srgbClr val="A42530"/>
            </a:solidFill>
            <a:tailEnd type="triangle" w="med" len="med"/>
          </a:ln>
        </p:spPr>
      </p:cxnSp>
      <p:sp>
        <p:nvSpPr>
          <p:cNvPr id="149" name="Rounded Rectangle 148"/>
          <p:cNvSpPr/>
          <p:nvPr/>
        </p:nvSpPr>
        <p:spPr>
          <a:xfrm>
            <a:off x="4691553" y="3933312"/>
            <a:ext cx="1180000" cy="420000"/>
          </a:xfrm>
          <a:prstGeom prst="roundRect">
            <a:avLst>
              <a:gd name="adj" fmla="val 14000"/>
            </a:avLst>
          </a:prstGeom>
          <a:solidFill>
            <a:srgbClr val="A42530"/>
          </a:solidFill>
          <a:ln>
            <a:noFill/>
          </a:ln>
          <a:effectLst/>
        </p:spPr>
        <p:txBody>
          <a:bodyPr rtlCol="0" anchor="ctr" wrap="square" lIns="45700" tIns="27425" rIns="45700" bIns="27425"/>
          <a:lstStyle/>
          <a:p>
            <a:pPr algn="ctr">
              <a:spcBef>
                <a:spcPts val="0"/>
              </a:spcBef>
              <a:spcAft>
                <a:spcPts val="0"/>
              </a:spcAft>
            </a:pPr>
            <a:r>
              <a:rPr sz="1000" b="1" i="0">
                <a:solidFill>
                  <a:srgbClr val="FFFFFF"/>
                </a:solidFill>
                <a:latin typeface="Arial"/>
              </a:rPr>
              <a:t>Sign</a:t>
            </a:r>
          </a:p>
        </p:txBody>
      </p:sp>
      <p:cxnSp>
        <p:nvCxnSpPr>
          <p:cNvPr id="150" name="Connector 149"/>
          <p:cNvCxnSpPr/>
          <p:nvPr/>
        </p:nvCxnSpPr>
        <p:spPr>
          <a:xfrm>
            <a:off x="4450653" y="4143312"/>
            <a:ext cx="240900" cy="0"/>
          </a:xfrm>
          <a:prstGeom prst="line">
            <a:avLst/>
          </a:prstGeom>
          <a:ln w="19050">
            <a:solidFill>
              <a:srgbClr val="A42530"/>
            </a:solidFill>
            <a:tailEnd type="triangle" w="med" len="med"/>
          </a:ln>
        </p:spPr>
      </p:cxnSp>
      <p:sp>
        <p:nvSpPr>
          <p:cNvPr id="151" name="Rounded Rectangle 150"/>
          <p:cNvSpPr/>
          <p:nvPr/>
        </p:nvSpPr>
        <p:spPr>
          <a:xfrm>
            <a:off x="6112453" y="3933312"/>
            <a:ext cx="1180000" cy="420000"/>
          </a:xfrm>
          <a:prstGeom prst="roundRect">
            <a:avLst>
              <a:gd name="adj" fmla="val 14000"/>
            </a:avLst>
          </a:prstGeom>
          <a:solidFill>
            <a:srgbClr val="A42530"/>
          </a:solidFill>
          <a:ln>
            <a:noFill/>
          </a:ln>
          <a:effectLst/>
        </p:spPr>
        <p:txBody>
          <a:bodyPr rtlCol="0" anchor="ctr" wrap="square" lIns="45700" tIns="27425" rIns="45700" bIns="27425"/>
          <a:lstStyle/>
          <a:p>
            <a:pPr algn="ctr">
              <a:spcBef>
                <a:spcPts val="0"/>
              </a:spcBef>
              <a:spcAft>
                <a:spcPts val="0"/>
              </a:spcAft>
            </a:pPr>
            <a:r>
              <a:rPr sz="1000" b="1" i="0">
                <a:solidFill>
                  <a:srgbClr val="FFFFFF"/>
                </a:solidFill>
                <a:latin typeface="Arial"/>
              </a:rPr>
              <a:t>Verify</a:t>
            </a:r>
          </a:p>
        </p:txBody>
      </p:sp>
      <p:cxnSp>
        <p:nvCxnSpPr>
          <p:cNvPr id="152" name="Connector 151"/>
          <p:cNvCxnSpPr/>
          <p:nvPr/>
        </p:nvCxnSpPr>
        <p:spPr>
          <a:xfrm>
            <a:off x="5871553" y="4143312"/>
            <a:ext cx="240900" cy="0"/>
          </a:xfrm>
          <a:prstGeom prst="line">
            <a:avLst/>
          </a:prstGeom>
          <a:ln w="19050">
            <a:solidFill>
              <a:srgbClr val="A42530"/>
            </a:solidFill>
            <a:tailEnd type="triangle" w="med" len="med"/>
          </a:ln>
        </p:spPr>
      </p:cxnSp>
      <p:sp>
        <p:nvSpPr>
          <p:cNvPr id="153" name="Rounded Rectangle 152"/>
          <p:cNvSpPr/>
          <p:nvPr/>
        </p:nvSpPr>
        <p:spPr>
          <a:xfrm>
            <a:off x="7533353" y="3933312"/>
            <a:ext cx="1180000" cy="420000"/>
          </a:xfrm>
          <a:prstGeom prst="roundRect">
            <a:avLst>
              <a:gd name="adj" fmla="val 14000"/>
            </a:avLst>
          </a:prstGeom>
          <a:solidFill>
            <a:srgbClr val="2B2F36"/>
          </a:solidFill>
          <a:ln>
            <a:noFill/>
          </a:ln>
          <a:effectLst/>
        </p:spPr>
        <p:txBody>
          <a:bodyPr rtlCol="0" anchor="ctr" wrap="square" lIns="45700" tIns="27425" rIns="45700" bIns="27425"/>
          <a:lstStyle/>
          <a:p>
            <a:pPr algn="ctr">
              <a:spcBef>
                <a:spcPts val="0"/>
              </a:spcBef>
              <a:spcAft>
                <a:spcPts val="0"/>
              </a:spcAft>
            </a:pPr>
            <a:r>
              <a:rPr sz="1000" b="1" i="0">
                <a:solidFill>
                  <a:srgbClr val="FFFFFF"/>
                </a:solidFill>
                <a:latin typeface="Arial"/>
              </a:rPr>
              <a:t>Deploy digest</a:t>
            </a:r>
          </a:p>
        </p:txBody>
      </p:sp>
      <p:cxnSp>
        <p:nvCxnSpPr>
          <p:cNvPr id="154" name="Connector 153"/>
          <p:cNvCxnSpPr/>
          <p:nvPr/>
        </p:nvCxnSpPr>
        <p:spPr>
          <a:xfrm>
            <a:off x="7292453" y="4143312"/>
            <a:ext cx="240900" cy="0"/>
          </a:xfrm>
          <a:prstGeom prst="line">
            <a:avLst/>
          </a:prstGeom>
          <a:ln w="19050">
            <a:solidFill>
              <a:srgbClr val="A42530"/>
            </a:solidFill>
            <a:tailEnd type="triangle" w="med" len="med"/>
          </a:ln>
        </p:spPr>
      </p:cxn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 name="Google Shape;114;p14"/>
          <p:cNvPicPr preferRelativeResize="0"/>
          <p:nvPr/>
        </p:nvPicPr>
        <p:blipFill rotWithShape="1">
          <a:blip r:embed="rId2">
            <a:alphaModFix/>
          </a:blip>
          <a:srcRect b="0" l="0" r="10" t="0"/>
          <a:stretch/>
        </p:blipFill>
        <p:spPr>
          <a:xfrm>
            <a:off x="145399" y="106185"/>
            <a:ext cx="1737300" cy="531600"/>
          </a:xfrm>
          <a:prstGeom prst="rect">
            <a:avLst/>
          </a:prstGeom>
          <a:noFill/>
          <a:ln>
            <a:noFill/>
          </a:ln>
        </p:spPr>
      </p:pic>
      <p:pic>
        <p:nvPicPr>
          <p:cNvPr id="115" name="Google Shape;115;p14"/>
          <p:cNvPicPr preferRelativeResize="0"/>
          <p:nvPr/>
        </p:nvPicPr>
        <p:blipFill rotWithShape="1">
          <a:blip r:embed="rId3">
            <a:alphaModFix/>
          </a:blip>
          <a:srcRect b="720" l="0" r="10" t="710"/>
          <a:stretch/>
        </p:blipFill>
        <p:spPr>
          <a:xfrm>
            <a:off x="8343443" y="169593"/>
            <a:ext cx="546300" cy="404700"/>
          </a:xfrm>
          <a:prstGeom prst="rect">
            <a:avLst/>
          </a:prstGeom>
          <a:noFill/>
          <a:ln>
            <a:noFill/>
          </a:ln>
        </p:spPr>
      </p:pic>
      <p:grpSp>
        <p:nvGrpSpPr>
          <p:cNvPr id="116" name="Google Shape;116;p14"/>
          <p:cNvGrpSpPr/>
          <p:nvPr/>
        </p:nvGrpSpPr>
        <p:grpSpPr>
          <a:xfrm>
            <a:off x="0" y="4560570"/>
            <a:ext cx="9144010" cy="592800"/>
            <a:chOff x="0" y="4560570"/>
            <a:chExt cx="9144010" cy="592800"/>
          </a:xfrm>
        </p:grpSpPr>
        <p:sp>
          <p:nvSpPr>
            <p:cNvPr id="117" name="Google Shape;117;p14"/>
            <p:cNvSpPr/>
            <p:nvPr/>
          </p:nvSpPr>
          <p:spPr>
            <a:xfrm>
              <a:off x="0" y="4560570"/>
              <a:ext cx="628800" cy="5928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628650" y="4767263"/>
              <a:ext cx="6998700" cy="386100"/>
            </a:xfrm>
            <a:prstGeom prst="rect">
              <a:avLst/>
            </a:prstGeom>
            <a:solidFill>
              <a:srgbClr val="A4253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4"/>
            <p:cNvSpPr/>
            <p:nvPr/>
          </p:nvSpPr>
          <p:spPr>
            <a:xfrm>
              <a:off x="7627210" y="4767263"/>
              <a:ext cx="1516800" cy="386100"/>
            </a:xfrm>
            <a:prstGeom prst="rect">
              <a:avLst/>
            </a:prstGeom>
            <a:solidFill>
              <a:srgbClr val="D9222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14"/>
          <p:cNvSpPr txBox="1"/>
          <p:nvPr/>
        </p:nvSpPr>
        <p:spPr>
          <a:xfrm>
            <a:off x="428853" y="676656"/>
            <a:ext cx="7498200" cy="62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42530"/>
                </a:solidFill>
                <a:latin typeface="Arial"/>
                <a:ea typeface="Arial"/>
                <a:cs typeface="Arial"/>
                <a:sym typeface="Arial"/>
              </a:rPr>
              <a:t>CONCLUSION</a:t>
            </a:r>
            <a:endParaRPr/>
          </a:p>
          <a:p>
            <a:pPr indent="0" lvl="0" marL="0" marR="0" rtl="0" algn="l">
              <a:lnSpc>
                <a:spcPct val="100000"/>
              </a:lnSpc>
              <a:spcBef>
                <a:spcPts val="300"/>
              </a:spcBef>
              <a:spcAft>
                <a:spcPts val="0"/>
              </a:spcAft>
              <a:buClr>
                <a:srgbClr val="000000"/>
              </a:buClr>
              <a:buSzPts val="2400"/>
              <a:buFont typeface="Arial"/>
              <a:buNone/>
            </a:pPr>
            <a:r>
              <a:rPr b="1" i="0" lang="en-US" sz="2400" u="none" cap="none" strike="noStrike">
                <a:solidFill>
                  <a:srgbClr val="111111"/>
                </a:solidFill>
                <a:latin typeface="Arial"/>
                <a:ea typeface="Arial"/>
                <a:cs typeface="Arial"/>
                <a:sym typeface="Arial"/>
              </a:rPr>
              <a:t>Only proven images reach deployment</a:t>
            </a:r>
            <a:endParaRPr/>
          </a:p>
        </p:txBody>
      </p:sp>
      <p:sp>
        <p:nvSpPr>
          <p:cNvPr id="121" name="Google Shape;121;p14"/>
          <p:cNvSpPr txBox="1"/>
          <p:nvPr/>
        </p:nvSpPr>
        <p:spPr>
          <a:xfrm>
            <a:off x="685800" y="4766767"/>
            <a:ext cx="6217800" cy="3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FFFFFF"/>
                </a:solidFill>
                <a:latin typeface="Arial"/>
                <a:ea typeface="Arial"/>
                <a:cs typeface="Arial"/>
                <a:sym typeface="Arial"/>
              </a:rPr>
              <a:t>TrustDeploy: Container Image Supply Chain Security  |  Integrity in the CIA triad</a:t>
            </a:r>
            <a:endParaRPr/>
          </a:p>
        </p:txBody>
      </p:sp>
      <p:sp>
        <p:nvSpPr>
          <p:cNvPr id="122" name="Google Shape;122;p14"/>
          <p:cNvSpPr txBox="1"/>
          <p:nvPr/>
        </p:nvSpPr>
        <p:spPr>
          <a:xfrm>
            <a:off x="7324287" y="4766767"/>
            <a:ext cx="1188600" cy="38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19</a:t>
            </a:r>
            <a:endParaRPr/>
          </a:p>
        </p:txBody>
      </p:sp>
      <p:sp>
        <p:nvSpPr>
          <p:cNvPr id="123" name="Rounded Rectangle 122"/>
          <p:cNvSpPr/>
          <p:nvPr/>
        </p:nvSpPr>
        <p:spPr>
          <a:xfrm>
            <a:off x="428853" y="1353312"/>
            <a:ext cx="2194500" cy="2377500"/>
          </a:xfrm>
          <a:prstGeom prst="roundRect">
            <a:avLst>
              <a:gd name="adj" fmla="val 3300"/>
            </a:avLst>
          </a:prstGeom>
          <a:solidFill>
            <a:srgbClr val="A42530"/>
          </a:solidFill>
          <a:ln>
            <a:noFill/>
          </a:ln>
          <a:effectLst/>
        </p:spPr>
        <p:txBody>
          <a:bodyPr rtlCol="0" anchor="ctr" wrap="square" lIns="109725" tIns="45700" rIns="109725" bIns="45700"/>
          <a:lstStyle/>
          <a:p>
            <a:pPr algn="ctr">
              <a:spcBef>
                <a:spcPts val="0"/>
              </a:spcBef>
              <a:spcAft>
                <a:spcPts val="0"/>
              </a:spcAft>
            </a:pPr>
            <a:r>
              <a:rPr sz="5400" b="1" i="0">
                <a:solidFill>
                  <a:srgbClr val="FFFFFF"/>
                </a:solidFill>
                <a:latin typeface="Arial"/>
              </a:rPr>
              <a:t>1</a:t>
            </a:r>
          </a:p>
          <a:p>
            <a:pPr algn="ctr">
              <a:spcBef>
                <a:spcPts val="0"/>
              </a:spcBef>
              <a:spcAft>
                <a:spcPts val="0"/>
              </a:spcAft>
            </a:pPr>
            <a:r>
              <a:rPr sz="1200" b="1" i="0">
                <a:solidFill>
                  <a:srgbClr val="FFFFFF"/>
                </a:solidFill>
                <a:latin typeface="Arial"/>
              </a:rPr>
              <a:t>rule decides</a:t>
            </a:r>
          </a:p>
          <a:p>
            <a:pPr algn="ctr">
              <a:spcBef>
                <a:spcPts val="600"/>
              </a:spcBef>
              <a:spcAft>
                <a:spcPts val="0"/>
              </a:spcAft>
            </a:pPr>
            <a:r>
              <a:rPr sz="900" b="0" i="0">
                <a:solidFill>
                  <a:srgbClr val="F6D5D8"/>
                </a:solidFill>
                <a:latin typeface="Arial"/>
              </a:rPr>
              <a:t>ACCEPT only if verified is True; everything else is REJECT</a:t>
            </a:r>
          </a:p>
        </p:txBody>
      </p:sp>
      <p:sp>
        <p:nvSpPr>
          <p:cNvPr id="124" name="Rounded Rectangle 123"/>
          <p:cNvSpPr/>
          <p:nvPr/>
        </p:nvSpPr>
        <p:spPr>
          <a:xfrm>
            <a:off x="2761488" y="1353312"/>
            <a:ext cx="3108900" cy="2377500"/>
          </a:xfrm>
          <a:prstGeom prst="roundRect">
            <a:avLst>
              <a:gd name="adj" fmla="val 3300"/>
            </a:avLst>
          </a:prstGeom>
          <a:solidFill>
            <a:srgbClr val="F5F5F5"/>
          </a:solidFill>
          <a:ln>
            <a:no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25" name="TextBox 124"/>
          <p:cNvSpPr txBox="1"/>
          <p:nvPr/>
        </p:nvSpPr>
        <p:spPr>
          <a:xfrm>
            <a:off x="2871488" y="1408312"/>
            <a:ext cx="2888900" cy="200000"/>
          </a:xfrm>
          <a:prstGeom prst="rect">
            <a:avLst/>
          </a:prstGeom>
          <a:noFill/>
        </p:spPr>
        <p:txBody>
          <a:bodyPr wrap="square" anchor="t" lIns="0" tIns="0" rIns="0" bIns="0"/>
          <a:lstStyle/>
          <a:p>
            <a:pPr algn="l">
              <a:spcBef>
                <a:spcPts val="0"/>
              </a:spcBef>
              <a:spcAft>
                <a:spcPts val="0"/>
              </a:spcAft>
            </a:pPr>
            <a:r>
              <a:rPr sz="1100" b="1" i="0">
                <a:solidFill>
                  <a:srgbClr val="A42530"/>
                </a:solidFill>
                <a:latin typeface="Arial"/>
              </a:rPr>
              <a:t>What TrustDeploy delivers</a:t>
            </a:r>
          </a:p>
        </p:txBody>
      </p:sp>
      <p:sp>
        <p:nvSpPr>
          <p:cNvPr id="126" name="Oval 125"/>
          <p:cNvSpPr/>
          <p:nvPr/>
        </p:nvSpPr>
        <p:spPr>
          <a:xfrm>
            <a:off x="2871488" y="1753312"/>
            <a:ext cx="219600" cy="2196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a:t>
            </a:r>
          </a:p>
        </p:txBody>
      </p:sp>
      <p:sp>
        <p:nvSpPr>
          <p:cNvPr id="127" name="TextBox 126"/>
          <p:cNvSpPr txBox="1"/>
          <p:nvPr/>
        </p:nvSpPr>
        <p:spPr>
          <a:xfrm>
            <a:off x="3181488" y="1683312"/>
            <a:ext cx="2588900" cy="360000"/>
          </a:xfrm>
          <a:prstGeom prst="rect">
            <a:avLst/>
          </a:prstGeom>
          <a:noFill/>
        </p:spPr>
        <p:txBody>
          <a:bodyPr wrap="square" anchor="ctr" lIns="0" tIns="0" rIns="0" bIns="0"/>
          <a:lstStyle/>
          <a:p>
            <a:pPr algn="l">
              <a:spcBef>
                <a:spcPts val="0"/>
              </a:spcBef>
              <a:spcAft>
                <a:spcPts val="0"/>
              </a:spcAft>
            </a:pPr>
            <a:r>
              <a:rPr sz="1000" b="0" i="0">
                <a:solidFill>
                  <a:srgbClr val="2B2F36"/>
                </a:solidFill>
                <a:latin typeface="Arial"/>
              </a:rPr>
              <a:t>Cosign signing with a dedicated ECDSA P-256 key</a:t>
            </a:r>
          </a:p>
        </p:txBody>
      </p:sp>
      <p:sp>
        <p:nvSpPr>
          <p:cNvPr id="128" name="Oval 127"/>
          <p:cNvSpPr/>
          <p:nvPr/>
        </p:nvSpPr>
        <p:spPr>
          <a:xfrm>
            <a:off x="2871488" y="2093312"/>
            <a:ext cx="219600" cy="2196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a:t>
            </a:r>
          </a:p>
        </p:txBody>
      </p:sp>
      <p:sp>
        <p:nvSpPr>
          <p:cNvPr id="129" name="TextBox 128"/>
          <p:cNvSpPr txBox="1"/>
          <p:nvPr/>
        </p:nvSpPr>
        <p:spPr>
          <a:xfrm>
            <a:off x="3181488" y="2023312"/>
            <a:ext cx="2588900" cy="360000"/>
          </a:xfrm>
          <a:prstGeom prst="rect">
            <a:avLst/>
          </a:prstGeom>
          <a:noFill/>
        </p:spPr>
        <p:txBody>
          <a:bodyPr wrap="square" anchor="ctr" lIns="0" tIns="0" rIns="0" bIns="0"/>
          <a:lstStyle/>
          <a:p>
            <a:pPr algn="l">
              <a:spcBef>
                <a:spcPts val="0"/>
              </a:spcBef>
              <a:spcAft>
                <a:spcPts val="0"/>
              </a:spcAft>
            </a:pPr>
            <a:r>
              <a:rPr sz="1000" b="0" i="0">
                <a:solidFill>
                  <a:srgbClr val="2B2F36"/>
                </a:solidFill>
                <a:latin typeface="Arial"/>
              </a:rPr>
              <a:t>Tag resolved to digest before every check</a:t>
            </a:r>
          </a:p>
        </p:txBody>
      </p:sp>
      <p:sp>
        <p:nvSpPr>
          <p:cNvPr id="130" name="Oval 129"/>
          <p:cNvSpPr/>
          <p:nvPr/>
        </p:nvSpPr>
        <p:spPr>
          <a:xfrm>
            <a:off x="2871488" y="2433312"/>
            <a:ext cx="219600" cy="2196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a:t>
            </a:r>
          </a:p>
        </p:txBody>
      </p:sp>
      <p:sp>
        <p:nvSpPr>
          <p:cNvPr id="131" name="TextBox 130"/>
          <p:cNvSpPr txBox="1"/>
          <p:nvPr/>
        </p:nvSpPr>
        <p:spPr>
          <a:xfrm>
            <a:off x="3181488" y="2363312"/>
            <a:ext cx="2588900" cy="360000"/>
          </a:xfrm>
          <a:prstGeom prst="rect">
            <a:avLst/>
          </a:prstGeom>
          <a:noFill/>
        </p:spPr>
        <p:txBody>
          <a:bodyPr wrap="square" anchor="ctr" lIns="0" tIns="0" rIns="0" bIns="0"/>
          <a:lstStyle/>
          <a:p>
            <a:pPr algn="l">
              <a:spcBef>
                <a:spcPts val="0"/>
              </a:spcBef>
              <a:spcAft>
                <a:spcPts val="0"/>
              </a:spcAft>
            </a:pPr>
            <a:r>
              <a:rPr sz="1000" b="0" i="0">
                <a:solidFill>
                  <a:srgbClr val="2B2F36"/>
                </a:solidFill>
                <a:latin typeface="Arial"/>
              </a:rPr>
              <a:t>Signature and signed-digest double-check</a:t>
            </a:r>
          </a:p>
        </p:txBody>
      </p:sp>
      <p:sp>
        <p:nvSpPr>
          <p:cNvPr id="132" name="Oval 131"/>
          <p:cNvSpPr/>
          <p:nvPr/>
        </p:nvSpPr>
        <p:spPr>
          <a:xfrm>
            <a:off x="2871488" y="2773312"/>
            <a:ext cx="219600" cy="2196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a:t>
            </a:r>
          </a:p>
        </p:txBody>
      </p:sp>
      <p:sp>
        <p:nvSpPr>
          <p:cNvPr id="133" name="TextBox 132"/>
          <p:cNvSpPr txBox="1"/>
          <p:nvPr/>
        </p:nvSpPr>
        <p:spPr>
          <a:xfrm>
            <a:off x="3181488" y="2703312"/>
            <a:ext cx="2588900" cy="360000"/>
          </a:xfrm>
          <a:prstGeom prst="rect">
            <a:avLst/>
          </a:prstGeom>
          <a:noFill/>
        </p:spPr>
        <p:txBody>
          <a:bodyPr wrap="square" anchor="ctr" lIns="0" tIns="0" rIns="0" bIns="0"/>
          <a:lstStyle/>
          <a:p>
            <a:pPr algn="l">
              <a:spcBef>
                <a:spcPts val="0"/>
              </a:spcBef>
              <a:spcAft>
                <a:spcPts val="0"/>
              </a:spcAft>
            </a:pPr>
            <a:r>
              <a:rPr sz="1000" b="0" i="0">
                <a:solidFill>
                  <a:srgbClr val="2B2F36"/>
                </a:solidFill>
                <a:latin typeface="Arial"/>
              </a:rPr>
              <a:t>Fail-closed gate with seven reason codes</a:t>
            </a:r>
          </a:p>
        </p:txBody>
      </p:sp>
      <p:sp>
        <p:nvSpPr>
          <p:cNvPr id="134" name="Oval 133"/>
          <p:cNvSpPr/>
          <p:nvPr/>
        </p:nvSpPr>
        <p:spPr>
          <a:xfrm>
            <a:off x="2871488" y="3113312"/>
            <a:ext cx="219600" cy="2196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a:t>
            </a:r>
          </a:p>
        </p:txBody>
      </p:sp>
      <p:sp>
        <p:nvSpPr>
          <p:cNvPr id="135" name="TextBox 134"/>
          <p:cNvSpPr txBox="1"/>
          <p:nvPr/>
        </p:nvSpPr>
        <p:spPr>
          <a:xfrm>
            <a:off x="3181488" y="3043312"/>
            <a:ext cx="2588900" cy="360000"/>
          </a:xfrm>
          <a:prstGeom prst="rect">
            <a:avLst/>
          </a:prstGeom>
          <a:noFill/>
        </p:spPr>
        <p:txBody>
          <a:bodyPr wrap="square" anchor="ctr" lIns="0" tIns="0" rIns="0" bIns="0"/>
          <a:lstStyle/>
          <a:p>
            <a:pPr algn="l">
              <a:spcBef>
                <a:spcPts val="0"/>
              </a:spcBef>
              <a:spcAft>
                <a:spcPts val="0"/>
              </a:spcAft>
            </a:pPr>
            <a:r>
              <a:rPr sz="1000" b="0" i="0">
                <a:solidFill>
                  <a:srgbClr val="2B2F36"/>
                </a:solidFill>
                <a:latin typeface="Arial"/>
              </a:rPr>
              <a:t>JSONL audit with HTML, CSV and JSON reports</a:t>
            </a:r>
          </a:p>
        </p:txBody>
      </p:sp>
      <p:sp>
        <p:nvSpPr>
          <p:cNvPr id="136" name="Oval 135"/>
          <p:cNvSpPr/>
          <p:nvPr/>
        </p:nvSpPr>
        <p:spPr>
          <a:xfrm>
            <a:off x="2871488" y="3453312"/>
            <a:ext cx="219600" cy="219600"/>
          </a:xfrm>
          <a:prstGeom prst="ellipse">
            <a:avLst/>
          </a:prstGeom>
          <a:solidFill>
            <a:srgbClr val="A42530"/>
          </a:solidFill>
          <a:ln>
            <a:noFill/>
          </a:ln>
          <a:effectLst/>
        </p:spPr>
        <p:txBody>
          <a:bodyPr rtlCol="0" anchor="ctr" wrap="square" lIns="0" tIns="0" rIns="0" bIns="0"/>
          <a:lstStyle/>
          <a:p>
            <a:pPr algn="ctr">
              <a:spcBef>
                <a:spcPts val="0"/>
              </a:spcBef>
              <a:spcAft>
                <a:spcPts val="0"/>
              </a:spcAft>
            </a:pPr>
            <a:r>
              <a:rPr sz="900" b="1" i="0">
                <a:solidFill>
                  <a:srgbClr val="FFFFFF"/>
                </a:solidFill>
                <a:latin typeface="Arial"/>
              </a:rPr>
              <a:t>✓</a:t>
            </a:r>
          </a:p>
        </p:txBody>
      </p:sp>
      <p:sp>
        <p:nvSpPr>
          <p:cNvPr id="137" name="TextBox 136"/>
          <p:cNvSpPr txBox="1"/>
          <p:nvPr/>
        </p:nvSpPr>
        <p:spPr>
          <a:xfrm>
            <a:off x="3181488" y="3383312"/>
            <a:ext cx="2588900" cy="360000"/>
          </a:xfrm>
          <a:prstGeom prst="rect">
            <a:avLst/>
          </a:prstGeom>
          <a:noFill/>
        </p:spPr>
        <p:txBody>
          <a:bodyPr wrap="square" anchor="ctr" lIns="0" tIns="0" rIns="0" bIns="0"/>
          <a:lstStyle/>
          <a:p>
            <a:pPr algn="l">
              <a:spcBef>
                <a:spcPts val="0"/>
              </a:spcBef>
              <a:spcAft>
                <a:spcPts val="0"/>
              </a:spcAft>
            </a:pPr>
            <a:r>
              <a:rPr sz="1000" b="0" i="0">
                <a:solidFill>
                  <a:srgbClr val="2B2F36"/>
                </a:solidFill>
                <a:latin typeface="Arial"/>
              </a:rPr>
              <a:t>Same rule enforced at Kubernetes admission</a:t>
            </a:r>
          </a:p>
        </p:txBody>
      </p:sp>
      <p:sp>
        <p:nvSpPr>
          <p:cNvPr id="138" name="Rounded Rectangle 137"/>
          <p:cNvSpPr/>
          <p:nvPr/>
        </p:nvSpPr>
        <p:spPr>
          <a:xfrm>
            <a:off x="5989320" y="1353312"/>
            <a:ext cx="2724033" cy="2377500"/>
          </a:xfrm>
          <a:prstGeom prst="roundRect">
            <a:avLst>
              <a:gd name="adj" fmla="val 3300"/>
            </a:avLst>
          </a:prstGeom>
          <a:solidFill>
            <a:srgbClr val="FBECED"/>
          </a:solidFill>
          <a:ln>
            <a:noFill/>
          </a:ln>
          <a:effectLst/>
        </p:spPr>
        <p:txBody>
          <a:bodyPr rtlCol="0" anchor="ctr" wrap="square" lIns="91425" tIns="45700" rIns="91425" bIns="45700"/>
          <a:lstStyle/>
          <a:p>
            <a:pPr algn="l">
              <a:spcBef>
                <a:spcPts val="0"/>
              </a:spcBef>
              <a:spcAft>
                <a:spcPts val="0"/>
              </a:spcAft>
            </a:pPr>
            <a:r>
              <a:rPr sz="1000" b="0" i="0">
                <a:solidFill>
                  <a:srgbClr val="2B2F36"/>
                </a:solidFill>
                <a:latin typeface="Arial"/>
              </a:rPr>
              <a:t/>
            </a:r>
          </a:p>
        </p:txBody>
      </p:sp>
      <p:sp>
        <p:nvSpPr>
          <p:cNvPr id="139" name="TextBox 138"/>
          <p:cNvSpPr txBox="1"/>
          <p:nvPr/>
        </p:nvSpPr>
        <p:spPr>
          <a:xfrm>
            <a:off x="6099320" y="1408312"/>
            <a:ext cx="2504033" cy="200000"/>
          </a:xfrm>
          <a:prstGeom prst="rect">
            <a:avLst/>
          </a:prstGeom>
          <a:noFill/>
        </p:spPr>
        <p:txBody>
          <a:bodyPr wrap="square" anchor="t" lIns="0" tIns="0" rIns="0" bIns="0"/>
          <a:lstStyle/>
          <a:p>
            <a:pPr algn="l">
              <a:spcBef>
                <a:spcPts val="0"/>
              </a:spcBef>
              <a:spcAft>
                <a:spcPts val="0"/>
              </a:spcAft>
            </a:pPr>
            <a:r>
              <a:rPr sz="1100" b="1" i="0">
                <a:solidFill>
                  <a:srgbClr val="A42530"/>
                </a:solidFill>
                <a:latin typeface="Arial"/>
              </a:rPr>
              <a:t>Next steps</a:t>
            </a:r>
          </a:p>
        </p:txBody>
      </p:sp>
      <p:sp>
        <p:nvSpPr>
          <p:cNvPr id="140" name="TextBox 139"/>
          <p:cNvSpPr txBox="1"/>
          <p:nvPr/>
        </p:nvSpPr>
        <p:spPr>
          <a:xfrm>
            <a:off x="6099320" y="1713312"/>
            <a:ext cx="2504033" cy="420000"/>
          </a:xfrm>
          <a:prstGeom prst="rect">
            <a:avLst/>
          </a:prstGeom>
          <a:noFill/>
        </p:spPr>
        <p:txBody>
          <a:bodyPr wrap="square" anchor="t" lIns="0" tIns="0" rIns="0" bIns="0"/>
          <a:lstStyle/>
          <a:p>
            <a:pPr algn="l">
              <a:spcBef>
                <a:spcPts val="0"/>
              </a:spcBef>
              <a:spcAft>
                <a:spcPts val="0"/>
              </a:spcAft>
            </a:pPr>
            <a:r>
              <a:rPr sz="1000" b="1" i="0">
                <a:solidFill>
                  <a:srgbClr val="111111"/>
                </a:solidFill>
                <a:latin typeface="Arial"/>
              </a:rPr>
              <a:t>CI signing</a:t>
            </a:r>
          </a:p>
          <a:p>
            <a:pPr algn="l">
              <a:spcBef>
                <a:spcPts val="100"/>
              </a:spcBef>
              <a:spcAft>
                <a:spcPts val="0"/>
              </a:spcAft>
            </a:pPr>
            <a:r>
              <a:rPr sz="900" b="0" i="0">
                <a:solidFill>
                  <a:srgbClr val="5A5A5A"/>
                </a:solidFill>
                <a:latin typeface="Arial"/>
              </a:rPr>
              <a:t>GitHub Actions</a:t>
            </a:r>
          </a:p>
        </p:txBody>
      </p:sp>
      <p:sp>
        <p:nvSpPr>
          <p:cNvPr id="141" name="TextBox 140"/>
          <p:cNvSpPr txBox="1"/>
          <p:nvPr/>
        </p:nvSpPr>
        <p:spPr>
          <a:xfrm>
            <a:off x="6099320" y="2193312"/>
            <a:ext cx="2504033" cy="420000"/>
          </a:xfrm>
          <a:prstGeom prst="rect">
            <a:avLst/>
          </a:prstGeom>
          <a:noFill/>
        </p:spPr>
        <p:txBody>
          <a:bodyPr wrap="square" anchor="t" lIns="0" tIns="0" rIns="0" bIns="0"/>
          <a:lstStyle/>
          <a:p>
            <a:pPr algn="l">
              <a:spcBef>
                <a:spcPts val="0"/>
              </a:spcBef>
              <a:spcAft>
                <a:spcPts val="0"/>
              </a:spcAft>
            </a:pPr>
            <a:r>
              <a:rPr sz="1000" b="1" i="0">
                <a:solidFill>
                  <a:srgbClr val="111111"/>
                </a:solidFill>
                <a:latin typeface="Arial"/>
              </a:rPr>
              <a:t>Scan + SBOM</a:t>
            </a:r>
          </a:p>
          <a:p>
            <a:pPr algn="l">
              <a:spcBef>
                <a:spcPts val="100"/>
              </a:spcBef>
              <a:spcAft>
                <a:spcPts val="0"/>
              </a:spcAft>
            </a:pPr>
            <a:r>
              <a:rPr sz="900" b="0" i="0">
                <a:solidFill>
                  <a:srgbClr val="5A5A5A"/>
                </a:solidFill>
                <a:latin typeface="Arial"/>
              </a:rPr>
              <a:t>Trivy before signing</a:t>
            </a:r>
          </a:p>
        </p:txBody>
      </p:sp>
      <p:sp>
        <p:nvSpPr>
          <p:cNvPr id="142" name="TextBox 141"/>
          <p:cNvSpPr txBox="1"/>
          <p:nvPr/>
        </p:nvSpPr>
        <p:spPr>
          <a:xfrm>
            <a:off x="6099320" y="2673312"/>
            <a:ext cx="2504033" cy="420000"/>
          </a:xfrm>
          <a:prstGeom prst="rect">
            <a:avLst/>
          </a:prstGeom>
          <a:noFill/>
        </p:spPr>
        <p:txBody>
          <a:bodyPr wrap="square" anchor="t" lIns="0" tIns="0" rIns="0" bIns="0"/>
          <a:lstStyle/>
          <a:p>
            <a:pPr algn="l">
              <a:spcBef>
                <a:spcPts val="0"/>
              </a:spcBef>
              <a:spcAft>
                <a:spcPts val="0"/>
              </a:spcAft>
            </a:pPr>
            <a:r>
              <a:rPr sz="1000" b="1" i="0">
                <a:solidFill>
                  <a:srgbClr val="111111"/>
                </a:solidFill>
                <a:latin typeface="Arial"/>
              </a:rPr>
              <a:t>Provenance</a:t>
            </a:r>
          </a:p>
          <a:p>
            <a:pPr algn="l">
              <a:spcBef>
                <a:spcPts val="100"/>
              </a:spcBef>
              <a:spcAft>
                <a:spcPts val="0"/>
              </a:spcAft>
            </a:pPr>
            <a:r>
              <a:rPr sz="900" b="0" i="0">
                <a:solidFill>
                  <a:srgbClr val="5A5A5A"/>
                </a:solidFill>
                <a:latin typeface="Arial"/>
              </a:rPr>
              <a:t>SLSA attestations</a:t>
            </a:r>
          </a:p>
        </p:txBody>
      </p:sp>
      <p:sp>
        <p:nvSpPr>
          <p:cNvPr id="143" name="TextBox 142"/>
          <p:cNvSpPr txBox="1"/>
          <p:nvPr/>
        </p:nvSpPr>
        <p:spPr>
          <a:xfrm>
            <a:off x="6099320" y="3153312"/>
            <a:ext cx="2504033" cy="420000"/>
          </a:xfrm>
          <a:prstGeom prst="rect">
            <a:avLst/>
          </a:prstGeom>
          <a:noFill/>
        </p:spPr>
        <p:txBody>
          <a:bodyPr wrap="square" anchor="t" lIns="0" tIns="0" rIns="0" bIns="0"/>
          <a:lstStyle/>
          <a:p>
            <a:pPr algn="l">
              <a:spcBef>
                <a:spcPts val="0"/>
              </a:spcBef>
              <a:spcAft>
                <a:spcPts val="0"/>
              </a:spcAft>
            </a:pPr>
            <a:r>
              <a:rPr sz="1000" b="1" i="0">
                <a:solidFill>
                  <a:srgbClr val="111111"/>
                </a:solidFill>
                <a:latin typeface="Arial"/>
              </a:rPr>
              <a:t>Keys</a:t>
            </a:r>
          </a:p>
          <a:p>
            <a:pPr algn="l">
              <a:spcBef>
                <a:spcPts val="100"/>
              </a:spcBef>
              <a:spcAft>
                <a:spcPts val="0"/>
              </a:spcAft>
            </a:pPr>
            <a:r>
              <a:rPr sz="900" b="0" i="0">
                <a:solidFill>
                  <a:srgbClr val="5A5A5A"/>
                </a:solidFill>
                <a:latin typeface="Arial"/>
              </a:rPr>
              <a:t>keyless OIDC or KMS with rotation</a:t>
            </a:r>
          </a:p>
        </p:txBody>
      </p:sp>
      <p:sp>
        <p:nvSpPr>
          <p:cNvPr id="144" name="Rounded Rectangle 143"/>
          <p:cNvSpPr/>
          <p:nvPr/>
        </p:nvSpPr>
        <p:spPr>
          <a:xfrm>
            <a:off x="428853" y="3840812"/>
            <a:ext cx="2377500" cy="600000"/>
          </a:xfrm>
          <a:prstGeom prst="roundRect">
            <a:avLst>
              <a:gd name="adj" fmla="val 14000"/>
            </a:avLst>
          </a:prstGeom>
          <a:solidFill>
            <a:srgbClr val="F5F5F5"/>
          </a:solidFill>
          <a:ln w="9525">
            <a:solidFill>
              <a:srgbClr val="D9D9D9"/>
            </a:solidFill>
          </a:ln>
          <a:effectLst/>
        </p:spPr>
        <p:txBody>
          <a:bodyPr rtlCol="0" anchor="ctr" wrap="square" lIns="45700" tIns="27425" rIns="45700" bIns="27425"/>
          <a:lstStyle/>
          <a:p>
            <a:pPr algn="ctr">
              <a:spcBef>
                <a:spcPts val="0"/>
              </a:spcBef>
              <a:spcAft>
                <a:spcPts val="0"/>
              </a:spcAft>
            </a:pPr>
            <a:r>
              <a:rPr sz="1100" b="1" i="0">
                <a:solidFill>
                  <a:srgbClr val="111111"/>
                </a:solidFill>
                <a:latin typeface="Arial"/>
              </a:rPr>
              <a:t>Sign</a:t>
            </a:r>
          </a:p>
          <a:p>
            <a:pPr algn="ctr">
              <a:spcBef>
                <a:spcPts val="100"/>
              </a:spcBef>
              <a:spcAft>
                <a:spcPts val="0"/>
              </a:spcAft>
            </a:pPr>
            <a:r>
              <a:rPr sz="900" b="0" i="0">
                <a:solidFill>
                  <a:srgbClr val="5A5A5A"/>
                </a:solidFill>
                <a:latin typeface="Arial"/>
              </a:rPr>
              <a:t>approved image, by digest</a:t>
            </a:r>
          </a:p>
        </p:txBody>
      </p:sp>
      <p:sp>
        <p:nvSpPr>
          <p:cNvPr id="145" name="Rounded Rectangle 144"/>
          <p:cNvSpPr/>
          <p:nvPr/>
        </p:nvSpPr>
        <p:spPr>
          <a:xfrm>
            <a:off x="3182112" y="3840812"/>
            <a:ext cx="2834700" cy="600000"/>
          </a:xfrm>
          <a:prstGeom prst="roundRect">
            <a:avLst>
              <a:gd name="adj" fmla="val 14000"/>
            </a:avLst>
          </a:prstGeom>
          <a:solidFill>
            <a:srgbClr val="A42530"/>
          </a:solidFill>
          <a:ln>
            <a:noFill/>
          </a:ln>
          <a:effectLst/>
        </p:spPr>
        <p:txBody>
          <a:bodyPr rtlCol="0" anchor="ctr" wrap="square" lIns="45700" tIns="27425" rIns="45700" bIns="27425"/>
          <a:lstStyle/>
          <a:p>
            <a:pPr algn="ctr">
              <a:spcBef>
                <a:spcPts val="0"/>
              </a:spcBef>
              <a:spcAft>
                <a:spcPts val="0"/>
              </a:spcAft>
            </a:pPr>
            <a:r>
              <a:rPr sz="1100" b="1" i="0">
                <a:solidFill>
                  <a:srgbClr val="FFFFFF"/>
                </a:solidFill>
                <a:latin typeface="Arial"/>
              </a:rPr>
              <a:t>Verify</a:t>
            </a:r>
          </a:p>
          <a:p>
            <a:pPr algn="ctr">
              <a:spcBef>
                <a:spcPts val="100"/>
              </a:spcBef>
              <a:spcAft>
                <a:spcPts val="0"/>
              </a:spcAft>
            </a:pPr>
            <a:r>
              <a:rPr sz="900" b="0" i="0">
                <a:solidFill>
                  <a:srgbClr val="F6D5D8"/>
                </a:solidFill>
                <a:latin typeface="Arial"/>
              </a:rPr>
              <a:t>trusted key + digest check</a:t>
            </a:r>
          </a:p>
        </p:txBody>
      </p:sp>
      <p:cxnSp>
        <p:nvCxnSpPr>
          <p:cNvPr id="146" name="Connector 145"/>
          <p:cNvCxnSpPr/>
          <p:nvPr/>
        </p:nvCxnSpPr>
        <p:spPr>
          <a:xfrm>
            <a:off x="2826353" y="4140812"/>
            <a:ext cx="335759" cy="0"/>
          </a:xfrm>
          <a:prstGeom prst="line">
            <a:avLst/>
          </a:prstGeom>
          <a:ln w="19050">
            <a:solidFill>
              <a:srgbClr val="A42530"/>
            </a:solidFill>
            <a:tailEnd type="triangle" w="med" len="med"/>
          </a:ln>
        </p:spPr>
      </p:cxnSp>
      <p:sp>
        <p:nvSpPr>
          <p:cNvPr id="147" name="Rounded Rectangle 146"/>
          <p:cNvSpPr/>
          <p:nvPr/>
        </p:nvSpPr>
        <p:spPr>
          <a:xfrm>
            <a:off x="6382512" y="3840812"/>
            <a:ext cx="2331600" cy="600000"/>
          </a:xfrm>
          <a:prstGeom prst="roundRect">
            <a:avLst>
              <a:gd name="adj" fmla="val 14000"/>
            </a:avLst>
          </a:prstGeom>
          <a:solidFill>
            <a:srgbClr val="2B2F36"/>
          </a:solidFill>
          <a:ln>
            <a:noFill/>
          </a:ln>
          <a:effectLst/>
        </p:spPr>
        <p:txBody>
          <a:bodyPr rtlCol="0" anchor="ctr" wrap="square" lIns="45700" tIns="27425" rIns="45700" bIns="27425"/>
          <a:lstStyle/>
          <a:p>
            <a:pPr algn="ctr">
              <a:spcBef>
                <a:spcPts val="0"/>
              </a:spcBef>
              <a:spcAft>
                <a:spcPts val="0"/>
              </a:spcAft>
            </a:pPr>
            <a:r>
              <a:rPr sz="1100" b="1" i="0">
                <a:solidFill>
                  <a:srgbClr val="FFFFFF"/>
                </a:solidFill>
                <a:latin typeface="Arial"/>
              </a:rPr>
              <a:t>Deploy</a:t>
            </a:r>
          </a:p>
          <a:p>
            <a:pPr algn="ctr">
              <a:spcBef>
                <a:spcPts val="100"/>
              </a:spcBef>
              <a:spcAft>
                <a:spcPts val="0"/>
              </a:spcAft>
            </a:pPr>
            <a:r>
              <a:rPr sz="900" b="0" i="0">
                <a:solidFill>
                  <a:srgbClr val="D0D3D8"/>
                </a:solidFill>
                <a:latin typeface="Arial"/>
              </a:rPr>
              <a:t>exact verified digest</a:t>
            </a:r>
          </a:p>
        </p:txBody>
      </p:sp>
      <p:cxnSp>
        <p:nvCxnSpPr>
          <p:cNvPr id="148" name="Connector 147"/>
          <p:cNvCxnSpPr/>
          <p:nvPr/>
        </p:nvCxnSpPr>
        <p:spPr>
          <a:xfrm>
            <a:off x="6036812" y="4140812"/>
            <a:ext cx="325700" cy="0"/>
          </a:xfrm>
          <a:prstGeom prst="line">
            <a:avLst/>
          </a:prstGeom>
          <a:ln w="19050">
            <a:solidFill>
              <a:srgbClr val="A42530"/>
            </a:solidFill>
            <a:tailEnd type="triangle" w="med" len="med"/>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Somaiya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Somaiya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